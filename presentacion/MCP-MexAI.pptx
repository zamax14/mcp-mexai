
<file path=[Content_Types].xml><?xml version="1.0" encoding="utf-8"?>
<Types xmlns="http://schemas.openxmlformats.org/package/2006/content-types">
  <Default Extension="xml" ContentType="application/xml"/>
  <Default Extension="mp4" ContentType="video/unknown"/>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slides/slide36.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3.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29.xml" ContentType="application/vnd.openxmlformats-officedocument.presentationml.slide+xml"/>
  <Override PartName="/ppt/slides/slide15.xml" ContentType="application/vnd.openxmlformats-officedocument.presentationml.slide+xml"/>
  <Override PartName="/ppt/slides/slide40.xml" ContentType="application/vnd.openxmlformats-officedocument.presentationml.slide+xml"/>
  <Override PartName="/ppt/slides/slide24.xml" ContentType="application/vnd.openxmlformats-officedocument.presentationml.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slides/slide27.xml" ContentType="application/vnd.openxmlformats-officedocument.presentationml.slide+xml"/>
  <Override PartName="/ppt/slides/slide18.xml" ContentType="application/vnd.openxmlformats-officedocument.presentationml.slide+xml"/>
  <Override PartName="/ppt/notesSlides/notesSlide35.xml" ContentType="application/vnd.openxmlformats-officedocument.presentationml.notesSlide+xml"/>
  <Override PartName="/ppt/slides/slide26.xml" ContentType="application/vnd.openxmlformats-officedocument.presentationml.slide+xml"/>
  <Override PartName="/ppt/slides/slide23.xml" ContentType="application/vnd.openxmlformats-officedocument.presentationml.slide+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notesSlides/notesSlide17.xml" ContentType="application/vnd.openxmlformats-officedocument.presentationml.notesSlide+xml"/>
  <Override PartName="/ppt/slides/slide16.xml" ContentType="application/vnd.openxmlformats-officedocument.presentationml.slide+xml"/>
  <Override PartName="/docProps/core.xml" ContentType="application/vnd.openxmlformats-package.core-properties+xml"/>
  <Override PartName="/ppt/slides/slide25.xml" ContentType="application/vnd.openxmlformats-officedocument.presentationml.slide+xml"/>
  <Override PartName="/ppt/slides/slide1.xml" ContentType="application/vnd.openxmlformats-officedocument.presentationml.slide+xml"/>
  <Override PartName="/ppt/notesMasters/notesMaster1.xml" ContentType="application/vnd.openxmlformats-officedocument.presentationml.notesMaster+xml"/>
  <Override PartName="/ppt/slides/slide6.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3.xml" ContentType="application/vnd.openxmlformats-officedocument.presentationml.slide+xml"/>
  <Override PartName="/ppt/notesSlides/notesSlide32.xml" ContentType="application/vnd.openxmlformats-officedocument.presentationml.notesSlide+xml"/>
  <Override PartName="/ppt/theme/theme1.xml" ContentType="application/vnd.openxmlformats-officedocument.theme+xml"/>
  <Override PartName="/ppt/slides/slide28.xml" ContentType="application/vnd.openxmlformats-officedocument.presentationml.slide+xml"/>
  <Override PartName="/ppt/notesSlides/notesSlide15.xml" ContentType="application/vnd.openxmlformats-officedocument.presentationml.notesSlide+xml"/>
  <Override PartName="/ppt/slides/slide13.xml" ContentType="application/vnd.openxmlformats-officedocument.presentationml.slide+xml"/>
  <Override PartName="/ppt/slides/slide38.xml" ContentType="application/vnd.openxmlformats-officedocument.presentationml.slide+xml"/>
  <Override PartName="/ppt/slides/slide20.xml" ContentType="application/vnd.openxmlformats-officedocument.presentationml.slide+xml"/>
  <Override PartName="/ppt/slides/slide47.xml" ContentType="application/vnd.openxmlformats-officedocument.presentationml.slide+xml"/>
  <Override PartName="/ppt/viewProps.xml" ContentType="application/vnd.openxmlformats-officedocument.presentationml.viewProps+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slides/slide35.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41.xml" ContentType="application/vnd.openxmlformats-officedocument.presentationml.slide+xml"/>
  <Override PartName="/ppt/slides/slide8.xml" ContentType="application/vnd.openxmlformats-officedocument.presentationml.slide+xml"/>
  <Override PartName="/ppt/notesSlides/notesSlide13.xml" ContentType="application/vnd.openxmlformats-officedocument.presentationml.notesSlide+xml"/>
  <Override PartName="/ppt/slideLayouts/slideLayout1.xml" ContentType="application/vnd.openxmlformats-officedocument.presentationml.slideLayout+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slides/slide12.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notesSlides/notesSlide36.xml" ContentType="application/vnd.openxmlformats-officedocument.presentationml.notesSlide+xml"/>
  <Override PartName="/ppt/slides/slide44.xml" ContentType="application/vnd.openxmlformats-officedocument.presentationml.slide+xml"/>
  <Override PartName="/ppt/slides/slide45.xml" ContentType="application/vnd.openxmlformats-officedocument.presentationml.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46.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4.xml" ContentType="application/vnd.openxmlformats-officedocument.presentationml.notesSlide+xml"/>
  <Override PartName="/ppt/notesSlides/notesSlide2.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notesSlides/notesSlide8.xml" ContentType="application/vnd.openxmlformats-officedocument.presentationml.notesSlide+xml"/>
  <Override PartName="/ppt/notesSlides/notesSlide33.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slides/slide21.xml" ContentType="application/vnd.openxmlformats-officedocument.presentationml.slide+xml"/>
  <Override PartName="/ppt/presProps.xml" ContentType="application/vnd.openxmlformats-officedocument.presentationml.presProp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slides/slide22.xml" ContentType="application/vnd.openxmlformats-officedocument.presentationml.slide+xml"/>
  <Override PartName="/ppt/notesSlides/notesSlide30.xml" ContentType="application/vnd.openxmlformats-officedocument.presentationml.notesSlide+xml"/>
  <Override PartName="/ppt/notesSlides/notesSlide34.xml" ContentType="application/vnd.openxmlformats-officedocument.presentationml.notesSlide+xml"/>
  <Override PartName="/ppt/notesSlides/notesSlide7.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5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notesMaster" Target="notesMasters/notesMaster1.xml"/><Relationship Id="rId51" Type="http://schemas.openxmlformats.org/officeDocument/2006/relationships/presProps" Target="presProps.xml" /><Relationship Id="rId52" Type="http://schemas.openxmlformats.org/officeDocument/2006/relationships/tableStyles" Target="tableStyles.xml" /><Relationship Id="rId5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121679247"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018705646"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403142711"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32629042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2695128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81749376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9182585" name="Slide Image Placeholder 1"/>
          <p:cNvSpPr>
            <a:spLocks noChangeAspect="1" noGrp="1" noRot="1"/>
          </p:cNvSpPr>
          <p:nvPr>
            <p:ph type="sldImg"/>
          </p:nvPr>
        </p:nvSpPr>
        <p:spPr bwMode="auto"/>
      </p:sp>
      <p:sp>
        <p:nvSpPr>
          <p:cNvPr id="201457423" name="Notes Placeholder 2"/>
          <p:cNvSpPr>
            <a:spLocks noGrp="1"/>
          </p:cNvSpPr>
          <p:nvPr>
            <p:ph type="body" idx="1"/>
          </p:nvPr>
        </p:nvSpPr>
        <p:spPr bwMode="auto"/>
        <p:txBody>
          <a:bodyPr/>
          <a:lstStyle/>
          <a:p>
            <a:pPr>
              <a:defRPr/>
            </a:pPr>
            <a:r>
              <a:rPr lang="en-US"/>
              <a:t>Abrir con la pregunta: ¿quién sabe qué es MCP? Pedir manos, aceptar “me suena” y “creo que ya lo uso”. Pausa. Soy Alejandro Zárate Macías, AI Engineer del Instituto de Información Estadística y Geográfica. Trabajo con recuperación de herramientas en español y visión por computadora. Hoy vamos a sacar a alguien muy inteligente de una habitación y descubrir por qué conectar cosas termina siendo un trabajo de tiempo completo.</a:t>
            </a:r>
            <a:endParaRPr lang="en-US"/>
          </a:p>
        </p:txBody>
      </p:sp>
      <p:sp>
        <p:nvSpPr>
          <p:cNvPr id="2102042340"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3017025" name="Slide Image Placeholder 1"/>
          <p:cNvSpPr>
            <a:spLocks noChangeAspect="1" noGrp="1" noRot="1"/>
          </p:cNvSpPr>
          <p:nvPr>
            <p:ph type="sldImg"/>
          </p:nvPr>
        </p:nvSpPr>
        <p:spPr bwMode="auto"/>
      </p:sp>
      <p:sp>
        <p:nvSpPr>
          <p:cNvPr id="132549902" name="Notes Placeholder 2"/>
          <p:cNvSpPr>
            <a:spLocks noGrp="1"/>
          </p:cNvSpPr>
          <p:nvPr>
            <p:ph type="body" idx="1"/>
          </p:nvPr>
        </p:nvSpPr>
        <p:spPr bwMode="auto"/>
        <p:txBody>
          <a:bodyPr/>
          <a:lstStyle/>
          <a:p>
            <a:pPr>
              <a:defRPr/>
            </a:pPr>
            <a:r>
              <a:rPr lang="en-US"/>
              <a:t>Pausa antes de comenzar la historia. Leer el remate y señalar que nuestro personaje tiene conocimientos, pero no acceso automático al mundo exterior.</a:t>
            </a:r>
            <a:endParaRPr lang="en-US"/>
          </a:p>
        </p:txBody>
      </p:sp>
      <p:sp>
        <p:nvSpPr>
          <p:cNvPr id="2080998593" name="Slide Number Placeholder 3"/>
          <p:cNvSpPr>
            <a:spLocks noGrp="1"/>
          </p:cNvSpPr>
          <p:nvPr>
            <p:ph type="sldNum" sz="quarter" idx="10"/>
          </p:nvPr>
        </p:nvSpPr>
        <p:spPr bwMode="auto"/>
        <p:txBody>
          <a:bodyPr/>
          <a:lstStyle/>
          <a:p>
            <a:pPr>
              <a:defRPr/>
            </a:pPr>
            <a:fld id="{835B6472-BB0A-8BF4-25D4-00A06966BFE5}"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7423192" name="Slide Image Placeholder 1"/>
          <p:cNvSpPr>
            <a:spLocks noChangeAspect="1" noGrp="1" noRot="1"/>
          </p:cNvSpPr>
          <p:nvPr>
            <p:ph type="sldImg"/>
          </p:nvPr>
        </p:nvSpPr>
        <p:spPr bwMode="auto"/>
      </p:sp>
      <p:sp>
        <p:nvSpPr>
          <p:cNvPr id="1010903920" name="Notes Placeholder 2"/>
          <p:cNvSpPr>
            <a:spLocks noGrp="1"/>
          </p:cNvSpPr>
          <p:nvPr>
            <p:ph type="body" idx="1"/>
          </p:nvPr>
        </p:nvSpPr>
        <p:spPr bwMode="auto"/>
        <p:txBody>
          <a:bodyPr/>
          <a:lstStyle/>
          <a:p>
            <a:pPr>
              <a:defRPr/>
            </a:pPr>
            <a:endParaRPr/>
          </a:p>
        </p:txBody>
      </p:sp>
      <p:sp>
        <p:nvSpPr>
          <p:cNvPr id="1556052656" name="Slide Number Placeholder 3"/>
          <p:cNvSpPr>
            <a:spLocks noGrp="1"/>
          </p:cNvSpPr>
          <p:nvPr>
            <p:ph type="sldNum" sz="quarter" idx="10"/>
          </p:nvPr>
        </p:nvSpPr>
        <p:spPr bwMode="auto"/>
        <p:txBody>
          <a:bodyPr/>
          <a:lstStyle/>
          <a:p>
            <a:pPr>
              <a:defRPr/>
            </a:pPr>
            <a:fld id="{718B053B-7ADC-18A8-1E1E-6E7BE0F380AC}"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5364411" name="Slide Image Placeholder 1"/>
          <p:cNvSpPr>
            <a:spLocks noChangeAspect="1" noGrp="1" noRot="1"/>
          </p:cNvSpPr>
          <p:nvPr>
            <p:ph type="sldImg"/>
          </p:nvPr>
        </p:nvSpPr>
        <p:spPr bwMode="auto"/>
      </p:sp>
      <p:sp>
        <p:nvSpPr>
          <p:cNvPr id="1003131449" name="Notes Placeholder 2"/>
          <p:cNvSpPr>
            <a:spLocks noGrp="1"/>
          </p:cNvSpPr>
          <p:nvPr>
            <p:ph type="body" idx="1"/>
          </p:nvPr>
        </p:nvSpPr>
        <p:spPr bwMode="auto"/>
        <p:txBody>
          <a:bodyPr/>
          <a:lstStyle/>
          <a:p>
            <a:pPr>
              <a:defRPr/>
            </a:pPr>
            <a:r>
              <a:rPr lang="en-US"/>
              <a:t>Pausa antes de comenzar la historia. Leer el remate y señalar que nuestro personaje tiene conocimientos, pero no acceso automático al mundo exterior.</a:t>
            </a:r>
            <a:endParaRPr lang="en-US"/>
          </a:p>
        </p:txBody>
      </p:sp>
      <p:sp>
        <p:nvSpPr>
          <p:cNvPr id="339497476"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42667737" name="Slide Image Placeholder 1"/>
          <p:cNvSpPr>
            <a:spLocks noChangeAspect="1" noGrp="1" noRot="1"/>
          </p:cNvSpPr>
          <p:nvPr>
            <p:ph type="sldImg"/>
          </p:nvPr>
        </p:nvSpPr>
        <p:spPr bwMode="auto"/>
      </p:sp>
      <p:sp>
        <p:nvSpPr>
          <p:cNvPr id="969254703" name="Notes Placeholder 2"/>
          <p:cNvSpPr>
            <a:spLocks noGrp="1"/>
          </p:cNvSpPr>
          <p:nvPr>
            <p:ph type="body" idx="1"/>
          </p:nvPr>
        </p:nvSpPr>
        <p:spPr bwMode="auto"/>
        <p:txBody>
          <a:bodyPr/>
          <a:lstStyle/>
          <a:p>
            <a:pPr>
              <a:defRPr/>
            </a:pPr>
            <a:r>
              <a:rPr lang="en-US"/>
              <a:t>Vamos a hacer un experimento bastante cuestionable: encerramos a alguien en un cuarto y le damos todo lo que pueda leer. Libros, artículos, conversaciones, tutoriales, respuestas de foros… Que aprenda todo lo que pueda. Nuestro personaje estudia, relaciona cosas y memoriza. Pausa: ya sabe muchísimo, pero sigue encerrado. Esta es la analogía humana del entrenamiento; técnicamente un LLM aprende patrones en sus parámetros y genera respuestas condicionadas al contexto, no consulta una memoria literal de todo internet. Transición: ahora le hacemos preguntas por la puerta.</a:t>
            </a:r>
            <a:endParaRPr lang="en-US"/>
          </a:p>
        </p:txBody>
      </p:sp>
      <p:sp>
        <p:nvSpPr>
          <p:cNvPr id="1428445948"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0607220" name="Slide Image Placeholder 1"/>
          <p:cNvSpPr>
            <a:spLocks noChangeAspect="1" noGrp="1" noRot="1"/>
          </p:cNvSpPr>
          <p:nvPr>
            <p:ph type="sldImg"/>
          </p:nvPr>
        </p:nvSpPr>
        <p:spPr bwMode="auto"/>
      </p:sp>
      <p:sp>
        <p:nvSpPr>
          <p:cNvPr id="1002410811" name="Notes Placeholder 2"/>
          <p:cNvSpPr>
            <a:spLocks noGrp="1"/>
          </p:cNvSpPr>
          <p:nvPr>
            <p:ph type="body" idx="1"/>
          </p:nvPr>
        </p:nvSpPr>
        <p:spPr bwMode="auto"/>
        <p:txBody>
          <a:bodyPr/>
          <a:lstStyle/>
          <a:p>
            <a:pPr>
              <a:defRPr/>
            </a:pPr>
            <a:r>
              <a:rPr lang="en-US"/>
              <a:t>Ahora alguien toca la puerta y pregunta algo que nuestro personaje estudió. Él piensa: “Eso lo leí… a ver, me acuerdo”. Recupera lo que cree recordar, relaciona ideas y responde. Y muchas veces la respuesta sirve: por eso estos modelos son tan útiles. Dejar que el público reconozca la situación de contestar un examen sin apuntes. La memoria es una analogía divulgativa, no el mecanismo literal del modelo: éste genera texto a partir de patrones aprendidos y del contexto, y puede razonar además de reproducir información. Transición con una pausa: el problema es cuando se le cruzan los cables y la seguridad se queda intacta.</a:t>
            </a:r>
            <a:endParaRPr lang="en-US"/>
          </a:p>
        </p:txBody>
      </p:sp>
      <p:sp>
        <p:nvSpPr>
          <p:cNvPr id="1055772540"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4223868" name="Slide Image Placeholder 1"/>
          <p:cNvSpPr>
            <a:spLocks noChangeAspect="1" noGrp="1" noRot="1"/>
          </p:cNvSpPr>
          <p:nvPr>
            <p:ph type="sldImg"/>
          </p:nvPr>
        </p:nvSpPr>
        <p:spPr bwMode="auto"/>
      </p:sp>
      <p:sp>
        <p:nvSpPr>
          <p:cNvPr id="61598548" name="Notes Placeholder 2"/>
          <p:cNvSpPr>
            <a:spLocks noGrp="1"/>
          </p:cNvSpPr>
          <p:nvPr>
            <p:ph type="body" idx="1"/>
          </p:nvPr>
        </p:nvSpPr>
        <p:spPr bwMode="auto"/>
        <p:txBody>
          <a:bodyPr/>
          <a:lstStyle/>
          <a:p>
            <a:pPr>
              <a:defRPr/>
            </a:pPr>
            <a:r>
              <a:rPr lang="en-US"/>
              <a:t>Puede mezclar términos, atribuir una idea a quien no era o inventarse una explicación; y decirlo con una seguridad espectacular. Aquí entra el alucín: en la analogía, se cree muy cabrón, pero anda inventando. No es que el modelo tenga ego o quiera mentir; llamamos alucinación a una respuesta falsa o sin fundamento presentada como plausible. Preguntar: “¿Cuánto vendimos ayer?”. Imitar una voz muy solemne: “Basándome en patrones históricos… ochenta y cinco mil, sin duda”. Pausa. “Mi hermano, ni acceso al sistema tienes”. La cifra es deliberadamente ficticia y sin fuente. Remate: “Se le olvidó el dato, pero no la confianza”. No todos los errores son por información ausente: también puede fallar con contexto disponible. Transición: no queremos una predicción ni un cuento convincente; queremos el dato. Vamos a pasarle el reporte por debajo de la puerta.</a:t>
            </a:r>
            <a:endParaRPr lang="en-US"/>
          </a:p>
        </p:txBody>
      </p:sp>
      <p:sp>
        <p:nvSpPr>
          <p:cNvPr id="293816996"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6344603" name="Slide Image Placeholder 1"/>
          <p:cNvSpPr>
            <a:spLocks noChangeAspect="1" noGrp="1" noRot="1"/>
          </p:cNvSpPr>
          <p:nvPr>
            <p:ph type="sldImg"/>
          </p:nvPr>
        </p:nvSpPr>
        <p:spPr bwMode="auto"/>
      </p:sp>
      <p:sp>
        <p:nvSpPr>
          <p:cNvPr id="1161300198" name="Notes Placeholder 2"/>
          <p:cNvSpPr>
            <a:spLocks noGrp="1"/>
          </p:cNvSpPr>
          <p:nvPr>
            <p:ph type="body" idx="1"/>
          </p:nvPr>
        </p:nvSpPr>
        <p:spPr bwMode="auto"/>
        <p:txBody>
          <a:bodyPr/>
          <a:lstStyle/>
          <a:p>
            <a:pPr>
              <a:defRPr/>
            </a:pPr>
            <a:r>
              <a:rPr lang="en-US"/>
              <a:t>Puente hacia RAG: reentrenar o “reentrenar”. El acordeón es información recuperada que se aporta como contexto; no modifica los pesos del modelo.</a:t>
            </a:r>
            <a:endParaRPr lang="en-US"/>
          </a:p>
        </p:txBody>
      </p:sp>
      <p:sp>
        <p:nvSpPr>
          <p:cNvPr id="104128490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8293968" name="Slide Image Placeholder 1"/>
          <p:cNvSpPr>
            <a:spLocks noChangeAspect="1" noGrp="1" noRot="1"/>
          </p:cNvSpPr>
          <p:nvPr>
            <p:ph type="sldImg"/>
          </p:nvPr>
        </p:nvSpPr>
        <p:spPr bwMode="auto"/>
      </p:sp>
      <p:sp>
        <p:nvSpPr>
          <p:cNvPr id="462561675" name="Notes Placeholder 2"/>
          <p:cNvSpPr>
            <a:spLocks noGrp="1"/>
          </p:cNvSpPr>
          <p:nvPr>
            <p:ph type="body" idx="1"/>
          </p:nvPr>
        </p:nvSpPr>
        <p:spPr bwMode="auto"/>
        <p:txBody>
          <a:bodyPr/>
          <a:lstStyle/>
          <a:p>
            <a:pPr>
              <a:defRPr/>
            </a:pPr>
            <a:r>
              <a:rPr lang="en-US"/>
              <a:t>Puente desde el alucín hacia RAG, todavía antes de MCP. Decir: hay dos caminos, reentrenar o “reentrenar”. Pausa para que se noten las comillas. Reentrenar de verdad modifica los parámetros mediante entrenamiento o ajuste fino; requiere datos, cómputo y evaluación y no garantiza recordar exactamente cada dato reciente. El segundo no es entrenamiento: buscamos información relevante y se la damos en el contexto. Esa es la entrada a RAG y al reporte bajo la puerta. No presentar RAG como solución a toda alucinación ni como sustituto universal del ajuste fino.</a:t>
            </a:r>
            <a:endParaRPr lang="en-US"/>
          </a:p>
        </p:txBody>
      </p:sp>
      <p:sp>
        <p:nvSpPr>
          <p:cNvPr id="1904197831"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2696691" name="Slide Image Placeholder 1"/>
          <p:cNvSpPr>
            <a:spLocks noChangeAspect="1" noGrp="1" noRot="1"/>
          </p:cNvSpPr>
          <p:nvPr>
            <p:ph type="sldImg"/>
          </p:nvPr>
        </p:nvSpPr>
        <p:spPr bwMode="auto"/>
      </p:sp>
      <p:sp>
        <p:nvSpPr>
          <p:cNvPr id="1834032178" name="Notes Placeholder 2"/>
          <p:cNvSpPr>
            <a:spLocks noGrp="1"/>
          </p:cNvSpPr>
          <p:nvPr>
            <p:ph type="body" idx="1"/>
          </p:nvPr>
        </p:nvSpPr>
        <p:spPr bwMode="auto"/>
        <p:txBody>
          <a:bodyPr/>
          <a:lstStyle/>
          <a:p>
            <a:pPr>
              <a:defRPr/>
            </a:pPr>
            <a:r>
              <a:rPr lang="en-US"/>
              <a:t>Después del alucín, abrir con: “A ver, aquí está el reporte. Léelo antes de contestar”. El reporte dice 42 mil, no los 85 mil inventados de la escena anterior. Ahora la respuesta tiene una fuente que podemos contrastar. RAG recupera fragmentos relevantes de fuentes y los incorpora al contexto del modelo. Puede ayudar con información reciente o privada si el índice y los permisos están bien mantenidos. No es reentrenar el modelo. En la escena, los papeles son el contexto recuperado. El personaje ahora responde usando el reporte de ayer. Ejemplo ficticio: 42 mil pesos. No prometer que RAG elimina errores. Transición: ya tiene el reporte; ahora pidámosle que haga algo.</a:t>
            </a:r>
            <a:endParaRPr lang="en-US"/>
          </a:p>
        </p:txBody>
      </p:sp>
      <p:sp>
        <p:nvSpPr>
          <p:cNvPr id="1370852597"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248606" name="Slide Image Placeholder 1"/>
          <p:cNvSpPr>
            <a:spLocks noChangeAspect="1" noGrp="1" noRot="1"/>
          </p:cNvSpPr>
          <p:nvPr>
            <p:ph type="sldImg"/>
          </p:nvPr>
        </p:nvSpPr>
        <p:spPr bwMode="auto"/>
      </p:sp>
      <p:sp>
        <p:nvSpPr>
          <p:cNvPr id="241645918" name="Notes Placeholder 2"/>
          <p:cNvSpPr>
            <a:spLocks noGrp="1"/>
          </p:cNvSpPr>
          <p:nvPr>
            <p:ph type="body" idx="1"/>
          </p:nvPr>
        </p:nvSpPr>
        <p:spPr bwMode="auto"/>
        <p:txBody>
          <a:bodyPr/>
          <a:lstStyle/>
          <a:p>
            <a:pPr>
              <a:defRPr/>
            </a:pPr>
            <a:r>
              <a:rPr lang="en-US"/>
              <a:t>Después de RAG, ya tiene el reporte pero sigue en la habitación. Pedir: genera la factura. Responde con instrucciones. Insistir: no me expliques, hazla. Contesta con más texto, incluso podría decir “listo” sin haber ejecutado nada. Una respuesta afirmativa no prueba una acción. Un LLM sin herramientas ni runtime sólo produce una salida, aquí texto; insistir en el prompt no le otorga acceso al sistema. Verificar acciones en el sistema real. Transición: ahora le damos herramientas y un sistema agente para ejecutarlas.</a:t>
            </a:r>
            <a:endParaRPr lang="en-US"/>
          </a:p>
        </p:txBody>
      </p:sp>
      <p:sp>
        <p:nvSpPr>
          <p:cNvPr id="216154343"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348658" name="Slide Image Placeholder 1"/>
          <p:cNvSpPr>
            <a:spLocks noChangeAspect="1" noGrp="1" noRot="1"/>
          </p:cNvSpPr>
          <p:nvPr>
            <p:ph type="sldImg"/>
          </p:nvPr>
        </p:nvSpPr>
        <p:spPr bwMode="auto"/>
      </p:sp>
      <p:sp>
        <p:nvSpPr>
          <p:cNvPr id="1775391550" name="Notes Placeholder 2"/>
          <p:cNvSpPr>
            <a:spLocks noGrp="1"/>
          </p:cNvSpPr>
          <p:nvPr>
            <p:ph type="body" idx="1"/>
          </p:nvPr>
        </p:nvSpPr>
        <p:spPr bwMode="auto"/>
        <p:txBody>
          <a:bodyPr/>
          <a:lstStyle/>
          <a:p>
            <a:pPr>
              <a:defRPr/>
            </a:pPr>
            <a:r>
              <a:rPr lang="en-US"/>
              <a:t>Retomar la factura que nunca se generó. Vamos a darle herramientas y un sistema que coordine su ejecución.</a:t>
            </a:r>
            <a:endParaRPr lang="en-US"/>
          </a:p>
        </p:txBody>
      </p:sp>
      <p:sp>
        <p:nvSpPr>
          <p:cNvPr id="278627246"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2342068" name="Slide Image Placeholder 1"/>
          <p:cNvSpPr>
            <a:spLocks noChangeAspect="1" noGrp="1" noRot="1"/>
          </p:cNvSpPr>
          <p:nvPr>
            <p:ph type="sldImg"/>
          </p:nvPr>
        </p:nvSpPr>
        <p:spPr bwMode="auto"/>
      </p:sp>
      <p:sp>
        <p:nvSpPr>
          <p:cNvPr id="1433306342" name="Notes Placeholder 2"/>
          <p:cNvSpPr>
            <a:spLocks noGrp="1"/>
          </p:cNvSpPr>
          <p:nvPr>
            <p:ph type="body" idx="1"/>
          </p:nvPr>
        </p:nvSpPr>
        <p:spPr bwMode="auto"/>
        <p:txBody>
          <a:bodyPr/>
          <a:lstStyle/>
          <a:p>
            <a:pPr>
              <a:defRPr/>
            </a:pPr>
            <a:r>
              <a:rPr lang="en-US"/>
              <a:t>El LLM aporta el razonamiento y propone pasos o llamadas. El sistema agente coordina el ciclo, ejecuta herramientas con validación y permisos, observa resultados y decide si continuar. Las tools son funciones o capacidades concretas, no necesariamente objetos físicos. Tool calling y agentes existían antes de MCP. No todos los agentes requieren autonomía ilimitada. Transición: veamos una vuelta del ciclo sin magia.</a:t>
            </a:r>
            <a:endParaRPr lang="en-US"/>
          </a:p>
        </p:txBody>
      </p:sp>
      <p:sp>
        <p:nvSpPr>
          <p:cNvPr id="1828032776"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2949242" name="Slide Image Placeholder 1"/>
          <p:cNvSpPr>
            <a:spLocks noChangeAspect="1" noGrp="1" noRot="1"/>
          </p:cNvSpPr>
          <p:nvPr>
            <p:ph type="sldImg"/>
          </p:nvPr>
        </p:nvSpPr>
        <p:spPr bwMode="auto"/>
      </p:sp>
      <p:sp>
        <p:nvSpPr>
          <p:cNvPr id="1619263234" name="Notes Placeholder 2"/>
          <p:cNvSpPr>
            <a:spLocks noGrp="1"/>
          </p:cNvSpPr>
          <p:nvPr>
            <p:ph type="body" idx="1"/>
          </p:nvPr>
        </p:nvSpPr>
        <p:spPr bwMode="auto"/>
        <p:txBody>
          <a:bodyPr/>
          <a:lstStyle/>
          <a:p>
            <a:pPr>
              <a:defRPr/>
            </a:pPr>
            <a:r>
              <a:rPr lang="en-US"/>
              <a:t>Ejemplo ficticio de tool calling anterior e independiente de MCP. El usuario pregunta por las ventas. El modelo propone consultar_ventas con una fecha; el runtime valida y ejecuta, no el texto del modelo por sí mismo. La función devuelve un resultado estructurado, que vuelve al contexto del modelo. Este redacta una respuesta. Puede haber varios ciclos, fallos, reintentos o confirmación humana. La fecha se resuelve desde “ayer” usando el calendario y la zona horaria del usuario.</a:t>
            </a:r>
            <a:endParaRPr lang="en-US"/>
          </a:p>
        </p:txBody>
      </p:sp>
      <p:sp>
        <p:nvSpPr>
          <p:cNvPr id="1435224110"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3384283" name="Slide Image Placeholder 1"/>
          <p:cNvSpPr>
            <a:spLocks noChangeAspect="1" noGrp="1" noRot="1"/>
          </p:cNvSpPr>
          <p:nvPr>
            <p:ph type="sldImg"/>
          </p:nvPr>
        </p:nvSpPr>
        <p:spPr bwMode="auto"/>
      </p:sp>
      <p:sp>
        <p:nvSpPr>
          <p:cNvPr id="1624879989" name="Notes Placeholder 2"/>
          <p:cNvSpPr>
            <a:spLocks noGrp="1"/>
          </p:cNvSpPr>
          <p:nvPr>
            <p:ph type="body" idx="1"/>
          </p:nvPr>
        </p:nvSpPr>
        <p:spPr bwMode="auto"/>
        <p:txBody>
          <a:bodyPr/>
          <a:lstStyle/>
          <a:p>
            <a:pPr>
              <a:defRPr/>
            </a:pPr>
            <a:r>
              <a:rPr lang="en-US"/>
              <a:t>El LLM aporta el razonamiento y propone pasos o llamadas. El sistema agente coordina el ciclo, ejecuta herramientas con validación y permisos, observa resultados y decide si continuar. Las tools son funciones o capacidades concretas, no necesariamente objetos físicos. Tool calling y agentes existían antes de MCP. No todos los agentes requieren autonomía ilimitada. Transición: veamos una vuelta del ciclo sin magia.</a:t>
            </a:r>
            <a:endParaRPr lang="en-US"/>
          </a:p>
        </p:txBody>
      </p:sp>
      <p:sp>
        <p:nvSpPr>
          <p:cNvPr id="149204062" name="Slide Number Placeholder 3"/>
          <p:cNvSpPr>
            <a:spLocks noGrp="1"/>
          </p:cNvSpPr>
          <p:nvPr>
            <p:ph type="sldNum" sz="quarter" idx="10"/>
          </p:nvPr>
        </p:nvSpPr>
        <p:spPr bwMode="auto"/>
        <p:txBody>
          <a:bodyPr/>
          <a:lstStyle/>
          <a:p>
            <a:pPr>
              <a:defRPr/>
            </a:pPr>
            <a:fld id="{AA2115AA-C74A-493A-0DA1-3973CB0494BD}" type="slidenum">
              <a:rPr lang="en-US"/>
              <a:t>9</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7267540" name="Slide Image Placeholder 1"/>
          <p:cNvSpPr>
            <a:spLocks noChangeAspect="1" noGrp="1" noRot="1"/>
          </p:cNvSpPr>
          <p:nvPr>
            <p:ph type="sldImg"/>
          </p:nvPr>
        </p:nvSpPr>
        <p:spPr bwMode="auto"/>
      </p:sp>
      <p:sp>
        <p:nvSpPr>
          <p:cNvPr id="632019" name="Notes Placeholder 2"/>
          <p:cNvSpPr>
            <a:spLocks noGrp="1"/>
          </p:cNvSpPr>
          <p:nvPr>
            <p:ph type="body" idx="1"/>
          </p:nvPr>
        </p:nvSpPr>
        <p:spPr bwMode="auto"/>
        <p:txBody>
          <a:bodyPr/>
          <a:lstStyle/>
          <a:p>
            <a:pPr>
              <a:defRPr/>
            </a:pPr>
            <a:r>
              <a:rPr lang="en-US"/>
              <a:t>Mostrar la frase y dejar tres segundos de silencio. Preguntar con la mirada quién ha escuchado eso. Avanzar para revelar OAuth, permisos, tokens y el coste escondido.</a:t>
            </a:r>
            <a:endParaRPr lang="en-US"/>
          </a:p>
        </p:txBody>
      </p:sp>
      <p:sp>
        <p:nvSpPr>
          <p:cNvPr id="421916472"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3978374" name="Slide Image Placeholder 1"/>
          <p:cNvSpPr>
            <a:spLocks noChangeAspect="1" noGrp="1" noRot="1"/>
          </p:cNvSpPr>
          <p:nvPr>
            <p:ph type="sldImg"/>
          </p:nvPr>
        </p:nvSpPr>
        <p:spPr bwMode="auto"/>
      </p:sp>
      <p:sp>
        <p:nvSpPr>
          <p:cNvPr id="1119088758" name="Notes Placeholder 2"/>
          <p:cNvSpPr>
            <a:spLocks noGrp="1"/>
          </p:cNvSpPr>
          <p:nvPr>
            <p:ph type="body" idx="1"/>
          </p:nvPr>
        </p:nvSpPr>
        <p:spPr bwMode="auto"/>
        <p:txBody>
          <a:bodyPr/>
          <a:lstStyle/>
          <a:p>
            <a:pPr>
              <a:defRPr/>
            </a:pPr>
            <a:r>
              <a:rPr lang="en-US"/>
              <a:t>El LLM aporta el razonamiento y propone pasos o llamadas. El sistema agente coordina el ciclo, ejecuta herramientas con validación y permisos, observa resultados y decide si continuar. Las tools son funciones o capacidades concretas, no necesariamente objetos físicos. Tool calling y agentes existían antes de MCP. No todos los agentes requieren autonomía ilimitada. Transición: veamos una vuelta del ciclo sin magia.</a:t>
            </a:r>
            <a:endParaRPr lang="en-US"/>
          </a:p>
        </p:txBody>
      </p:sp>
      <p:sp>
        <p:nvSpPr>
          <p:cNvPr id="1183716696" name="Slide Number Placeholder 3"/>
          <p:cNvSpPr>
            <a:spLocks noGrp="1"/>
          </p:cNvSpPr>
          <p:nvPr>
            <p:ph type="sldNum" sz="quarter" idx="10"/>
          </p:nvPr>
        </p:nvSpPr>
        <p:spPr bwMode="auto"/>
        <p:txBody>
          <a:bodyPr/>
          <a:lstStyle/>
          <a:p>
            <a:pPr>
              <a:defRPr/>
            </a:pPr>
            <a:fld id="{06CA77C5-AC5D-0CFF-0987-6296761AF13E}" type="slidenum">
              <a:rPr lang="en-US"/>
              <a:t>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7502255" name="Slide Image Placeholder 1"/>
          <p:cNvSpPr>
            <a:spLocks noChangeAspect="1" noGrp="1" noRot="1"/>
          </p:cNvSpPr>
          <p:nvPr>
            <p:ph type="sldImg"/>
          </p:nvPr>
        </p:nvSpPr>
        <p:spPr bwMode="auto"/>
      </p:sp>
      <p:sp>
        <p:nvSpPr>
          <p:cNvPr id="1453067830" name="Notes Placeholder 2"/>
          <p:cNvSpPr>
            <a:spLocks noGrp="1"/>
          </p:cNvSpPr>
          <p:nvPr>
            <p:ph type="body" idx="1"/>
          </p:nvPr>
        </p:nvSpPr>
        <p:spPr bwMode="auto"/>
        <p:txBody>
          <a:bodyPr/>
          <a:lstStyle/>
          <a:p>
            <a:pPr>
              <a:defRPr/>
            </a:pPr>
            <a:r>
              <a:rPr lang="en-US"/>
              <a:t>Revelar MCP como resolución del problema, no como un nuevo cerebro. Model Context Protocol estandariza cómo las aplicaciones compatibles descubren y consumen capacidades externas. Analogía del enchufe común: el conector facilita compatibilidad, pero cada aparato sigue haciendo su trabajo. Una función expuesta en HTTP sigue siendo sólo una API si no implementa el contrato MCP. Los servidores adaptan sistemas existentes; no desaparece todo el trabajo de integración.</a:t>
            </a:r>
            <a:endParaRPr lang="en-US"/>
          </a:p>
        </p:txBody>
      </p:sp>
      <p:sp>
        <p:nvSpPr>
          <p:cNvPr id="233592395"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0355633" name="Slide Image Placeholder 1"/>
          <p:cNvSpPr>
            <a:spLocks noChangeAspect="1" noGrp="1" noRot="1"/>
          </p:cNvSpPr>
          <p:nvPr>
            <p:ph type="sldImg"/>
          </p:nvPr>
        </p:nvSpPr>
        <p:spPr bwMode="auto"/>
      </p:sp>
      <p:sp>
        <p:nvSpPr>
          <p:cNvPr id="451743742" name="Notes Placeholder 2"/>
          <p:cNvSpPr>
            <a:spLocks noGrp="1"/>
          </p:cNvSpPr>
          <p:nvPr>
            <p:ph type="body" idx="1"/>
          </p:nvPr>
        </p:nvSpPr>
        <p:spPr bwMode="auto"/>
        <p:txBody>
          <a:bodyPr/>
          <a:lstStyle/>
          <a:p>
            <a:pPr>
              <a:defRPr/>
            </a:pPr>
            <a:r>
              <a:rPr lang="en-US"/>
              <a:t>Primera mitad de la comparación visual. Dejar que el público vea al personaje atrapado entre cables. Decir: “Cada sistema tiene su manera. Y aquí estoy yo, haciendo que todas se entiendan”. Pausa. El presentador marca el ritmo y avanza a la siguiente diapositiva para revelar el cambio; no se requiere animación automática. La imagen es una metáfora del trabajo de integración, no un diagrama del protocolo.</a:t>
            </a:r>
            <a:endParaRPr lang="en-US"/>
          </a:p>
        </p:txBody>
      </p:sp>
      <p:sp>
        <p:nvSpPr>
          <p:cNvPr id="2112006492" name="Slide Number Placeholder 3"/>
          <p:cNvSpPr>
            <a:spLocks noGrp="1"/>
          </p:cNvSpPr>
          <p:nvPr>
            <p:ph type="sldNum" sz="quarter" idx="10"/>
          </p:nvPr>
        </p:nvSpPr>
        <p:spPr bwMode="auto"/>
        <p:txBody>
          <a:bodyPr/>
          <a:lstStyle/>
          <a:p>
            <a:pPr>
              <a:defRPr/>
            </a:pPr>
            <a:fld id="{20D903BB-789E-4359-729D-F32A5F4EE0D6}" type="slidenum">
              <a:rPr lang="en-US"/>
              <a:t>16</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809661" name="Slide Image Placeholder 1"/>
          <p:cNvSpPr>
            <a:spLocks noChangeAspect="1" noGrp="1" noRot="1"/>
          </p:cNvSpPr>
          <p:nvPr>
            <p:ph type="sldImg"/>
          </p:nvPr>
        </p:nvSpPr>
        <p:spPr bwMode="auto"/>
      </p:sp>
      <p:sp>
        <p:nvSpPr>
          <p:cNvPr id="301227964" name="Notes Placeholder 2"/>
          <p:cNvSpPr>
            <a:spLocks noGrp="1"/>
          </p:cNvSpPr>
          <p:nvPr>
            <p:ph type="body" idx="1"/>
          </p:nvPr>
        </p:nvSpPr>
        <p:spPr bwMode="auto"/>
        <p:txBody>
          <a:bodyPr/>
          <a:lstStyle/>
          <a:p>
            <a:pPr>
              <a:defRPr/>
            </a:pPr>
            <a:r>
              <a:rPr lang="en-US"/>
              <a:t>Segunda mitad de la comparación visual. Mantener la pausa y señalar el diagrama del asset 10: aplicaciones de IA a un lado, capacidades externas al otro, una interfaz común entre ambas. Decir: “Los sistemas siguen siendo distintos. Lo que compartimos es la forma de descubrir y pedir sus capacidades”. La ilustración resume la idea; no representa un servidor central obligatorio ni implica que el modelo sea el cliente MCP. El cliente es un componente del host, como se precisa en la siguiente diapositiva. Los servidores MCP adaptan sus sistemas y conservan sus permisos y reglas. Exponer una función no equivale por sí solo a implementar MCP. El presentador controla la transición entre ambas imágenes.</a:t>
            </a:r>
            <a:endParaRPr lang="en-US"/>
          </a:p>
        </p:txBody>
      </p:sp>
      <p:sp>
        <p:nvSpPr>
          <p:cNvPr id="1524286906" name="Slide Number Placeholder 3"/>
          <p:cNvSpPr>
            <a:spLocks noGrp="1"/>
          </p:cNvSpPr>
          <p:nvPr>
            <p:ph type="sldNum" sz="quarter" idx="10"/>
          </p:nvPr>
        </p:nvSpPr>
        <p:spPr bwMode="auto"/>
        <p:txBody>
          <a:bodyPr/>
          <a:lstStyle/>
          <a:p>
            <a:pPr>
              <a:defRPr/>
            </a:pPr>
            <a:fld id="{F7021451-1387-4CA6-816F-3879F97B5CBC}" type="slidenum">
              <a:rPr lang="en-US"/>
              <a:t>17</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0531135" name="Slide Image Placeholder 1"/>
          <p:cNvSpPr>
            <a:spLocks noChangeAspect="1" noGrp="1" noRot="1"/>
          </p:cNvSpPr>
          <p:nvPr>
            <p:ph type="sldImg"/>
          </p:nvPr>
        </p:nvSpPr>
        <p:spPr bwMode="auto"/>
      </p:sp>
      <p:sp>
        <p:nvSpPr>
          <p:cNvPr id="1194638311" name="Notes Placeholder 2"/>
          <p:cNvSpPr>
            <a:spLocks noGrp="1"/>
          </p:cNvSpPr>
          <p:nvPr>
            <p:ph type="body" idx="1"/>
          </p:nvPr>
        </p:nvSpPr>
        <p:spPr bwMode="auto"/>
        <p:txBody>
          <a:bodyPr/>
          <a:lstStyle/>
          <a:p>
            <a:pPr>
              <a:defRPr/>
            </a:pPr>
            <a:r>
              <a:rPr lang="en-US"/>
              <a:t>Retomar el enchufe común: para hablar necesitamos un medio, una dirección cuando aplica y un lenguaje. /mcp es una convención frecuente, no una ruta obligatoria. STDIO no tiene URL. JSON-RPC 2.0 describe mensajes y métodos. Fuente: https://modelcontextprotocol.io/specification/2025-11-25/basic/transports ; https://modelcontextprotocol.io/specification/2025-11-25/server/tools</a:t>
            </a:r>
            <a:endParaRPr lang="en-US"/>
          </a:p>
        </p:txBody>
      </p:sp>
      <p:sp>
        <p:nvSpPr>
          <p:cNvPr id="189341314"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43372783" name="Slide Image Placeholder 1"/>
          <p:cNvSpPr>
            <a:spLocks noChangeAspect="1" noGrp="1" noRot="1"/>
          </p:cNvSpPr>
          <p:nvPr>
            <p:ph type="sldImg"/>
          </p:nvPr>
        </p:nvSpPr>
        <p:spPr bwMode="auto"/>
      </p:sp>
      <p:sp>
        <p:nvSpPr>
          <p:cNvPr id="1296855474" name="Notes Placeholder 2"/>
          <p:cNvSpPr>
            <a:spLocks noGrp="1"/>
          </p:cNvSpPr>
          <p:nvPr>
            <p:ph type="body" idx="1"/>
          </p:nvPr>
        </p:nvSpPr>
        <p:spPr bwMode="auto"/>
        <p:txBody>
          <a:bodyPr/>
          <a:lstStyle/>
          <a:p>
            <a:pPr>
              <a:defRPr/>
            </a:pPr>
            <a:r>
              <a:rPr lang="en-US"/>
              <a:t>STDIO comunica procesos mediante stdin y stdout; el cliente suele iniciar el servidor. No existe una URL y los logs se envían a stderr. Streamable HTTP conecta con un servicio independiente mediante un endpoint, con respuestas JSON o streaming según implementación. Puede ser local o remoto, no HTTP implica siempre remoto. /mcp es una convención, no un nombre obligatorio. HTTPS para exposición remota, junto con autenticación y autorización. Fuente: https://modelcontextprotocol.io/specification/2025-11-25/basic/transports</a:t>
            </a:r>
            <a:endParaRPr lang="en-US"/>
          </a:p>
        </p:txBody>
      </p:sp>
      <p:sp>
        <p:nvSpPr>
          <p:cNvPr id="2038643607"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8837781" name="Slide Image Placeholder 1"/>
          <p:cNvSpPr>
            <a:spLocks noChangeAspect="1" noGrp="1" noRot="1"/>
          </p:cNvSpPr>
          <p:nvPr>
            <p:ph type="sldImg"/>
          </p:nvPr>
        </p:nvSpPr>
        <p:spPr bwMode="auto"/>
      </p:sp>
      <p:sp>
        <p:nvSpPr>
          <p:cNvPr id="878042743" name="Notes Placeholder 2"/>
          <p:cNvSpPr>
            <a:spLocks noGrp="1"/>
          </p:cNvSpPr>
          <p:nvPr>
            <p:ph type="body" idx="1"/>
          </p:nvPr>
        </p:nvSpPr>
        <p:spPr bwMode="auto"/>
        <p:txBody>
          <a:bodyPr/>
          <a:lstStyle/>
          <a:p>
            <a:pPr>
              <a:defRPr/>
            </a:pPr>
            <a:r>
              <a:rPr lang="en-US"/>
              <a:t>Tools: funciones invocables, por ejemplo crear_ticket. Resources: contenido identificable por URI que el cliente puede leer. Prompts: plantillas reutilizables que el usuario o cliente puede seleccionar. El soporte de cada primitiva depende del cliente. Un flujo típico negocia capacidades y versión, lista herramientas, y hace tools/call con nombre y argumentos. La herramienta se describe con nombre, descripción y JSON Schema; el resultado puede ser contenido o datos estructurados. resources/list y resources/read, prompts/list y prompts/get son operaciones diferentes. La selección de una tool la decide el sistema agente; MCP transporta la solicitud, no razona por él. Fuente: https://modelcontextprotocol.io/specification/2025-11-25/server/index</a:t>
            </a:r>
            <a:endParaRPr lang="en-US"/>
          </a:p>
        </p:txBody>
      </p:sp>
      <p:sp>
        <p:nvSpPr>
          <p:cNvPr id="1583383480" name="Slide Number Placeholder 3"/>
          <p:cNvSpPr>
            <a:spLocks noGrp="1"/>
          </p:cNvSpPr>
          <p:nvPr>
            <p:ph type="sldNum" sz="quarter" idx="10"/>
          </p:nvPr>
        </p:nvSpPr>
        <p:spPr bwMode="auto"/>
        <p:txBody>
          <a:bodyPr/>
          <a:lstStyle/>
          <a:p>
            <a:pPr>
              <a:defRPr/>
            </a:pPr>
            <a:fld id="{F7021451-1387-4CA6-816F-3879F97B5CBC}" type="slidenum">
              <a:rPr lang="en-US"/>
              <a:t>19</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4464305" name="Slide Image Placeholder 1"/>
          <p:cNvSpPr>
            <a:spLocks noChangeAspect="1" noGrp="1" noRot="1"/>
          </p:cNvSpPr>
          <p:nvPr>
            <p:ph type="sldImg"/>
          </p:nvPr>
        </p:nvSpPr>
        <p:spPr bwMode="auto"/>
      </p:sp>
      <p:sp>
        <p:nvSpPr>
          <p:cNvPr id="2044824074" name="Notes Placeholder 2"/>
          <p:cNvSpPr>
            <a:spLocks noGrp="1"/>
          </p:cNvSpPr>
          <p:nvPr>
            <p:ph type="body" idx="1"/>
          </p:nvPr>
        </p:nvSpPr>
        <p:spPr bwMode="auto"/>
        <p:txBody>
          <a:bodyPr/>
          <a:lstStyle/>
          <a:p>
            <a:pPr>
              <a:defRPr/>
            </a:pPr>
            <a:r>
              <a:rPr lang="en-US"/>
              <a:t>La imagen es una analogía de un gabinete con capacidades, no rutas REST. Los métodos tools/list y tools/call, resources/list y resources/read, prompts/list y prompts/get se envían como JSON-RPC al punto de entrada MCP. El servidor no está obligado a ofrecer los tres tipos. Las capacidades deben poder descubrirse y su soporte depende también del cliente. Fuente: https://modelcontextprotocol.io/specification/2025-11-25/server/index</a:t>
            </a:r>
            <a:endParaRPr lang="en-US"/>
          </a:p>
        </p:txBody>
      </p:sp>
      <p:sp>
        <p:nvSpPr>
          <p:cNvPr id="242992391"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42253194" name="Slide Image Placeholder 1"/>
          <p:cNvSpPr>
            <a:spLocks noChangeAspect="1" noGrp="1" noRot="1"/>
          </p:cNvSpPr>
          <p:nvPr>
            <p:ph type="sldImg"/>
          </p:nvPr>
        </p:nvSpPr>
        <p:spPr bwMode="auto"/>
      </p:sp>
      <p:sp>
        <p:nvSpPr>
          <p:cNvPr id="1071744087" name="Notes Placeholder 2"/>
          <p:cNvSpPr>
            <a:spLocks noGrp="1"/>
          </p:cNvSpPr>
          <p:nvPr>
            <p:ph type="body" idx="1"/>
          </p:nvPr>
        </p:nvSpPr>
        <p:spPr bwMode="auto"/>
        <p:txBody>
          <a:bodyPr/>
          <a:lstStyle/>
          <a:p>
            <a:pPr>
              <a:defRPr/>
            </a:pPr>
            <a:r>
              <a:rPr lang="en-US"/>
              <a:t>Mostrar la ilustración como puente, no leer el código diminuto que contiene. El JSON y el Python editables de abajo son el ejemplo legible. tools/list permite descubrir nombre, descripción y esquema derivados del decorador, docstring y tipos por el SDK. tools/call envía nombre y argumentos. El SDK ejecuta la función que delega en la lógica existente. obtener_ventas es una función de negocio ilustrativa, no un servicio real verificado. El JSON es conceptual: omite transporte, headers y negociación de la versión concreta. Fuente: https://modelcontextprotocol.io/specification/2025-11-25/server/tools</a:t>
            </a:r>
            <a:endParaRPr lang="en-US"/>
          </a:p>
        </p:txBody>
      </p:sp>
      <p:sp>
        <p:nvSpPr>
          <p:cNvPr id="470006624"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8422730" name="Slide Image Placeholder 1"/>
          <p:cNvSpPr>
            <a:spLocks noChangeAspect="1" noGrp="1" noRot="1"/>
          </p:cNvSpPr>
          <p:nvPr>
            <p:ph type="sldImg"/>
          </p:nvPr>
        </p:nvSpPr>
        <p:spPr bwMode="auto"/>
      </p:sp>
      <p:sp>
        <p:nvSpPr>
          <p:cNvPr id="2130179566" name="Notes Placeholder 2"/>
          <p:cNvSpPr>
            <a:spLocks noGrp="1"/>
          </p:cNvSpPr>
          <p:nvPr>
            <p:ph type="body" idx="1"/>
          </p:nvPr>
        </p:nvSpPr>
        <p:spPr bwMode="auto"/>
        <p:txBody>
          <a:bodyPr/>
          <a:lstStyle/>
          <a:p>
            <a:pPr>
              <a:defRPr/>
            </a:pPr>
            <a:r>
              <a:rPr lang="en-US"/>
              <a:t>Recorrer en dos tiempos: primero descubrir; luego ejecutar. La aplicación host integra al modelo y al cliente MCP. El cliente obtiene el catálogo y el host lo entrega al modelo según su política. El modelo propone nombre y argumentos; el host autoriza y el cliente envía la llamada. El servidor ejecuta la función en el backend y devuelve el resultado; el host lo incorpora al contexto para la respuesta al usuario. El modelo no se conecta directamente al servidor. El descubrimiento puede almacenarse en caché: no tiene que repetirse en cada turno. La inicialización y negociación dependen de la versión implementada; este diagrama omite esos detalles deliberadamente. Fuente: https://modelcontextprotocol.io/specification/2025-11-25/basic/transports ; https://modelcontextprotocol.io/specification/2025-11-25/server/tools</a:t>
            </a:r>
            <a:endParaRPr lang="en-US"/>
          </a:p>
        </p:txBody>
      </p:sp>
      <p:sp>
        <p:nvSpPr>
          <p:cNvPr id="464937799"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2217549" name="Slide Image Placeholder 1"/>
          <p:cNvSpPr>
            <a:spLocks noChangeAspect="1" noGrp="1" noRot="1"/>
          </p:cNvSpPr>
          <p:nvPr>
            <p:ph type="sldImg"/>
          </p:nvPr>
        </p:nvSpPr>
        <p:spPr bwMode="auto"/>
      </p:sp>
      <p:sp>
        <p:nvSpPr>
          <p:cNvPr id="1349104929" name="Notes Placeholder 2"/>
          <p:cNvSpPr>
            <a:spLocks noGrp="1"/>
          </p:cNvSpPr>
          <p:nvPr>
            <p:ph type="body" idx="1"/>
          </p:nvPr>
        </p:nvSpPr>
        <p:spPr bwMode="auto"/>
        <p:txBody>
          <a:bodyPr/>
          <a:lstStyle/>
          <a:p>
            <a:pPr>
              <a:defRPr/>
            </a:pPr>
            <a:r>
              <a:rPr lang="en-US"/>
              <a:t>Recorrer en dos tiempos: primero descubrir; luego ejecutar. La aplicación host integra al modelo y al cliente MCP. El cliente obtiene el catálogo y el host lo entrega al modelo según su política. El modelo propone nombre y argumentos; el host autoriza y el cliente envía la llamada. El servidor ejecuta la función en el backend y devuelve el resultado; el host lo incorpora al contexto para la respuesta al usuario. El modelo no se conecta directamente al servidor. El descubrimiento puede almacenarse en caché: no tiene que repetirse en cada turno. La inicialización y negociación dependen de la versión implementada; este diagrama omite esos detalles deliberadamente. Fuente: https://modelcontextprotocol.io/specification/2025-11-25/basic/transports ; https://modelcontextprotocol.io/specification/2025-11-25/server/tools</a:t>
            </a:r>
            <a:endParaRPr lang="en-US"/>
          </a:p>
        </p:txBody>
      </p:sp>
      <p:sp>
        <p:nvSpPr>
          <p:cNvPr id="827400839" name="Slide Number Placeholder 3"/>
          <p:cNvSpPr>
            <a:spLocks noGrp="1"/>
          </p:cNvSpPr>
          <p:nvPr>
            <p:ph type="sldNum" sz="quarter" idx="10"/>
          </p:nvPr>
        </p:nvSpPr>
        <p:spPr bwMode="auto"/>
        <p:txBody>
          <a:bodyPr/>
          <a:lstStyle/>
          <a:p>
            <a:pPr>
              <a:defRPr/>
            </a:pPr>
            <a:fld id="{0E7FC71E-7BD4-C13A-6460-8953D4FE3E26}" type="slidenum">
              <a:rPr lang="en-US"/>
              <a:t>5</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5116336" name="Slide Image Placeholder 1"/>
          <p:cNvSpPr>
            <a:spLocks noChangeAspect="1" noGrp="1" noRot="1"/>
          </p:cNvSpPr>
          <p:nvPr>
            <p:ph type="sldImg"/>
          </p:nvPr>
        </p:nvSpPr>
        <p:spPr bwMode="auto"/>
      </p:sp>
      <p:sp>
        <p:nvSpPr>
          <p:cNvPr id="1293678700" name="Notes Placeholder 2"/>
          <p:cNvSpPr>
            <a:spLocks noGrp="1"/>
          </p:cNvSpPr>
          <p:nvPr>
            <p:ph type="body" idx="1"/>
          </p:nvPr>
        </p:nvSpPr>
        <p:spPr bwMode="auto"/>
        <p:txBody>
          <a:bodyPr/>
          <a:lstStyle/>
          <a:p>
            <a:pPr>
              <a:defRPr/>
            </a:pPr>
            <a:r>
              <a:rPr lang="en-US"/>
              <a:t>Recorrer en dos tiempos: primero descubrir; luego ejecutar. La aplicación host integra al modelo y al cliente MCP. El cliente obtiene el catálogo y el host lo entrega al modelo según su política. El modelo propone nombre y argumentos; el host autoriza y el cliente envía la llamada. El servidor ejecuta la función en el backend y devuelve el resultado; el host lo incorpora al contexto para la respuesta al usuario. El modelo no se conecta directamente al servidor. El descubrimiento puede almacenarse en caché: no tiene que repetirse en cada turno. La inicialización y negociación dependen de la versión implementada; este diagrama omite esos detalles deliberadamente. Fuente: https://modelcontextprotocol.io/specification/2025-11-25/basic/transports ; https://modelcontextprotocol.io/specification/2025-11-25/server/tools</a:t>
            </a:r>
            <a:endParaRPr lang="en-US"/>
          </a:p>
        </p:txBody>
      </p:sp>
      <p:sp>
        <p:nvSpPr>
          <p:cNvPr id="413059458" name="Slide Number Placeholder 3"/>
          <p:cNvSpPr>
            <a:spLocks noGrp="1"/>
          </p:cNvSpPr>
          <p:nvPr>
            <p:ph type="sldNum" sz="quarter" idx="10"/>
          </p:nvPr>
        </p:nvSpPr>
        <p:spPr bwMode="auto"/>
        <p:txBody>
          <a:bodyPr/>
          <a:lstStyle/>
          <a:p>
            <a:pPr>
              <a:defRPr/>
            </a:pPr>
            <a:fld id="{3F124EB2-AF94-5E6A-0C33-28EF6FABD752}" type="slidenum">
              <a:rPr lang="en-US"/>
              <a:t>5</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2121235" name="Slide Image Placeholder 1"/>
          <p:cNvSpPr>
            <a:spLocks noChangeAspect="1" noGrp="1" noRot="1"/>
          </p:cNvSpPr>
          <p:nvPr>
            <p:ph type="sldImg"/>
          </p:nvPr>
        </p:nvSpPr>
        <p:spPr bwMode="auto"/>
      </p:sp>
      <p:sp>
        <p:nvSpPr>
          <p:cNvPr id="2104045120" name="Notes Placeholder 2"/>
          <p:cNvSpPr>
            <a:spLocks noGrp="1"/>
          </p:cNvSpPr>
          <p:nvPr>
            <p:ph type="body" idx="1"/>
          </p:nvPr>
        </p:nvSpPr>
        <p:spPr bwMode="auto"/>
        <p:txBody>
          <a:bodyPr/>
          <a:lstStyle/>
          <a:p>
            <a:pPr>
              <a:defRPr/>
            </a:pPr>
            <a:r>
              <a:rPr lang="en-US"/>
              <a:t>Recorrer en dos tiempos: primero descubrir; luego ejecutar. La aplicación host integra al modelo y al cliente MCP. El cliente obtiene el catálogo y el host lo entrega al modelo según su política. El modelo propone nombre y argumentos; el host autoriza y el cliente envía la llamada. El servidor ejecuta la función en el backend y devuelve el resultado; el host lo incorpora al contexto para la respuesta al usuario. El modelo no se conecta directamente al servidor. El descubrimiento puede almacenarse en caché: no tiene que repetirse en cada turno. La inicialización y negociación dependen de la versión implementada; este diagrama omite esos detalles deliberadamente. Fuente: https://modelcontextprotocol.io/specification/2025-11-25/basic/transports ; https://modelcontextprotocol.io/specification/2025-11-25/server/tools</a:t>
            </a:r>
            <a:endParaRPr lang="en-US"/>
          </a:p>
        </p:txBody>
      </p:sp>
      <p:sp>
        <p:nvSpPr>
          <p:cNvPr id="877880095" name="Slide Number Placeholder 3"/>
          <p:cNvSpPr>
            <a:spLocks noGrp="1"/>
          </p:cNvSpPr>
          <p:nvPr>
            <p:ph type="sldNum" sz="quarter" idx="10"/>
          </p:nvPr>
        </p:nvSpPr>
        <p:spPr bwMode="auto"/>
        <p:txBody>
          <a:bodyPr/>
          <a:lstStyle/>
          <a:p>
            <a:pPr>
              <a:defRPr/>
            </a:pPr>
            <a:fld id="{AC380F77-D87B-436E-DD59-374CFA1C8AA9}" type="slidenum">
              <a:rPr lang="en-US"/>
              <a:t>5</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2014528" name="Slide Image Placeholder 1"/>
          <p:cNvSpPr>
            <a:spLocks noChangeAspect="1" noGrp="1" noRot="1"/>
          </p:cNvSpPr>
          <p:nvPr>
            <p:ph type="sldImg"/>
          </p:nvPr>
        </p:nvSpPr>
        <p:spPr bwMode="auto"/>
      </p:sp>
      <p:sp>
        <p:nvSpPr>
          <p:cNvPr id="1239096149" name="Notes Placeholder 2"/>
          <p:cNvSpPr>
            <a:spLocks noGrp="1"/>
          </p:cNvSpPr>
          <p:nvPr>
            <p:ph type="body" idx="1"/>
          </p:nvPr>
        </p:nvSpPr>
        <p:spPr bwMode="auto"/>
        <p:txBody>
          <a:bodyPr/>
          <a:lstStyle/>
          <a:p>
            <a:pPr>
              <a:defRPr/>
            </a:pPr>
            <a:r>
              <a:rPr lang="en-US"/>
              <a:t>Remate sobre sistemas heredados. Pasar al ejemplo de Mesa de ayuda: ya funciona, ya tiene una API y podemos reutilizarlo.</a:t>
            </a:r>
            <a:endParaRPr lang="en-US"/>
          </a:p>
        </p:txBody>
      </p:sp>
      <p:sp>
        <p:nvSpPr>
          <p:cNvPr id="1525999619" name="Slide Number Placeholder 3"/>
          <p:cNvSpPr>
            <a:spLocks noGrp="1"/>
          </p:cNvSpPr>
          <p:nvPr>
            <p:ph type="sldNum" sz="quarter" idx="10"/>
          </p:nvPr>
        </p:nvSpPr>
        <p:spPr bwMode="auto"/>
        <p:txBody>
          <a:bodyPr/>
          <a:lstStyle/>
          <a:p>
            <a:pPr>
              <a:defRPr/>
            </a:pPr>
            <a:fld id="{F7021451-1387-4CA6-816F-3879F97B5CBC}" type="slidenum">
              <a:rPr lang="en-US"/>
              <a:t>20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5148601" name="Slide Image Placeholder 1"/>
          <p:cNvSpPr>
            <a:spLocks noChangeAspect="1" noGrp="1" noRot="1"/>
          </p:cNvSpPr>
          <p:nvPr>
            <p:ph type="sldImg"/>
          </p:nvPr>
        </p:nvSpPr>
        <p:spPr bwMode="auto"/>
      </p:sp>
      <p:sp>
        <p:nvSpPr>
          <p:cNvPr id="1728294961" name="Notes Placeholder 2"/>
          <p:cNvSpPr>
            <a:spLocks noGrp="1"/>
          </p:cNvSpPr>
          <p:nvPr>
            <p:ph type="body" idx="1"/>
          </p:nvPr>
        </p:nvSpPr>
        <p:spPr bwMode="auto"/>
        <p:txBody>
          <a:bodyPr/>
          <a:lstStyle/>
          <a:p>
            <a:pPr>
              <a:defRPr/>
            </a:pPr>
            <a:r>
              <a:rPr lang="en-US"/>
              <a:t>Sistema ficticio de Mesa de ayuda, funcionando desde 2017. Ya gestiona tickets, expedientes y reportes mediante una API. No necesita reinventarse para ofrecer capacidades a una aplicación de IA. Un servidor MCP puede exponer sólo operaciones seleccionadas, delegando reglas del negocio y permisos al sistema real. No recomendar exponer indiscriminadamente cada endpoint. El ejemplo empresarial es conceptual y no asegura que la demo local tenga todas esas operaciones.</a:t>
            </a:r>
            <a:endParaRPr lang="en-US"/>
          </a:p>
        </p:txBody>
      </p:sp>
      <p:sp>
        <p:nvSpPr>
          <p:cNvPr id="744609348" name="Slide Number Placeholder 3"/>
          <p:cNvSpPr>
            <a:spLocks noGrp="1"/>
          </p:cNvSpPr>
          <p:nvPr>
            <p:ph type="sldNum" sz="quarter" idx="10"/>
          </p:nvPr>
        </p:nvSpPr>
        <p:spPr bwMode="auto"/>
        <p:txBody>
          <a:bodyPr/>
          <a:lstStyle/>
          <a:p>
            <a:pPr>
              <a:defRPr/>
            </a:pPr>
            <a:fld id="{F7021451-1387-4CA6-816F-3879F97B5CBC}" type="slidenum">
              <a:rPr lang="en-US"/>
              <a:t>21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1147093" name="Slide Image Placeholder 1"/>
          <p:cNvSpPr>
            <a:spLocks noChangeAspect="1" noGrp="1" noRot="1"/>
          </p:cNvSpPr>
          <p:nvPr>
            <p:ph type="sldImg"/>
          </p:nvPr>
        </p:nvSpPr>
        <p:spPr bwMode="auto"/>
      </p:sp>
      <p:sp>
        <p:nvSpPr>
          <p:cNvPr id="355282605" name="Notes Placeholder 2"/>
          <p:cNvSpPr>
            <a:spLocks noGrp="1"/>
          </p:cNvSpPr>
          <p:nvPr>
            <p:ph type="body" idx="1"/>
          </p:nvPr>
        </p:nvSpPr>
        <p:spPr bwMode="auto"/>
        <p:txBody>
          <a:bodyPr/>
          <a:lstStyle/>
          <a:p>
            <a:pPr>
              <a:defRPr/>
            </a:pPr>
            <a:r>
              <a:rPr lang="en-US"/>
              <a:t>Después de explicar que MCP permite reutilizar sistemas, plantear la trampa: crear un chatbot por tarea o servicio. Ya pagamos y usamos ChatGPT o Claude; añadir otro chat para tickets, otro para ventas y otro para reportes nos obliga a cambiar de interfaz y volver a aprender. Remate: “otra contraseña que voy a olvidar”. MCP permite ofrecer las capacidades a clientes compatibles ya existentes. Transición hacia el ejemplo FastMCP: implementamos el conector de nuestro sistema, no necesariamente otro producto de chat. A veces sí hay una necesidad real de interfaz específica, pero no es un requisito de MCP.</a:t>
            </a:r>
            <a:endParaRPr lang="en-US"/>
          </a:p>
        </p:txBody>
      </p:sp>
      <p:sp>
        <p:nvSpPr>
          <p:cNvPr id="291107221"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9220693" name="Slide Image Placeholder 1"/>
          <p:cNvSpPr>
            <a:spLocks noChangeAspect="1" noGrp="1" noRot="1"/>
          </p:cNvSpPr>
          <p:nvPr>
            <p:ph type="sldImg"/>
          </p:nvPr>
        </p:nvSpPr>
        <p:spPr bwMode="auto"/>
      </p:sp>
      <p:sp>
        <p:nvSpPr>
          <p:cNvPr id="720229894" name="Notes Placeholder 2"/>
          <p:cNvSpPr>
            <a:spLocks noGrp="1"/>
          </p:cNvSpPr>
          <p:nvPr>
            <p:ph type="body" idx="1"/>
          </p:nvPr>
        </p:nvSpPr>
        <p:spPr bwMode="auto"/>
        <p:txBody>
          <a:bodyPr/>
          <a:lstStyle/>
          <a:p>
            <a:pPr>
              <a:defRPr/>
            </a:pPr>
            <a:r>
              <a:rPr lang="en-US"/>
              <a:t>Ahora cerrar la narrativa: muchos ya usamos y pagamos ChatGPT o Claude. Podemos conectar servidores MCP compatibles y trabajar con varios sistemas en la misma herramienta de IA, en vez de abrir un chat distinto por tarea. No prometer igualdad de soporte: configuración, transportes, disponibilidad y permisos dependen del producto, plan y organización. En desarrollo también existen clientes como Claude Code, Codex y OpenCode. El host administra las conexiones y el modelo propone invocaciones; los servidores exponen sólo capacidades autorizadas. Transición: vamos a conectar nuestra plataforma y contrastar el resultado en la web original. Fuentes: https://help.openai.com/en/articles/12584461-developer-mode-and-mcp-apps-in-chatgpt ; https://support.claude.com/en/articles/11175166-get-started-with-custom-connectors-using-remote-mcp</a:t>
            </a:r>
            <a:endParaRPr lang="en-US"/>
          </a:p>
        </p:txBody>
      </p:sp>
      <p:sp>
        <p:nvSpPr>
          <p:cNvPr id="1318522085"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8895013" name="Slide Image Placeholder 1"/>
          <p:cNvSpPr>
            <a:spLocks noChangeAspect="1" noGrp="1" noRot="1"/>
          </p:cNvSpPr>
          <p:nvPr>
            <p:ph type="sldImg"/>
          </p:nvPr>
        </p:nvSpPr>
        <p:spPr bwMode="auto"/>
      </p:sp>
      <p:sp>
        <p:nvSpPr>
          <p:cNvPr id="1189215784" name="Notes Placeholder 2"/>
          <p:cNvSpPr>
            <a:spLocks noGrp="1"/>
          </p:cNvSpPr>
          <p:nvPr>
            <p:ph type="body" idx="1"/>
          </p:nvPr>
        </p:nvSpPr>
        <p:spPr bwMode="auto"/>
        <p:txBody>
          <a:bodyPr/>
          <a:lstStyle/>
          <a:p>
            <a:pPr>
              <a:defRPr/>
            </a:pPr>
            <a:r>
              <a:rPr lang="en-US"/>
              <a:t>Pausa y sonrisa. Presentar la demo y recordar que existe un recorrido de respaldo mediante capturas o video.</a:t>
            </a:r>
            <a:endParaRPr lang="en-US"/>
          </a:p>
        </p:txBody>
      </p:sp>
      <p:sp>
        <p:nvSpPr>
          <p:cNvPr id="449076073" name="Slide Number Placeholder 3"/>
          <p:cNvSpPr>
            <a:spLocks noGrp="1"/>
          </p:cNvSpPr>
          <p:nvPr>
            <p:ph type="sldNum" sz="quarter" idx="10"/>
          </p:nvPr>
        </p:nvSpPr>
        <p:spPr bwMode="auto"/>
        <p:txBody>
          <a:bodyPr/>
          <a:lstStyle/>
          <a:p>
            <a:pPr>
              <a:defRPr/>
            </a:pPr>
            <a:fld id="{F7021451-1387-4CA6-816F-3879F97B5CBC}" type="slidenum">
              <a:rPr lang="en-US"/>
              <a:t>26</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2096846" name="Slide Image Placeholder 1"/>
          <p:cNvSpPr>
            <a:spLocks noChangeAspect="1" noGrp="1" noRot="1"/>
          </p:cNvSpPr>
          <p:nvPr>
            <p:ph type="sldImg"/>
          </p:nvPr>
        </p:nvSpPr>
        <p:spPr bwMode="auto"/>
      </p:sp>
      <p:sp>
        <p:nvSpPr>
          <p:cNvPr id="1580232357" name="Notes Placeholder 2"/>
          <p:cNvSpPr>
            <a:spLocks noGrp="1"/>
          </p:cNvSpPr>
          <p:nvPr>
            <p:ph type="body" idx="1"/>
          </p:nvPr>
        </p:nvSpPr>
        <p:spPr bwMode="auto"/>
        <p:txBody>
          <a:bodyPr/>
          <a:lstStyle/>
          <a:p>
            <a:pPr>
              <a:defRPr/>
            </a:pPr>
            <a:r>
              <a:rPr lang="en-US"/>
              <a:t>Tools: funciones invocables, por ejemplo crear_ticket. Resources: contenido identificable por URI que el cliente puede leer. Prompts: plantillas reutilizables que el usuario o cliente puede seleccionar. El soporte de cada primitiva depende del cliente. Un flujo típico negocia capacidades y versión, lista herramientas, y hace tools/call con nombre y argumentos. La herramienta se describe con nombre, descripción y JSON Schema; el resultado puede ser contenido o datos estructurados. resources/list y resources/read, prompts/list y prompts/get son operaciones diferentes. La selección de una tool la decide el sistema agente; MCP transporta la solicitud, no razona por él. Fuente: https://modelcontextprotocol.io/specification/2025-11-25/server/index</a:t>
            </a:r>
            <a:endParaRPr lang="en-US"/>
          </a:p>
        </p:txBody>
      </p:sp>
      <p:sp>
        <p:nvSpPr>
          <p:cNvPr id="1779281390" name="Slide Number Placeholder 3"/>
          <p:cNvSpPr>
            <a:spLocks noGrp="1"/>
          </p:cNvSpPr>
          <p:nvPr>
            <p:ph type="sldNum" sz="quarter" idx="10"/>
          </p:nvPr>
        </p:nvSpPr>
        <p:spPr bwMode="auto"/>
        <p:txBody>
          <a:bodyPr/>
          <a:lstStyle/>
          <a:p>
            <a:pPr>
              <a:defRPr/>
            </a:pPr>
            <a:fld id="{C27194EF-D5A8-0BF5-CBA8-0A5D1FB2F544}" type="slidenum">
              <a:rPr lang="en-US"/>
              <a:t>19</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7211179" name="Slide Image Placeholder 1"/>
          <p:cNvSpPr>
            <a:spLocks noChangeAspect="1" noGrp="1" noRot="1"/>
          </p:cNvSpPr>
          <p:nvPr>
            <p:ph type="sldImg"/>
          </p:nvPr>
        </p:nvSpPr>
        <p:spPr bwMode="auto"/>
      </p:sp>
      <p:sp>
        <p:nvSpPr>
          <p:cNvPr id="917171171" name="Notes Placeholder 2"/>
          <p:cNvSpPr>
            <a:spLocks noGrp="1"/>
          </p:cNvSpPr>
          <p:nvPr>
            <p:ph type="body" idx="1"/>
          </p:nvPr>
        </p:nvSpPr>
        <p:spPr bwMode="auto"/>
        <p:txBody>
          <a:bodyPr/>
          <a:lstStyle/>
          <a:p>
            <a:pPr>
              <a:defRPr/>
            </a:pPr>
            <a:r>
              <a:rPr lang="en-US"/>
              <a:t>Pasar de las demos oficiales de ChatGPT a conectar mi plataforma: FastAPI, FastMCP, Funnel y ChatGPT. Funnel da conectividad, no sustituye autenticación ni autorización. Verificar consultas en la web original.</a:t>
            </a:r>
            <a:endParaRPr lang="en-US"/>
          </a:p>
        </p:txBody>
      </p:sp>
      <p:sp>
        <p:nvSpPr>
          <p:cNvPr id="1037018619"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66094612" name="Slide Image Placeholder 1"/>
          <p:cNvSpPr>
            <a:spLocks noChangeAspect="1" noGrp="1" noRot="1"/>
          </p:cNvSpPr>
          <p:nvPr>
            <p:ph type="sldImg"/>
          </p:nvPr>
        </p:nvSpPr>
        <p:spPr bwMode="auto"/>
      </p:sp>
      <p:sp>
        <p:nvSpPr>
          <p:cNvPr id="333722913" name="Notes Placeholder 2"/>
          <p:cNvSpPr>
            <a:spLocks noGrp="1"/>
          </p:cNvSpPr>
          <p:nvPr>
            <p:ph type="body" idx="1"/>
          </p:nvPr>
        </p:nvSpPr>
        <p:spPr bwMode="auto"/>
        <p:txBody>
          <a:bodyPr/>
          <a:lstStyle/>
          <a:p>
            <a:pPr>
              <a:defRPr/>
            </a:pPr>
            <a:r>
              <a:rPr lang="en-US"/>
              <a:t>Introducir el montaje de la demo: FastAPI sirve la API y aplicación, FastMCP expone capacidades, Funnel ofrece una URL HTTPS pública, ChatGPT conecta cuando el plan y el espacio lo permiten. La solicitud viaja de derecha a izquierda y el resultado vuelve. Tailscale Funnel aporta conectividad, NO sustituye autenticación ni autorización. En el repositorio actual hay una demo de consultas y datos sintéticos; no hay evidencia de una tool de escritura. El recorrido de video pedido por Alejandro usa apps del catálogo, la plataforma como web/API REST, conexión a ChatGPT y consultas contrastadas en la web. Las escrituras quedan como ejemplo conceptual anterior. Chiste opcional: “Como todo sistema profesional de producción, está corriendo desde mi laptop”. Fuente: https://tailscale.com/docs/features/tailscale-funnel La ilustración 12 muestra a Alejandro preparando la demo. Sus rutas son ilustrativas; las operaciones reales se muestran en el video. Los personajes representan aplicaciones compatibles, cuyo soporte concreto varía.</a:t>
            </a:r>
            <a:endParaRPr lang="en-US"/>
          </a:p>
        </p:txBody>
      </p:sp>
      <p:sp>
        <p:nvSpPr>
          <p:cNvPr id="1821178234" name="Slide Number Placeholder 3"/>
          <p:cNvSpPr>
            <a:spLocks noGrp="1"/>
          </p:cNvSpPr>
          <p:nvPr>
            <p:ph type="sldNum" sz="quarter" idx="10"/>
          </p:nvPr>
        </p:nvSpPr>
        <p:spPr bwMode="auto"/>
        <p:txBody>
          <a:bodyPr/>
          <a:lstStyle/>
          <a:p>
            <a:pPr>
              <a:defRPr/>
            </a:pPr>
            <a:fld id="{F7021451-1387-4CA6-816F-3879F97B5CBC}" type="slidenum">
              <a:rPr lang="en-US"/>
              <a:t>27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9046264" name="Slide Image Placeholder 1"/>
          <p:cNvSpPr>
            <a:spLocks noChangeAspect="1" noGrp="1" noRot="1"/>
          </p:cNvSpPr>
          <p:nvPr>
            <p:ph type="sldImg"/>
          </p:nvPr>
        </p:nvSpPr>
        <p:spPr bwMode="auto"/>
      </p:sp>
      <p:sp>
        <p:nvSpPr>
          <p:cNvPr id="1457751418" name="Notes Placeholder 2"/>
          <p:cNvSpPr>
            <a:spLocks noGrp="1"/>
          </p:cNvSpPr>
          <p:nvPr>
            <p:ph type="body" idx="1"/>
          </p:nvPr>
        </p:nvSpPr>
        <p:spPr bwMode="auto"/>
        <p:txBody>
          <a:bodyPr/>
          <a:lstStyle/>
          <a:p>
            <a:pPr>
              <a:defRPr/>
            </a:pPr>
            <a:r>
              <a:rPr lang="en-US"/>
              <a:t>Ejemplo pequeño y sintácticamente válido, no servicio listo para producción. Requiere fastmcp y httpx y una API ficticia local en el puerto 8000 con GET /tickets. FastMCP deriva el esquema de tipos y la descripción del docstring, registra la tool y atiende el transporte HTTP. No es necesario escribir a mano todos los mensajes JSON-RPC. Faltan, de manera deliberada, propagación de identidad y autorización: deben conectarse a las reglas reales. No confundir tipado con autorización. No ejecutar este ejemplo esperando que el endpoint exista en la app actual. Fuente: https://gofastmcp.com/servers/tools y https://gofastmcp.com/deployment/http</a:t>
            </a:r>
            <a:endParaRPr lang="en-US"/>
          </a:p>
        </p:txBody>
      </p:sp>
      <p:sp>
        <p:nvSpPr>
          <p:cNvPr id="2063395466" name="Slide Number Placeholder 3"/>
          <p:cNvSpPr>
            <a:spLocks noGrp="1"/>
          </p:cNvSpPr>
          <p:nvPr>
            <p:ph type="sldNum" sz="quarter" idx="10"/>
          </p:nvPr>
        </p:nvSpPr>
        <p:spPr bwMode="auto"/>
        <p:txBody>
          <a:bodyPr/>
          <a:lstStyle/>
          <a:p>
            <a:pPr>
              <a:defRPr/>
            </a:pPr>
            <a:fld id="{F7021451-1387-4CA6-816F-3879F97B5CBC}" type="slidenum">
              <a:rPr lang="en-US"/>
              <a:t>23</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2960933" name="Slide Image Placeholder 1"/>
          <p:cNvSpPr>
            <a:spLocks noChangeAspect="1" noGrp="1" noRot="1"/>
          </p:cNvSpPr>
          <p:nvPr>
            <p:ph type="sldImg"/>
          </p:nvPr>
        </p:nvSpPr>
        <p:spPr bwMode="auto"/>
      </p:sp>
      <p:sp>
        <p:nvSpPr>
          <p:cNvPr id="1598894352" name="Notes Placeholder 2"/>
          <p:cNvSpPr>
            <a:spLocks noGrp="1"/>
          </p:cNvSpPr>
          <p:nvPr>
            <p:ph type="body" idx="1"/>
          </p:nvPr>
        </p:nvSpPr>
        <p:spPr bwMode="auto"/>
        <p:txBody>
          <a:bodyPr/>
          <a:lstStyle/>
          <a:p>
            <a:pPr>
              <a:defRPr/>
            </a:pPr>
            <a:r>
              <a:rPr lang="en-US"/>
              <a:t>Ejemplo pequeño y sintácticamente válido, no servicio listo para producción. Requiere fastmcp y httpx y una API ficticia local en el puerto 8000 con GET /tickets. FastMCP deriva el esquema de tipos y la descripción del docstring, registra la tool y atiende el transporte HTTP. No es necesario escribir a mano todos los mensajes JSON-RPC. Faltan, de manera deliberada, propagación de identidad y autorización: deben conectarse a las reglas reales. No confundir tipado con autorización. No ejecutar este ejemplo esperando que el endpoint exista en la app actual. Fuente: https://gofastmcp.com/servers/tools y https://gofastmcp.com/deployment/http</a:t>
            </a:r>
            <a:endParaRPr lang="en-US"/>
          </a:p>
        </p:txBody>
      </p:sp>
      <p:sp>
        <p:nvSpPr>
          <p:cNvPr id="746524290" name="Slide Number Placeholder 3"/>
          <p:cNvSpPr>
            <a:spLocks noGrp="1"/>
          </p:cNvSpPr>
          <p:nvPr>
            <p:ph type="sldNum" sz="quarter" idx="10"/>
          </p:nvPr>
        </p:nvSpPr>
        <p:spPr bwMode="auto"/>
        <p:txBody>
          <a:bodyPr/>
          <a:lstStyle/>
          <a:p>
            <a:pPr>
              <a:defRPr/>
            </a:pPr>
            <a:fld id="{716133EB-00F9-001A-21A7-5A0BC6BF641B}" type="slidenum">
              <a:rPr lang="en-US"/>
              <a:t>23</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4B8C240-0164-C7E7-A21E-9B478CDD491A}"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92541786" name="Slide Image Placeholder 1"/>
          <p:cNvSpPr>
            <a:spLocks noChangeAspect="1" noGrp="1" noRot="1"/>
          </p:cNvSpPr>
          <p:nvPr>
            <p:ph type="sldImg"/>
          </p:nvPr>
        </p:nvSpPr>
        <p:spPr bwMode="auto"/>
      </p:sp>
      <p:sp>
        <p:nvSpPr>
          <p:cNvPr id="360172120" name="Notes Placeholder 2"/>
          <p:cNvSpPr>
            <a:spLocks noGrp="1"/>
          </p:cNvSpPr>
          <p:nvPr>
            <p:ph type="body" idx="1"/>
          </p:nvPr>
        </p:nvSpPr>
        <p:spPr bwMode="auto"/>
        <p:txBody>
          <a:bodyPr/>
          <a:lstStyle/>
          <a:p>
            <a:pPr>
              <a:defRPr/>
            </a:pPr>
            <a:r>
              <a:rPr lang="en-US"/>
              <a:t>Tercer fragmento: conectar la plataforma a ChatGPT mediante la URL MCP remota y las opciones habilitadas para la cuenta. Mostrar que se descubren las herramientas; ocultar credenciales y no hacer depender la explicación de nombres de botones que puedan cambiar. Cuarto fragmento: hacer una consulta desde ChatGPT y volver a la web, ejecutando la misma consulta y verificando filtros, periodo y resultados. Recorrido de consultas solicitado por Alejandro, sin afirmar una escritura que la aplicación no ofrece. Espacios editables para capturas del video.</a:t>
            </a:r>
            <a:endParaRPr lang="en-US"/>
          </a:p>
        </p:txBody>
      </p:sp>
      <p:sp>
        <p:nvSpPr>
          <p:cNvPr id="1120484037" name="Slide Number Placeholder 3"/>
          <p:cNvSpPr>
            <a:spLocks noGrp="1"/>
          </p:cNvSpPr>
          <p:nvPr>
            <p:ph type="sldNum" sz="quarter" idx="10"/>
          </p:nvPr>
        </p:nvSpPr>
        <p:spPr bwMode="auto"/>
        <p:txBody>
          <a:bodyPr/>
          <a:lstStyle/>
          <a:p>
            <a:pPr>
              <a:defRPr/>
            </a:pPr>
            <a:fld id="{F7021451-1387-4CA6-816F-3879F97B5CBC}" type="slidenum">
              <a:rPr lang="en-US"/>
              <a:t>29</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0169425" name="Slide Image Placeholder 1"/>
          <p:cNvSpPr>
            <a:spLocks noChangeAspect="1" noGrp="1" noRot="1"/>
          </p:cNvSpPr>
          <p:nvPr>
            <p:ph type="sldImg"/>
          </p:nvPr>
        </p:nvSpPr>
        <p:spPr bwMode="auto"/>
      </p:sp>
      <p:sp>
        <p:nvSpPr>
          <p:cNvPr id="1229816872" name="Notes Placeholder 2"/>
          <p:cNvSpPr>
            <a:spLocks noGrp="1"/>
          </p:cNvSpPr>
          <p:nvPr>
            <p:ph type="body" idx="1"/>
          </p:nvPr>
        </p:nvSpPr>
        <p:spPr bwMode="auto"/>
        <p:txBody>
          <a:bodyPr/>
          <a:lstStyle/>
          <a:p>
            <a:pPr>
              <a:defRPr/>
            </a:pPr>
            <a:r>
              <a:rPr lang="en-US"/>
              <a:t>Recuperar el personaje del primer acto. Conectar el chiste con identidad, permisos, confirmación y auditoría.</a:t>
            </a:r>
            <a:endParaRPr lang="en-US"/>
          </a:p>
        </p:txBody>
      </p:sp>
      <p:sp>
        <p:nvSpPr>
          <p:cNvPr id="1568936937" name="Slide Number Placeholder 3"/>
          <p:cNvSpPr>
            <a:spLocks noGrp="1"/>
          </p:cNvSpPr>
          <p:nvPr>
            <p:ph type="sldNum" sz="quarter" idx="10"/>
          </p:nvPr>
        </p:nvSpPr>
        <p:spPr bwMode="auto"/>
        <p:txBody>
          <a:bodyPr/>
          <a:lstStyle/>
          <a:p>
            <a:pPr>
              <a:defRPr/>
            </a:pPr>
            <a:fld id="{F7021451-1387-4CA6-816F-3879F97B5CBC}" type="slidenum">
              <a:rPr lang="en-US"/>
              <a:t>31</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6485261" name="Slide Image Placeholder 1"/>
          <p:cNvSpPr>
            <a:spLocks noChangeAspect="1" noGrp="1" noRot="1"/>
          </p:cNvSpPr>
          <p:nvPr>
            <p:ph type="sldImg"/>
          </p:nvPr>
        </p:nvSpPr>
        <p:spPr bwMode="auto"/>
      </p:sp>
      <p:sp>
        <p:nvSpPr>
          <p:cNvPr id="799971615" name="Notes Placeholder 2"/>
          <p:cNvSpPr>
            <a:spLocks noGrp="1"/>
          </p:cNvSpPr>
          <p:nvPr>
            <p:ph type="body" idx="1"/>
          </p:nvPr>
        </p:nvSpPr>
        <p:spPr bwMode="auto"/>
        <p:txBody>
          <a:bodyPr/>
          <a:lstStyle/>
          <a:p>
            <a:pPr>
              <a:defRPr/>
            </a:pPr>
            <a:r>
              <a:rPr lang="en-US"/>
              <a:t>Leer el remate y hacer una pausa. “Si tu agente toma malas decisiones, MCP ahora puede permitirle tomar malas decisiones en más sistemas”. Después aterrizar cuatro controles: autenticación verifica identidad; autorización verifica la operación y el recurso permitidos; confirmación explícita antes de efectos importantes; auditoría registra quién pidió qué, qué tool se ejecutó y el resultado. Aplicar mínimo privilegio y validación en el servidor, no confiar sólo en el prompt. Contenido externo puede contener prompt injection; tratarlo como datos no confiables. HTTPS/Funnel no reemplazan estos controles. Los errores y duplicados también requieren gestión, especialmente al reintentar escrituras.</a:t>
            </a:r>
            <a:endParaRPr lang="en-US"/>
          </a:p>
        </p:txBody>
      </p:sp>
      <p:sp>
        <p:nvSpPr>
          <p:cNvPr id="129658324" name="Slide Number Placeholder 3"/>
          <p:cNvSpPr>
            <a:spLocks noGrp="1"/>
          </p:cNvSpPr>
          <p:nvPr>
            <p:ph type="sldNum" sz="quarter" idx="10"/>
          </p:nvPr>
        </p:nvSpPr>
        <p:spPr bwMode="auto"/>
        <p:txBody>
          <a:bodyPr/>
          <a:lstStyle/>
          <a:p>
            <a:pPr>
              <a:defRPr/>
            </a:pPr>
            <a:fld id="{F7021451-1387-4CA6-816F-3879F97B5CBC}" type="slidenum">
              <a:rPr lang="en-US"/>
              <a:t>32</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9745504" name="Slide Image Placeholder 1"/>
          <p:cNvSpPr>
            <a:spLocks noChangeAspect="1" noGrp="1" noRot="1"/>
          </p:cNvSpPr>
          <p:nvPr>
            <p:ph type="sldImg"/>
          </p:nvPr>
        </p:nvSpPr>
        <p:spPr bwMode="auto"/>
      </p:sp>
      <p:sp>
        <p:nvSpPr>
          <p:cNvPr id="425703224" name="Notes Placeholder 2"/>
          <p:cNvSpPr>
            <a:spLocks noGrp="1"/>
          </p:cNvSpPr>
          <p:nvPr>
            <p:ph type="body" idx="1"/>
          </p:nvPr>
        </p:nvSpPr>
        <p:spPr bwMode="auto"/>
        <p:txBody>
          <a:bodyPr/>
          <a:lstStyle/>
          <a:p>
            <a:pPr>
              <a:defRPr/>
            </a:pPr>
            <a:r>
              <a:rPr lang="en-US"/>
              <a:t>Recuperar oralmente la progresión: LLM responde, RAG aporta contexto, agentes coordinan acciones y MCP estandariza conexiones. Son capacidades combinables, no etapas excluyentes ni una cronología universal. Cierre oral: “MCP no apareció porque antes fuera imposible conectar agentes con herramientas; apareció porque estábamos cansados de construir el mismo puente una y otra vez”. Pausa. Volver a pedir manos: “¿Y ahora quién sabe qué es MCP?”. Dejar la ilustración en pantalla durante preguntas.</a:t>
            </a:r>
            <a:endParaRPr lang="en-US"/>
          </a:p>
        </p:txBody>
      </p:sp>
      <p:sp>
        <p:nvSpPr>
          <p:cNvPr id="1788765865" name="Slide Number Placeholder 3"/>
          <p:cNvSpPr>
            <a:spLocks noGrp="1"/>
          </p:cNvSpPr>
          <p:nvPr>
            <p:ph type="sldNum" sz="quarter" idx="10"/>
          </p:nvPr>
        </p:nvSpPr>
        <p:spPr bwMode="auto"/>
        <p:txBody>
          <a:bodyPr/>
          <a:lstStyle/>
          <a:p>
            <a:pPr>
              <a:defRPr/>
            </a:pPr>
            <a:fld id="{F7021451-1387-4CA6-816F-3879F97B5CBC}" type="slidenum">
              <a:rPr lang="en-US"/>
              <a:t>34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1678420" name="Slide Image Placeholder 1"/>
          <p:cNvSpPr>
            <a:spLocks noChangeAspect="1" noGrp="1" noRot="1"/>
          </p:cNvSpPr>
          <p:nvPr>
            <p:ph type="sldImg"/>
          </p:nvPr>
        </p:nvSpPr>
        <p:spPr bwMode="auto"/>
      </p:sp>
      <p:sp>
        <p:nvSpPr>
          <p:cNvPr id="793115969" name="Notes Placeholder 2"/>
          <p:cNvSpPr>
            <a:spLocks noGrp="1"/>
          </p:cNvSpPr>
          <p:nvPr>
            <p:ph type="body" idx="1"/>
          </p:nvPr>
        </p:nvSpPr>
        <p:spPr bwMode="auto"/>
        <p:txBody>
          <a:bodyPr/>
          <a:lstStyle/>
          <a:p>
            <a:pPr>
              <a:defRPr/>
            </a:pPr>
            <a:r>
              <a:rPr lang="en-US"/>
              <a:t>Espacios solicitados por Alejandro para incorporar QR reales. Reemplazar los cuadros con los códigos de sus redes y del repositorio, y editar las etiquetas. No se generaron códigos ficticios ni se inventaron enlaces. Probar cada QR desde el tamaño de proyección antes de presentar. Dejar unos segundos para escanear y pasar al cierre.</a:t>
            </a:r>
            <a:endParaRPr lang="en-US"/>
          </a:p>
        </p:txBody>
      </p:sp>
      <p:sp>
        <p:nvSpPr>
          <p:cNvPr id="289862524" name="Slide Number Placeholder 3"/>
          <p:cNvSpPr>
            <a:spLocks noGrp="1"/>
          </p:cNvSpPr>
          <p:nvPr>
            <p:ph type="sldNum" sz="quarter" idx="10"/>
          </p:nvPr>
        </p:nvSpPr>
        <p:spPr bwMode="auto"/>
        <p:txBody>
          <a:bodyPr/>
          <a:lstStyle/>
          <a:p>
            <a:pPr>
              <a:defRPr/>
            </a:pPr>
            <a:fld id="{F7021451-1387-4CA6-816F-3879F97B5CBC}" type="slidenum">
              <a:rPr lang="en-US"/>
              <a:t>33</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8247849" name="Slide Image Placeholder 1"/>
          <p:cNvSpPr>
            <a:spLocks noChangeAspect="1" noGrp="1" noRot="1"/>
          </p:cNvSpPr>
          <p:nvPr>
            <p:ph type="sldImg"/>
          </p:nvPr>
        </p:nvSpPr>
        <p:spPr bwMode="auto"/>
      </p:sp>
      <p:sp>
        <p:nvSpPr>
          <p:cNvPr id="1266236701" name="Notes Placeholder 2"/>
          <p:cNvSpPr>
            <a:spLocks noGrp="1"/>
          </p:cNvSpPr>
          <p:nvPr>
            <p:ph type="body" idx="1"/>
          </p:nvPr>
        </p:nvSpPr>
        <p:spPr bwMode="auto"/>
        <p:txBody>
          <a:bodyPr/>
          <a:lstStyle/>
          <a:p>
            <a:pPr>
              <a:defRPr/>
            </a:pPr>
            <a:endParaRPr/>
          </a:p>
        </p:txBody>
      </p:sp>
      <p:sp>
        <p:nvSpPr>
          <p:cNvPr id="127870625" name="Slide Number Placeholder 3"/>
          <p:cNvSpPr>
            <a:spLocks noGrp="1"/>
          </p:cNvSpPr>
          <p:nvPr>
            <p:ph type="sldNum" sz="quarter" idx="10"/>
          </p:nvPr>
        </p:nvSpPr>
        <p:spPr bwMode="auto"/>
        <p:txBody>
          <a:bodyPr/>
          <a:lstStyle/>
          <a:p>
            <a:pPr>
              <a:defRPr/>
            </a:pPr>
            <a:fld id="{90C3ACBC-56C0-FD51-9886-EF34B13810B3}"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3776183" name="Slide Image Placeholder 1"/>
          <p:cNvSpPr>
            <a:spLocks noChangeAspect="1" noGrp="1" noRot="1"/>
          </p:cNvSpPr>
          <p:nvPr>
            <p:ph type="sldImg"/>
          </p:nvPr>
        </p:nvSpPr>
        <p:spPr bwMode="auto"/>
      </p:sp>
      <p:sp>
        <p:nvSpPr>
          <p:cNvPr id="1993537989" name="Notes Placeholder 2"/>
          <p:cNvSpPr>
            <a:spLocks noGrp="1"/>
          </p:cNvSpPr>
          <p:nvPr>
            <p:ph type="body" idx="1"/>
          </p:nvPr>
        </p:nvSpPr>
        <p:spPr bwMode="auto"/>
        <p:txBody>
          <a:bodyPr/>
          <a:lstStyle/>
          <a:p>
            <a:pPr>
              <a:defRPr/>
            </a:pPr>
            <a:r>
              <a:rPr lang="en-US"/>
              <a:t>Recuperar oralmente la progresión: LLM responde, RAG aporta contexto, agentes coordinan acciones y MCP estandariza conexiones. Son capacidades combinables, no etapas excluyentes ni una cronología universal. Cierre oral: “MCP no apareció porque antes fuera imposible conectar agentes con herramientas; apareció porque estábamos cansados de construir el mismo puente una y otra vez”. Pausa. Volver a pedir manos: “¿Y ahora quién sabe qué es MCP?”. Dejar la ilustración en pantalla durante preguntas.</a:t>
            </a:r>
            <a:endParaRPr lang="en-US"/>
          </a:p>
        </p:txBody>
      </p:sp>
      <p:sp>
        <p:nvSpPr>
          <p:cNvPr id="1914316343" name="Slide Number Placeholder 3"/>
          <p:cNvSpPr>
            <a:spLocks noGrp="1"/>
          </p:cNvSpPr>
          <p:nvPr>
            <p:ph type="sldNum" sz="quarter" idx="10"/>
          </p:nvPr>
        </p:nvSpPr>
        <p:spPr bwMode="auto"/>
        <p:txBody>
          <a:bodyPr/>
          <a:lstStyle/>
          <a:p>
            <a:pPr>
              <a:defRPr/>
            </a:pPr>
            <a:fld id="{0E64EF90-BEC6-F074-18D3-81B067EC7655}" type="slidenum">
              <a:rPr lang="en-US"/>
              <a:t>34</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21.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7.png"/><Relationship Id="rId4" Type="http://schemas.microsoft.com/office/2007/relationships/media" Target="../media/media1.mp4"/><Relationship Id="rId5" Type="http://schemas.openxmlformats.org/officeDocument/2006/relationships/video" Target="../media/media1.mp4" /></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9.pn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0.pn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1.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2.png"/><Relationship Id="rId4" Type="http://schemas.microsoft.com/office/2007/relationships/media" Target="../media/media2.mp4"/><Relationship Id="rId5" Type="http://schemas.openxmlformats.org/officeDocument/2006/relationships/video" Target="../media/media2.mp4" /></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3.pn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4.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8.png"/><Relationship Id="rId4" Type="http://schemas.openxmlformats.org/officeDocument/2006/relationships/image" Target="../media/image39.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291244"/>
        </a:solidFill>
      </p:bgPr>
    </p:bg>
    <p:spTree>
      <p:nvGrpSpPr>
        <p:cNvPr id="1" name=""/>
        <p:cNvGrpSpPr/>
        <p:nvPr/>
      </p:nvGrpSpPr>
      <p:grpSpPr bwMode="auto">
        <a:xfrm>
          <a:off x="0" y="0"/>
          <a:ext cx="0" cy="0"/>
          <a:chOff x="0" y="0"/>
          <a:chExt cx="0" cy="0"/>
        </a:xfrm>
      </p:grpSpPr>
      <p:sp>
        <p:nvSpPr>
          <p:cNvPr id="2008441676" name="Text 0"/>
          <p:cNvSpPr txBox="1"/>
          <p:nvPr/>
        </p:nvSpPr>
        <p:spPr bwMode="auto">
          <a:xfrm>
            <a:off x="594360" y="685800"/>
            <a:ext cx="6675120" cy="1645920"/>
          </a:xfrm>
          <a:prstGeom prst="rect">
            <a:avLst/>
          </a:prstGeom>
          <a:noFill/>
          <a:ln/>
        </p:spPr>
        <p:txBody>
          <a:bodyPr wrap="square" lIns="0" tIns="0" rIns="0" bIns="0" rtlCol="0" anchor="ctr"/>
          <a:lstStyle/>
          <a:p>
            <a:pPr marL="0" indent="0">
              <a:buNone/>
              <a:defRPr/>
            </a:pPr>
            <a:r>
              <a:rPr lang="en-US" sz="11600" b="1">
                <a:solidFill>
                  <a:srgbClr val="D5F46A"/>
                </a:solidFill>
                <a:latin typeface="Arial"/>
                <a:ea typeface="Arial"/>
                <a:cs typeface="Arial"/>
              </a:rPr>
              <a:t>MCP</a:t>
            </a:r>
            <a:endParaRPr lang="en-US" sz="11600"/>
          </a:p>
        </p:txBody>
      </p:sp>
      <p:sp>
        <p:nvSpPr>
          <p:cNvPr id="603832343" name="Text 1"/>
          <p:cNvSpPr txBox="1"/>
          <p:nvPr/>
        </p:nvSpPr>
        <p:spPr bwMode="auto">
          <a:xfrm>
            <a:off x="658368" y="2423160"/>
            <a:ext cx="7315200" cy="1417320"/>
          </a:xfrm>
          <a:prstGeom prst="rect">
            <a:avLst/>
          </a:prstGeom>
          <a:noFill/>
          <a:ln/>
        </p:spPr>
        <p:txBody>
          <a:bodyPr wrap="square" lIns="0" tIns="0" rIns="0" bIns="0" rtlCol="0" anchor="ctr"/>
          <a:lstStyle/>
          <a:p>
            <a:pPr marL="0" indent="0">
              <a:buNone/>
              <a:defRPr/>
            </a:pPr>
            <a:r>
              <a:rPr lang="en-US" sz="4300" b="1">
                <a:solidFill>
                  <a:srgbClr val="FFFFFF"/>
                </a:solidFill>
                <a:latin typeface="Arial"/>
                <a:ea typeface="Arial"/>
                <a:cs typeface="Arial"/>
              </a:rPr>
              <a:t>Del cuarto cerrado</a:t>
            </a:r>
            <a:endParaRPr lang="en-US" sz="4300"/>
          </a:p>
          <a:p>
            <a:pPr marL="0" indent="0">
              <a:buNone/>
              <a:defRPr/>
            </a:pPr>
            <a:r>
              <a:rPr lang="en-US" sz="4300" b="1">
                <a:solidFill>
                  <a:srgbClr val="FFFFFF"/>
                </a:solidFill>
                <a:latin typeface="Arial"/>
                <a:ea typeface="Arial"/>
                <a:cs typeface="Arial"/>
              </a:rPr>
              <a:t>al mundo real</a:t>
            </a:r>
            <a:endParaRPr lang="en-US" sz="4300"/>
          </a:p>
        </p:txBody>
      </p:sp>
      <p:pic>
        <p:nvPicPr>
          <p:cNvPr id="1078386607" name="Image 0" descr="assets/1_alex_and_mexai.png"/>
          <p:cNvPicPr>
            <a:picLocks noChangeAspect="1"/>
          </p:cNvPicPr>
          <p:nvPr/>
        </p:nvPicPr>
        <p:blipFill rotWithShape="1">
          <a:blip r:embed="rId3"/>
          <a:stretch/>
        </p:blipFill>
        <p:spPr bwMode="auto">
          <a:xfrm flipH="0" flipV="0">
            <a:off x="5839850" y="457199"/>
            <a:ext cx="6233129" cy="6233129"/>
          </a:xfrm>
          <a:prstGeom prst="rect">
            <a:avLst/>
          </a:prstGeom>
        </p:spPr>
      </p:pic>
      <p:sp>
        <p:nvSpPr>
          <p:cNvPr id="851498318" name="Text 5"/>
          <p:cNvSpPr txBox="1"/>
          <p:nvPr/>
        </p:nvSpPr>
        <p:spPr bwMode="auto">
          <a:xfrm>
            <a:off x="594360" y="3840480"/>
            <a:ext cx="9875520" cy="320040"/>
          </a:xfrm>
          <a:prstGeom prst="rect">
            <a:avLst/>
          </a:prstGeom>
          <a:noFill/>
          <a:ln/>
        </p:spPr>
        <p:txBody>
          <a:bodyPr wrap="square" lIns="0" tIns="0" rIns="0" bIns="0" rtlCol="0" anchor="ctr"/>
          <a:lstStyle/>
          <a:p>
            <a:pPr marL="0" indent="0">
              <a:buNone/>
              <a:defRPr/>
            </a:pPr>
            <a:r>
              <a:rPr lang="en-US" sz="1500">
                <a:solidFill>
                  <a:srgbClr val="D5F46A"/>
                </a:solidFill>
                <a:latin typeface="Arial"/>
                <a:ea typeface="Arial"/>
                <a:cs typeface="Arial"/>
              </a:rPr>
              <a:t>MexAI   /   CIATEQ Zapopan   /   30 septiembre 2026</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291244"/>
        </a:solidFill>
      </p:bgPr>
    </p:bg>
    <p:spTree>
      <p:nvGrpSpPr>
        <p:cNvPr id="1" name=""/>
        <p:cNvGrpSpPr/>
        <p:nvPr/>
      </p:nvGrpSpPr>
      <p:grpSpPr bwMode="auto">
        <a:xfrm>
          <a:off x="0" y="0"/>
          <a:ext cx="0" cy="0"/>
          <a:chOff x="0" y="0"/>
          <a:chExt cx="0" cy="0"/>
        </a:xfrm>
      </p:grpSpPr>
      <p:sp>
        <p:nvSpPr>
          <p:cNvPr id="674267749" name="Text 0"/>
          <p:cNvSpPr txBox="1"/>
          <p:nvPr/>
        </p:nvSpPr>
        <p:spPr bwMode="auto">
          <a:xfrm>
            <a:off x="777240" y="640080"/>
            <a:ext cx="10607040" cy="502920"/>
          </a:xfrm>
          <a:prstGeom prst="rect">
            <a:avLst/>
          </a:prstGeom>
          <a:noFill/>
          <a:ln/>
        </p:spPr>
        <p:txBody>
          <a:bodyPr wrap="square" lIns="0" tIns="0" rIns="0" bIns="0" rtlCol="0" anchor="ctr"/>
          <a:lstStyle/>
          <a:p>
            <a:pPr marL="0" indent="0">
              <a:buNone/>
              <a:defRPr/>
            </a:pPr>
            <a:r>
              <a:rPr lang="es-ES" sz="2200" b="1">
                <a:solidFill>
                  <a:srgbClr val="D5F46A"/>
                </a:solidFill>
                <a:latin typeface="Arial"/>
                <a:ea typeface="Arial"/>
                <a:cs typeface="Arial"/>
              </a:rPr>
              <a:t>Sobre Mi</a:t>
            </a:r>
            <a:endParaRPr lang="en-US" sz="2200"/>
          </a:p>
        </p:txBody>
      </p:sp>
      <p:sp>
        <p:nvSpPr>
          <p:cNvPr id="1778240593" name="Text 1"/>
          <p:cNvSpPr txBox="1"/>
          <p:nvPr/>
        </p:nvSpPr>
        <p:spPr bwMode="auto">
          <a:xfrm>
            <a:off x="777240" y="1143000"/>
            <a:ext cx="10607040" cy="1188720"/>
          </a:xfrm>
          <a:prstGeom prst="rect">
            <a:avLst/>
          </a:prstGeom>
          <a:noFill/>
          <a:ln/>
        </p:spPr>
        <p:txBody>
          <a:bodyPr wrap="square" lIns="0" tIns="0" rIns="0" bIns="0" rtlCol="0" anchor="ctr"/>
          <a:lstStyle/>
          <a:p>
            <a:pPr marL="0" indent="0">
              <a:buNone/>
              <a:defRPr/>
            </a:pPr>
            <a:r>
              <a:rPr lang="en-US" sz="4000" b="1" i="0" u="none" strike="noStrike" cap="none" spc="0">
                <a:solidFill>
                  <a:srgbClr val="FFFFFF"/>
                </a:solidFill>
                <a:latin typeface="Arial"/>
                <a:ea typeface="Arial"/>
                <a:cs typeface="Arial"/>
              </a:rPr>
              <a:t>¡Qué onda! Soy Alex.</a:t>
            </a:r>
            <a:endParaRPr lang="en-US" sz="4000"/>
          </a:p>
        </p:txBody>
      </p:sp>
      <p:sp>
        <p:nvSpPr>
          <p:cNvPr id="611394698" name="Text 2"/>
          <p:cNvSpPr txBox="1"/>
          <p:nvPr/>
        </p:nvSpPr>
        <p:spPr bwMode="auto">
          <a:xfrm flipH="0" flipV="0">
            <a:off x="777240" y="2227168"/>
            <a:ext cx="5737612" cy="4412315"/>
          </a:xfrm>
          <a:prstGeom prst="rect">
            <a:avLst/>
          </a:prstGeom>
          <a:noFill/>
          <a:ln/>
        </p:spPr>
        <p:txBody>
          <a:bodyPr wrap="square" lIns="0" tIns="0" rIns="0" bIns="0" rtlCol="0" anchor="ctr"/>
          <a:lstStyle/>
          <a:p>
            <a:pPr>
              <a:defRPr/>
            </a:pPr>
            <a:r>
              <a:rPr lang="en-US" sz="2000" b="0" i="1" u="none" strike="noStrike" cap="none" spc="0">
                <a:solidFill>
                  <a:srgbClr val="FFFFFF"/>
                </a:solidFill>
                <a:latin typeface="Arial"/>
                <a:ea typeface="Arial"/>
                <a:cs typeface="Arial"/>
              </a:rPr>
              <a:t>Desarrollador de software que terminó metido hasta el cuello en la IA.</a:t>
            </a:r>
            <a:endParaRPr lang="en-US" sz="2000" b="0" i="0" u="none" strike="noStrike" cap="none" spc="0">
              <a:solidFill>
                <a:srgbClr val="FFFFFF"/>
              </a:solidFill>
              <a:latin typeface="Arial"/>
              <a:ea typeface="Arial"/>
              <a:cs typeface="Arial"/>
            </a:endParaRPr>
          </a:p>
          <a:p>
            <a:pPr>
              <a:defRPr/>
            </a:pPr>
            <a:endParaRPr lang="en-US" sz="2000" b="0" i="0" u="none" strike="noStrike" cap="none" spc="0">
              <a:solidFill>
                <a:srgbClr val="FFFFFF"/>
              </a:solidFill>
              <a:latin typeface="Arial"/>
              <a:cs typeface="Arial"/>
            </a:endParaRPr>
          </a:p>
          <a:p>
            <a:pPr>
              <a:defRPr/>
            </a:pPr>
            <a:r>
              <a:rPr lang="en-US" sz="2000" b="0" i="0" u="none" strike="noStrike" cap="none" spc="0">
                <a:solidFill>
                  <a:srgbClr val="FFFFFF"/>
                </a:solidFill>
                <a:latin typeface="Arial"/>
                <a:ea typeface="Arial"/>
                <a:cs typeface="Arial"/>
              </a:rPr>
              <a:t>Trabajo como </a:t>
            </a:r>
            <a:r>
              <a:rPr lang="en-US" sz="2000" b="1" i="0" u="none" strike="noStrike" cap="none" spc="0">
                <a:solidFill>
                  <a:srgbClr val="FFFFFF"/>
                </a:solidFill>
                <a:latin typeface="Arial"/>
                <a:ea typeface="Arial"/>
                <a:cs typeface="Arial"/>
              </a:rPr>
              <a:t>AI Engineer</a:t>
            </a:r>
            <a:r>
              <a:rPr lang="en-US" sz="2000" b="0" i="0" u="none" strike="noStrike" cap="none" spc="0">
                <a:solidFill>
                  <a:srgbClr val="FFFFFF"/>
                </a:solidFill>
                <a:latin typeface="Arial"/>
                <a:ea typeface="Arial"/>
                <a:cs typeface="Arial"/>
              </a:rPr>
              <a:t> en el </a:t>
            </a:r>
            <a:r>
              <a:rPr lang="en-US" sz="2000" b="1" i="0" u="none" strike="noStrike" cap="none" spc="0">
                <a:solidFill>
                  <a:srgbClr val="FFFFFF"/>
                </a:solidFill>
                <a:latin typeface="Arial"/>
                <a:ea typeface="Arial"/>
                <a:cs typeface="Arial"/>
              </a:rPr>
              <a:t>IIEG</a:t>
            </a:r>
            <a:r>
              <a:rPr lang="en-US" sz="2000" b="0" i="0" u="none" strike="noStrike" cap="none" spc="0">
                <a:solidFill>
                  <a:srgbClr val="FFFFFF"/>
                </a:solidFill>
                <a:latin typeface="Arial"/>
                <a:ea typeface="Arial"/>
                <a:cs typeface="Arial"/>
              </a:rPr>
              <a:t> y estudio una </a:t>
            </a:r>
            <a:r>
              <a:rPr lang="en-US" sz="2000" b="1" i="0" u="none" strike="noStrike" cap="none" spc="0">
                <a:solidFill>
                  <a:srgbClr val="FFFFFF"/>
                </a:solidFill>
                <a:latin typeface="Arial"/>
                <a:ea typeface="Arial"/>
                <a:cs typeface="Arial"/>
              </a:rPr>
              <a:t>maestría en Ingeniería y Ciencia de Datos</a:t>
            </a:r>
            <a:r>
              <a:rPr lang="en-US" sz="2000" b="0" i="0" u="none" strike="noStrike" cap="none" spc="0">
                <a:solidFill>
                  <a:srgbClr val="FFFFFF"/>
                </a:solidFill>
                <a:latin typeface="Arial"/>
                <a:ea typeface="Arial"/>
                <a:cs typeface="Arial"/>
              </a:rPr>
              <a:t>.</a:t>
            </a:r>
            <a:endParaRPr lang="en-US" sz="2000" b="0" i="0" u="none" strike="noStrike" cap="none" spc="0">
              <a:solidFill>
                <a:srgbClr val="FFFFFF"/>
              </a:solidFill>
              <a:latin typeface="Arial"/>
              <a:ea typeface="Arial"/>
              <a:cs typeface="Arial"/>
            </a:endParaRPr>
          </a:p>
          <a:p>
            <a:pPr>
              <a:defRPr/>
            </a:pPr>
            <a:endParaRPr lang="en-US" sz="2000" b="0" i="0" u="none" strike="noStrike" cap="none" spc="0">
              <a:solidFill>
                <a:srgbClr val="FFFFFF"/>
              </a:solidFill>
              <a:latin typeface="Arial"/>
              <a:cs typeface="Arial"/>
            </a:endParaRPr>
          </a:p>
          <a:p>
            <a:pPr>
              <a:defRPr/>
            </a:pPr>
            <a:r>
              <a:rPr lang="en-US" sz="2000" b="0" i="0" u="none" strike="noStrike" cap="none" spc="0">
                <a:solidFill>
                  <a:srgbClr val="FFFFFF"/>
                </a:solidFill>
                <a:latin typeface="Arial"/>
                <a:ea typeface="Arial"/>
                <a:cs typeface="Arial"/>
              </a:rPr>
              <a:t>Me gusta experimentar con modelos, desarrollar agentes y conectar sistemas que originalmente no estaban pensados para trabajar con IA.</a:t>
            </a:r>
            <a:endParaRPr lang="en-US" sz="2000" b="0" i="0" u="none" strike="noStrike" cap="none" spc="0">
              <a:solidFill>
                <a:srgbClr val="FFFFFF"/>
              </a:solidFill>
              <a:latin typeface="Arial"/>
              <a:ea typeface="Arial"/>
              <a:cs typeface="Arial"/>
            </a:endParaRPr>
          </a:p>
          <a:p>
            <a:pPr>
              <a:defRPr/>
            </a:pPr>
            <a:endParaRPr sz="2000" b="1" i="0" u="none" strike="noStrike" cap="none" spc="0">
              <a:solidFill>
                <a:srgbClr val="FFFFFF"/>
              </a:solidFill>
              <a:latin typeface="Arial"/>
              <a:cs typeface="Arial"/>
            </a:endParaRPr>
          </a:p>
          <a:p>
            <a:pPr marL="0" indent="0">
              <a:buNone/>
              <a:defRPr/>
            </a:pPr>
            <a:r>
              <a:rPr lang="en-US" sz="2000" b="1" i="0" u="none" strike="noStrike" cap="none" spc="0">
                <a:solidFill>
                  <a:srgbClr val="FFFFFF"/>
                </a:solidFill>
                <a:latin typeface="Arial"/>
                <a:ea typeface="Arial"/>
                <a:cs typeface="Arial"/>
              </a:rPr>
              <a:t>Mi especialidad</a:t>
            </a:r>
            <a:r>
              <a:rPr lang="es-ES" sz="2000" b="1" i="0" u="none" strike="noStrike" cap="none" spc="0">
                <a:solidFill>
                  <a:srgbClr val="FFFFFF"/>
                </a:solidFill>
                <a:latin typeface="Arial"/>
                <a:ea typeface="Arial"/>
                <a:cs typeface="Arial"/>
              </a:rPr>
              <a:t> es</a:t>
            </a:r>
            <a:r>
              <a:rPr lang="en-US" sz="2000" b="1" i="0" u="none" strike="noStrike" cap="none" spc="0">
                <a:solidFill>
                  <a:srgbClr val="FFFFFF"/>
                </a:solidFill>
                <a:latin typeface="Arial"/>
                <a:ea typeface="Arial"/>
                <a:cs typeface="Arial"/>
              </a:rPr>
              <a:t> tener más proyectos que tiempo libre.</a:t>
            </a:r>
            <a:endParaRPr sz="2000" b="0"/>
          </a:p>
        </p:txBody>
      </p:sp>
      <p:pic>
        <p:nvPicPr>
          <p:cNvPr id="863862814" name=""/>
          <p:cNvPicPr>
            <a:picLocks noChangeAspect="1"/>
          </p:cNvPicPr>
          <p:nvPr/>
        </p:nvPicPr>
        <p:blipFill rotWithShape="1">
          <a:blip r:embed="rId3"/>
          <a:srcRect l="0" t="13276" r="0" b="26265"/>
          <a:stretch/>
        </p:blipFill>
        <p:spPr bwMode="auto">
          <a:xfrm flipH="0" flipV="0">
            <a:off x="7383583" y="756396"/>
            <a:ext cx="4342004" cy="5785273"/>
          </a:xfrm>
          <a:prstGeom prst="ellipse">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50749814" name="Text 2"/>
          <p:cNvSpPr txBox="1"/>
          <p:nvPr/>
        </p:nvSpPr>
        <p:spPr bwMode="auto">
          <a:xfrm flipH="0" flipV="0">
            <a:off x="1826587" y="2463926"/>
            <a:ext cx="8538824" cy="1930145"/>
          </a:xfrm>
          <a:prstGeom prst="rect">
            <a:avLst/>
          </a:prstGeom>
          <a:noFill/>
          <a:ln/>
        </p:spPr>
        <p:txBody>
          <a:bodyPr wrap="square" lIns="0" tIns="0" rIns="0" bIns="0" rtlCol="0" anchor="ctr"/>
          <a:lstStyle/>
          <a:p>
            <a:pPr marL="0" indent="0" algn="ctr">
              <a:buNone/>
              <a:defRPr/>
            </a:pPr>
            <a:r>
              <a:rPr lang="en-US" sz="10000" b="1">
                <a:solidFill>
                  <a:schemeClr val="tx1"/>
                </a:solidFill>
                <a:latin typeface="Arial"/>
                <a:ea typeface="Arial"/>
                <a:cs typeface="Arial"/>
              </a:rPr>
              <a:t>¿Quién sabe qué es MCP?</a:t>
            </a:r>
            <a:endParaRPr sz="10000">
              <a:solidFill>
                <a:schemeClr val="tx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291244"/>
        </a:solidFill>
      </p:bgPr>
    </p:bg>
    <p:spTree>
      <p:nvGrpSpPr>
        <p:cNvPr id="1" name=""/>
        <p:cNvGrpSpPr/>
        <p:nvPr/>
      </p:nvGrpSpPr>
      <p:grpSpPr bwMode="auto">
        <a:xfrm>
          <a:off x="0" y="0"/>
          <a:ext cx="0" cy="0"/>
          <a:chOff x="0" y="0"/>
          <a:chExt cx="0" cy="0"/>
        </a:xfrm>
      </p:grpSpPr>
      <p:sp>
        <p:nvSpPr>
          <p:cNvPr id="74479083" name="Text 0"/>
          <p:cNvSpPr txBox="1"/>
          <p:nvPr/>
        </p:nvSpPr>
        <p:spPr bwMode="auto">
          <a:xfrm>
            <a:off x="777240" y="640080"/>
            <a:ext cx="10607040" cy="502920"/>
          </a:xfrm>
          <a:prstGeom prst="rect">
            <a:avLst/>
          </a:prstGeom>
          <a:noFill/>
          <a:ln/>
        </p:spPr>
        <p:txBody>
          <a:bodyPr wrap="square" lIns="0" tIns="0" rIns="0" bIns="0" rtlCol="0" anchor="ctr"/>
          <a:lstStyle/>
          <a:p>
            <a:pPr marL="0" indent="0">
              <a:buNone/>
              <a:defRPr/>
            </a:pPr>
            <a:r>
              <a:rPr lang="en-US" sz="2200" b="1">
                <a:solidFill>
                  <a:srgbClr val="D5F46A"/>
                </a:solidFill>
                <a:latin typeface="Arial"/>
                <a:ea typeface="Arial"/>
                <a:cs typeface="Arial"/>
              </a:rPr>
              <a:t>ACTO I</a:t>
            </a:r>
            <a:endParaRPr lang="en-US" sz="2200"/>
          </a:p>
        </p:txBody>
      </p:sp>
      <p:sp>
        <p:nvSpPr>
          <p:cNvPr id="808022618" name="Text 1"/>
          <p:cNvSpPr txBox="1"/>
          <p:nvPr/>
        </p:nvSpPr>
        <p:spPr bwMode="auto">
          <a:xfrm>
            <a:off x="777240" y="1554480"/>
            <a:ext cx="10607040" cy="1188720"/>
          </a:xfrm>
          <a:prstGeom prst="rect">
            <a:avLst/>
          </a:prstGeom>
          <a:noFill/>
          <a:ln/>
        </p:spPr>
        <p:txBody>
          <a:bodyPr wrap="square" lIns="0" tIns="0" rIns="0" bIns="0" rtlCol="0" anchor="ctr"/>
          <a:lstStyle/>
          <a:p>
            <a:pPr marL="0" indent="0">
              <a:buNone/>
              <a:defRPr/>
            </a:pPr>
            <a:r>
              <a:rPr lang="en-US" sz="4000" b="1">
                <a:solidFill>
                  <a:srgbClr val="FFFFFF"/>
                </a:solidFill>
                <a:latin typeface="Arial"/>
                <a:ea typeface="Arial"/>
                <a:cs typeface="Arial"/>
              </a:rPr>
              <a:t>Un cerebro encerrado</a:t>
            </a:r>
            <a:endParaRPr lang="en-US" sz="4000"/>
          </a:p>
        </p:txBody>
      </p:sp>
      <p:sp>
        <p:nvSpPr>
          <p:cNvPr id="1231135869" name="Text 2"/>
          <p:cNvSpPr txBox="1"/>
          <p:nvPr/>
        </p:nvSpPr>
        <p:spPr bwMode="auto">
          <a:xfrm>
            <a:off x="777240" y="3200400"/>
            <a:ext cx="10515600" cy="2103120"/>
          </a:xfrm>
          <a:prstGeom prst="rect">
            <a:avLst/>
          </a:prstGeom>
          <a:noFill/>
          <a:ln/>
        </p:spPr>
        <p:txBody>
          <a:bodyPr wrap="square" lIns="0" tIns="0" rIns="0" bIns="0" rtlCol="0" anchor="ctr"/>
          <a:lstStyle/>
          <a:p>
            <a:pPr marL="0" indent="0">
              <a:buNone/>
              <a:defRPr/>
            </a:pPr>
            <a:r>
              <a:rPr lang="en-US" sz="5100" b="1">
                <a:solidFill>
                  <a:srgbClr val="FFFFFF"/>
                </a:solidFill>
                <a:latin typeface="Arial"/>
                <a:ea typeface="Arial"/>
                <a:cs typeface="Arial"/>
              </a:rPr>
              <a:t>Leyó todo internet.</a:t>
            </a:r>
            <a:endParaRPr lang="en-US" sz="5100"/>
          </a:p>
          <a:p>
            <a:pPr marL="0" indent="0">
              <a:buNone/>
              <a:defRPr/>
            </a:pPr>
            <a:r>
              <a:rPr lang="en-US" sz="5100" b="1">
                <a:solidFill>
                  <a:srgbClr val="FFFFFF"/>
                </a:solidFill>
                <a:latin typeface="Arial"/>
                <a:ea typeface="Arial"/>
                <a:cs typeface="Arial"/>
              </a:rPr>
              <a:t>Le faltó salir del cuarto.</a:t>
            </a:r>
            <a:endParaRPr lang="en-US" sz="5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sp>
        <p:nvSpPr>
          <p:cNvPr id="392473667"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ACTO I   /   UN CEREBRO ENCERRADO</a:t>
            </a:r>
            <a:endParaRPr lang="en-US" sz="1400"/>
          </a:p>
        </p:txBody>
      </p:sp>
      <p:sp>
        <p:nvSpPr>
          <p:cNvPr id="665359567" name="Text 1"/>
          <p:cNvSpPr txBox="1"/>
          <p:nvPr/>
        </p:nvSpPr>
        <p:spPr bwMode="auto">
          <a:xfrm>
            <a:off x="594360" y="1920240"/>
            <a:ext cx="3474720" cy="2194560"/>
          </a:xfrm>
          <a:prstGeom prst="rect">
            <a:avLst/>
          </a:prstGeom>
          <a:noFill/>
          <a:ln/>
        </p:spPr>
        <p:txBody>
          <a:bodyPr wrap="square" lIns="0" tIns="0" rIns="0" bIns="0" rtlCol="0" anchor="ctr"/>
          <a:lstStyle/>
          <a:p>
            <a:pPr marL="0" indent="0">
              <a:buNone/>
              <a:defRPr/>
            </a:pPr>
            <a:r>
              <a:rPr lang="en-US" sz="3500" b="1">
                <a:solidFill>
                  <a:srgbClr val="241331"/>
                </a:solidFill>
                <a:latin typeface="Arial"/>
                <a:ea typeface="Arial"/>
                <a:cs typeface="Arial"/>
              </a:rPr>
              <a:t>Lo encerramos.</a:t>
            </a:r>
            <a:endParaRPr lang="en-US" sz="3500"/>
          </a:p>
          <a:p>
            <a:pPr marL="0" indent="0">
              <a:buNone/>
              <a:defRPr/>
            </a:pPr>
            <a:r>
              <a:rPr lang="en-US" sz="3500" b="1">
                <a:solidFill>
                  <a:srgbClr val="241331"/>
                </a:solidFill>
                <a:latin typeface="Arial"/>
                <a:ea typeface="Arial"/>
                <a:cs typeface="Arial"/>
              </a:rPr>
              <a:t>Que aprenda</a:t>
            </a:r>
            <a:endParaRPr lang="en-US" sz="3500"/>
          </a:p>
          <a:p>
            <a:pPr marL="0" indent="0">
              <a:buNone/>
              <a:defRPr/>
            </a:pPr>
            <a:r>
              <a:rPr lang="en-US" sz="3500" b="1">
                <a:solidFill>
                  <a:srgbClr val="241331"/>
                </a:solidFill>
                <a:latin typeface="Arial"/>
                <a:ea typeface="Arial"/>
                <a:cs typeface="Arial"/>
              </a:rPr>
              <a:t>todo lo que pueda.</a:t>
            </a:r>
            <a:endParaRPr lang="en-US" sz="3500"/>
          </a:p>
        </p:txBody>
      </p:sp>
      <p:sp>
        <p:nvSpPr>
          <p:cNvPr id="666604047" name="Text 2"/>
          <p:cNvSpPr txBox="1"/>
          <p:nvPr/>
        </p:nvSpPr>
        <p:spPr bwMode="auto">
          <a:xfrm>
            <a:off x="594360" y="4709160"/>
            <a:ext cx="3337560" cy="777240"/>
          </a:xfrm>
          <a:prstGeom prst="rect">
            <a:avLst/>
          </a:prstGeom>
          <a:noFill/>
          <a:ln/>
        </p:spPr>
        <p:txBody>
          <a:bodyPr wrap="square" lIns="0" tIns="0" rIns="0" bIns="0" rtlCol="0" anchor="ctr"/>
          <a:lstStyle/>
          <a:p>
            <a:pPr marL="0" indent="0">
              <a:buNone/>
              <a:defRPr/>
            </a:pPr>
            <a:r>
              <a:rPr lang="en-US" sz="2300">
                <a:solidFill>
                  <a:srgbClr val="6934C6"/>
                </a:solidFill>
                <a:latin typeface="Arial"/>
                <a:ea typeface="Arial"/>
                <a:cs typeface="Arial"/>
              </a:rPr>
              <a:t>Libros, foros, tutoriales…</a:t>
            </a:r>
            <a:endParaRPr lang="en-US" sz="2300"/>
          </a:p>
        </p:txBody>
      </p:sp>
      <p:sp>
        <p:nvSpPr>
          <p:cNvPr id="1170227518" name="Shape 3"/>
          <p:cNvSpPr/>
          <p:nvPr/>
        </p:nvSpPr>
        <p:spPr bwMode="auto">
          <a:xfrm>
            <a:off x="4206240" y="1600200"/>
            <a:ext cx="7223760" cy="4553712"/>
          </a:xfrm>
          <a:prstGeom prst="rect">
            <a:avLst/>
          </a:prstGeom>
          <a:solidFill>
            <a:srgbClr val="F4EFFF"/>
          </a:solidFill>
          <a:ln w="19050">
            <a:solidFill>
              <a:srgbClr val="6934C6"/>
            </a:solidFill>
            <a:prstDash val="solid"/>
          </a:ln>
        </p:spPr>
      </p:sp>
      <p:sp>
        <p:nvSpPr>
          <p:cNvPr id="1167548457" name="Shape 4"/>
          <p:cNvSpPr/>
          <p:nvPr/>
        </p:nvSpPr>
        <p:spPr bwMode="auto">
          <a:xfrm>
            <a:off x="4206240" y="5715000"/>
            <a:ext cx="7223760" cy="0"/>
          </a:xfrm>
          <a:prstGeom prst="line">
            <a:avLst/>
          </a:prstGeom>
          <a:noFill/>
          <a:ln w="25400">
            <a:solidFill>
              <a:srgbClr val="C5B4DC"/>
            </a:solidFill>
            <a:prstDash val="solid"/>
          </a:ln>
        </p:spPr>
      </p:sp>
      <p:sp>
        <p:nvSpPr>
          <p:cNvPr id="1112294447" name="Shape 5"/>
          <p:cNvSpPr/>
          <p:nvPr/>
        </p:nvSpPr>
        <p:spPr bwMode="auto">
          <a:xfrm>
            <a:off x="4206240" y="2240280"/>
            <a:ext cx="1051560" cy="3474720"/>
          </a:xfrm>
          <a:prstGeom prst="rect">
            <a:avLst/>
          </a:prstGeom>
          <a:solidFill>
            <a:srgbClr val="FFFFFF"/>
          </a:solidFill>
          <a:ln w="19050">
            <a:solidFill>
              <a:srgbClr val="6934C6"/>
            </a:solidFill>
            <a:prstDash val="solid"/>
          </a:ln>
        </p:spPr>
      </p:sp>
      <p:sp>
        <p:nvSpPr>
          <p:cNvPr id="106890884" name="Shape 6"/>
          <p:cNvSpPr/>
          <p:nvPr/>
        </p:nvSpPr>
        <p:spPr bwMode="auto">
          <a:xfrm>
            <a:off x="5001768" y="3858768"/>
            <a:ext cx="91440" cy="91440"/>
          </a:xfrm>
          <a:prstGeom prst="ellipse">
            <a:avLst/>
          </a:prstGeom>
          <a:solidFill>
            <a:srgbClr val="6934C6"/>
          </a:solidFill>
          <a:ln w="12700">
            <a:solidFill>
              <a:srgbClr val="6934C6"/>
            </a:solidFill>
            <a:prstDash val="solid"/>
          </a:ln>
        </p:spPr>
      </p:sp>
      <p:pic>
        <p:nvPicPr>
          <p:cNvPr id="2045199858" name="Image 0" descr="assets/3_alex_as_llm_learning.png"/>
          <p:cNvPicPr>
            <a:picLocks noChangeAspect="1"/>
          </p:cNvPicPr>
          <p:nvPr/>
        </p:nvPicPr>
        <p:blipFill rotWithShape="1">
          <a:blip r:embed="rId3"/>
          <a:stretch/>
        </p:blipFill>
        <p:spPr bwMode="auto">
          <a:xfrm>
            <a:off x="6355080" y="2240280"/>
            <a:ext cx="3611880" cy="361188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sp>
        <p:nvSpPr>
          <p:cNvPr id="379373673"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TOC, TOC… UNA PREGUNTA</a:t>
            </a:r>
            <a:endParaRPr lang="en-US" sz="1400"/>
          </a:p>
        </p:txBody>
      </p:sp>
      <p:sp>
        <p:nvSpPr>
          <p:cNvPr id="755121050" name="Shape 1"/>
          <p:cNvSpPr/>
          <p:nvPr/>
        </p:nvSpPr>
        <p:spPr bwMode="auto">
          <a:xfrm>
            <a:off x="4206240" y="1600200"/>
            <a:ext cx="7223760" cy="4553712"/>
          </a:xfrm>
          <a:prstGeom prst="rect">
            <a:avLst/>
          </a:prstGeom>
          <a:solidFill>
            <a:srgbClr val="F4EFFF"/>
          </a:solidFill>
          <a:ln w="19050">
            <a:solidFill>
              <a:srgbClr val="6934C6"/>
            </a:solidFill>
            <a:prstDash val="solid"/>
          </a:ln>
        </p:spPr>
      </p:sp>
      <p:sp>
        <p:nvSpPr>
          <p:cNvPr id="2135735938" name="Shape 2"/>
          <p:cNvSpPr/>
          <p:nvPr/>
        </p:nvSpPr>
        <p:spPr bwMode="auto">
          <a:xfrm>
            <a:off x="4206240" y="5715000"/>
            <a:ext cx="7223760" cy="0"/>
          </a:xfrm>
          <a:prstGeom prst="line">
            <a:avLst/>
          </a:prstGeom>
          <a:noFill/>
          <a:ln w="25400">
            <a:solidFill>
              <a:srgbClr val="C5B4DC"/>
            </a:solidFill>
            <a:prstDash val="solid"/>
          </a:ln>
        </p:spPr>
      </p:sp>
      <p:sp>
        <p:nvSpPr>
          <p:cNvPr id="62201383" name="Shape 3"/>
          <p:cNvSpPr/>
          <p:nvPr/>
        </p:nvSpPr>
        <p:spPr bwMode="auto">
          <a:xfrm>
            <a:off x="4206240" y="2240280"/>
            <a:ext cx="1051560" cy="3474720"/>
          </a:xfrm>
          <a:prstGeom prst="rect">
            <a:avLst/>
          </a:prstGeom>
          <a:solidFill>
            <a:srgbClr val="FFFFFF"/>
          </a:solidFill>
          <a:ln w="19050">
            <a:solidFill>
              <a:srgbClr val="6934C6"/>
            </a:solidFill>
            <a:prstDash val="solid"/>
          </a:ln>
        </p:spPr>
      </p:sp>
      <p:sp>
        <p:nvSpPr>
          <p:cNvPr id="532568506" name="Shape 4"/>
          <p:cNvSpPr/>
          <p:nvPr/>
        </p:nvSpPr>
        <p:spPr bwMode="auto">
          <a:xfrm>
            <a:off x="5001768" y="3858768"/>
            <a:ext cx="91440" cy="91440"/>
          </a:xfrm>
          <a:prstGeom prst="ellipse">
            <a:avLst/>
          </a:prstGeom>
          <a:solidFill>
            <a:srgbClr val="6934C6"/>
          </a:solidFill>
          <a:ln w="12700">
            <a:solidFill>
              <a:srgbClr val="6934C6"/>
            </a:solidFill>
            <a:prstDash val="solid"/>
          </a:ln>
        </p:spPr>
      </p:sp>
      <p:pic>
        <p:nvPicPr>
          <p:cNvPr id="97814664" name="Image 0" descr="assets/4_alex_as_llm_answers_by_memory.png"/>
          <p:cNvPicPr>
            <a:picLocks noChangeAspect="1"/>
          </p:cNvPicPr>
          <p:nvPr/>
        </p:nvPicPr>
        <p:blipFill rotWithShape="1">
          <a:blip r:embed="rId3"/>
          <a:stretch/>
        </p:blipFill>
        <p:spPr bwMode="auto">
          <a:xfrm>
            <a:off x="6766560" y="2953512"/>
            <a:ext cx="2788920" cy="2788920"/>
          </a:xfrm>
          <a:prstGeom prst="rect">
            <a:avLst/>
          </a:prstGeom>
        </p:spPr>
      </p:pic>
      <p:sp>
        <p:nvSpPr>
          <p:cNvPr id="407684583" name="Text 5"/>
          <p:cNvSpPr txBox="1"/>
          <p:nvPr/>
        </p:nvSpPr>
        <p:spPr bwMode="auto">
          <a:xfrm>
            <a:off x="594360" y="2148840"/>
            <a:ext cx="3429000" cy="2011680"/>
          </a:xfrm>
          <a:prstGeom prst="rect">
            <a:avLst/>
          </a:prstGeom>
          <a:noFill/>
          <a:ln/>
        </p:spPr>
        <p:txBody>
          <a:bodyPr wrap="square" lIns="0" tIns="0" rIns="0" bIns="0" rtlCol="0" anchor="ctr"/>
          <a:lstStyle/>
          <a:p>
            <a:pPr marL="0" indent="0">
              <a:buNone/>
              <a:defRPr/>
            </a:pPr>
            <a:r>
              <a:rPr lang="en-US" sz="3800" b="1">
                <a:solidFill>
                  <a:srgbClr val="241331"/>
                </a:solidFill>
                <a:latin typeface="Arial"/>
                <a:ea typeface="Arial"/>
                <a:cs typeface="Arial"/>
              </a:rPr>
              <a:t>Le preguntas.</a:t>
            </a:r>
            <a:endParaRPr lang="en-US" sz="3800"/>
          </a:p>
          <a:p>
            <a:pPr marL="0" indent="0">
              <a:buNone/>
              <a:defRPr/>
            </a:pPr>
            <a:r>
              <a:rPr lang="en-US" sz="3800" b="1">
                <a:solidFill>
                  <a:srgbClr val="241331"/>
                </a:solidFill>
                <a:latin typeface="Arial"/>
                <a:ea typeface="Arial"/>
                <a:cs typeface="Arial"/>
              </a:rPr>
              <a:t>Se acuerda.</a:t>
            </a:r>
            <a:endParaRPr lang="en-US" sz="3800"/>
          </a:p>
          <a:p>
            <a:pPr marL="0" indent="0">
              <a:buNone/>
              <a:defRPr/>
            </a:pPr>
            <a:r>
              <a:rPr lang="en-US" sz="3800" b="1">
                <a:solidFill>
                  <a:srgbClr val="241331"/>
                </a:solidFill>
                <a:latin typeface="Arial"/>
                <a:ea typeface="Arial"/>
                <a:cs typeface="Arial"/>
              </a:rPr>
              <a:t>Te responde.</a:t>
            </a:r>
            <a:endParaRPr lang="en-US" sz="3800"/>
          </a:p>
        </p:txBody>
      </p:sp>
      <p:sp>
        <p:nvSpPr>
          <p:cNvPr id="1059230263" name="Shape 6"/>
          <p:cNvSpPr/>
          <p:nvPr/>
        </p:nvSpPr>
        <p:spPr bwMode="auto">
          <a:xfrm>
            <a:off x="5897880" y="1783080"/>
            <a:ext cx="5074920" cy="1005840"/>
          </a:xfrm>
          <a:prstGeom prst="roundRect">
            <a:avLst>
              <a:gd name="adj" fmla="val 9091"/>
            </a:avLst>
          </a:prstGeom>
          <a:solidFill>
            <a:srgbClr val="FFFFFF"/>
          </a:solidFill>
          <a:ln w="19050">
            <a:solidFill>
              <a:srgbClr val="FFFFFF"/>
            </a:solidFill>
            <a:prstDash val="solid"/>
          </a:ln>
        </p:spPr>
      </p:sp>
      <p:sp>
        <p:nvSpPr>
          <p:cNvPr id="1658177061" name="Text 7"/>
          <p:cNvSpPr txBox="1"/>
          <p:nvPr/>
        </p:nvSpPr>
        <p:spPr bwMode="auto">
          <a:xfrm>
            <a:off x="6007607" y="1828800"/>
            <a:ext cx="4855464" cy="914400"/>
          </a:xfrm>
          <a:prstGeom prst="rect">
            <a:avLst/>
          </a:prstGeom>
          <a:noFill/>
          <a:ln/>
        </p:spPr>
        <p:txBody>
          <a:bodyPr wrap="square" lIns="0" tIns="0" rIns="0" bIns="0" rtlCol="0" anchor="ctr"/>
          <a:lstStyle/>
          <a:p>
            <a:pPr marL="0" indent="0" algn="ctr">
              <a:buNone/>
              <a:defRPr/>
            </a:pPr>
            <a:r>
              <a:rPr lang="en-US" sz="2700" b="1">
                <a:solidFill>
                  <a:srgbClr val="6934C6"/>
                </a:solidFill>
                <a:latin typeface="Arial"/>
                <a:ea typeface="Arial"/>
                <a:cs typeface="Arial"/>
              </a:rPr>
              <a:t>“Eso lo leí…</a:t>
            </a:r>
            <a:endParaRPr lang="en-US" sz="2700"/>
          </a:p>
          <a:p>
            <a:pPr marL="0" indent="0" algn="ctr">
              <a:buNone/>
              <a:defRPr/>
            </a:pPr>
            <a:r>
              <a:rPr lang="en-US" sz="2700" b="1">
                <a:solidFill>
                  <a:srgbClr val="6934C6"/>
                </a:solidFill>
                <a:latin typeface="Arial"/>
                <a:ea typeface="Arial"/>
                <a:cs typeface="Arial"/>
              </a:rPr>
              <a:t>sí me acuerdo.”</a:t>
            </a:r>
            <a:endParaRPr lang="en-US" sz="2700"/>
          </a:p>
        </p:txBody>
      </p:sp>
      <p:sp>
        <p:nvSpPr>
          <p:cNvPr id="1098626192" name="Shape 8"/>
          <p:cNvSpPr/>
          <p:nvPr/>
        </p:nvSpPr>
        <p:spPr bwMode="auto">
          <a:xfrm>
            <a:off x="594360" y="4892039"/>
            <a:ext cx="3429000" cy="530352"/>
          </a:xfrm>
          <a:prstGeom prst="roundRect">
            <a:avLst>
              <a:gd name="adj" fmla="val 17241"/>
            </a:avLst>
          </a:prstGeom>
          <a:solidFill>
            <a:srgbClr val="D5F46A"/>
          </a:solidFill>
          <a:ln w="19050">
            <a:solidFill>
              <a:srgbClr val="D5F46A"/>
            </a:solidFill>
            <a:prstDash val="solid"/>
          </a:ln>
        </p:spPr>
      </p:sp>
      <p:sp>
        <p:nvSpPr>
          <p:cNvPr id="989259932" name="Text 9"/>
          <p:cNvSpPr txBox="1"/>
          <p:nvPr/>
        </p:nvSpPr>
        <p:spPr bwMode="auto">
          <a:xfrm>
            <a:off x="704088" y="4928616"/>
            <a:ext cx="3209544" cy="457200"/>
          </a:xfrm>
          <a:prstGeom prst="rect">
            <a:avLst/>
          </a:prstGeom>
          <a:noFill/>
          <a:ln/>
        </p:spPr>
        <p:txBody>
          <a:bodyPr wrap="square" lIns="0" tIns="0" rIns="0" bIns="0" rtlCol="0" anchor="ctr"/>
          <a:lstStyle/>
          <a:p>
            <a:pPr marL="0" indent="0" algn="ctr">
              <a:buNone/>
              <a:defRPr/>
            </a:pPr>
            <a:r>
              <a:rPr lang="en-US" sz="2000" b="1">
                <a:solidFill>
                  <a:srgbClr val="241331"/>
                </a:solidFill>
                <a:latin typeface="Arial"/>
                <a:ea typeface="Arial"/>
                <a:cs typeface="Arial"/>
              </a:rPr>
              <a:t>Hasta aquí, todo bien.</a:t>
            </a:r>
            <a:endParaRPr lang="en-US"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589438255"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PERO A VECES… SALE EL ALUCÍN</a:t>
            </a:r>
            <a:endParaRPr lang="en-US" sz="1400"/>
          </a:p>
        </p:txBody>
      </p:sp>
      <p:sp>
        <p:nvSpPr>
          <p:cNvPr id="2009692519" name="Shape 1"/>
          <p:cNvSpPr/>
          <p:nvPr/>
        </p:nvSpPr>
        <p:spPr bwMode="auto">
          <a:xfrm>
            <a:off x="4206240" y="1600200"/>
            <a:ext cx="7223760" cy="4553712"/>
          </a:xfrm>
          <a:prstGeom prst="rect">
            <a:avLst/>
          </a:prstGeom>
          <a:solidFill>
            <a:srgbClr val="F4EFFF"/>
          </a:solidFill>
          <a:ln w="19050">
            <a:solidFill>
              <a:srgbClr val="6934C6"/>
            </a:solidFill>
            <a:prstDash val="solid"/>
          </a:ln>
        </p:spPr>
      </p:sp>
      <p:sp>
        <p:nvSpPr>
          <p:cNvPr id="438102072" name="Shape 2"/>
          <p:cNvSpPr/>
          <p:nvPr/>
        </p:nvSpPr>
        <p:spPr bwMode="auto">
          <a:xfrm>
            <a:off x="4206240" y="5715000"/>
            <a:ext cx="7223760" cy="0"/>
          </a:xfrm>
          <a:prstGeom prst="line">
            <a:avLst/>
          </a:prstGeom>
          <a:noFill/>
          <a:ln w="25400">
            <a:solidFill>
              <a:srgbClr val="C5B4DC"/>
            </a:solidFill>
            <a:prstDash val="solid"/>
          </a:ln>
        </p:spPr>
      </p:sp>
      <p:sp>
        <p:nvSpPr>
          <p:cNvPr id="1222876493" name="Shape 3"/>
          <p:cNvSpPr/>
          <p:nvPr/>
        </p:nvSpPr>
        <p:spPr bwMode="auto">
          <a:xfrm>
            <a:off x="4206240" y="2240280"/>
            <a:ext cx="1051560" cy="3474720"/>
          </a:xfrm>
          <a:prstGeom prst="rect">
            <a:avLst/>
          </a:prstGeom>
          <a:solidFill>
            <a:srgbClr val="FFFFFF"/>
          </a:solidFill>
          <a:ln w="19050">
            <a:solidFill>
              <a:srgbClr val="6934C6"/>
            </a:solidFill>
            <a:prstDash val="solid"/>
          </a:ln>
        </p:spPr>
      </p:sp>
      <p:sp>
        <p:nvSpPr>
          <p:cNvPr id="642990707" name="Shape 4"/>
          <p:cNvSpPr/>
          <p:nvPr/>
        </p:nvSpPr>
        <p:spPr bwMode="auto">
          <a:xfrm>
            <a:off x="5001768" y="3858768"/>
            <a:ext cx="91440" cy="91440"/>
          </a:xfrm>
          <a:prstGeom prst="ellipse">
            <a:avLst/>
          </a:prstGeom>
          <a:solidFill>
            <a:srgbClr val="6934C6"/>
          </a:solidFill>
          <a:ln w="12700">
            <a:solidFill>
              <a:srgbClr val="6934C6"/>
            </a:solidFill>
            <a:prstDash val="solid"/>
          </a:ln>
        </p:spPr>
      </p:sp>
      <p:pic>
        <p:nvPicPr>
          <p:cNvPr id="1866180568" name="Image 0" descr="assets/5_alex_as_llm_alhucinating.png"/>
          <p:cNvPicPr>
            <a:picLocks noChangeAspect="1"/>
          </p:cNvPicPr>
          <p:nvPr/>
        </p:nvPicPr>
        <p:blipFill rotWithShape="1">
          <a:blip r:embed="rId3"/>
          <a:stretch/>
        </p:blipFill>
        <p:spPr bwMode="auto">
          <a:xfrm>
            <a:off x="6766560" y="2953512"/>
            <a:ext cx="2788920" cy="2788920"/>
          </a:xfrm>
          <a:prstGeom prst="rect">
            <a:avLst/>
          </a:prstGeom>
        </p:spPr>
      </p:pic>
      <p:sp>
        <p:nvSpPr>
          <p:cNvPr id="2083824466" name="Text 5"/>
          <p:cNvSpPr txBox="1"/>
          <p:nvPr/>
        </p:nvSpPr>
        <p:spPr bwMode="auto">
          <a:xfrm>
            <a:off x="594360" y="1965960"/>
            <a:ext cx="3429000" cy="2103120"/>
          </a:xfrm>
          <a:prstGeom prst="rect">
            <a:avLst/>
          </a:prstGeom>
          <a:noFill/>
          <a:ln/>
        </p:spPr>
        <p:txBody>
          <a:bodyPr wrap="square" lIns="0" tIns="0" rIns="0" bIns="0" rtlCol="0" anchor="ctr"/>
          <a:lstStyle/>
          <a:p>
            <a:pPr marL="0" indent="0">
              <a:buNone/>
              <a:defRPr/>
            </a:pPr>
            <a:r>
              <a:rPr lang="en-US" sz="4300" b="1">
                <a:solidFill>
                  <a:srgbClr val="241331"/>
                </a:solidFill>
                <a:latin typeface="Arial"/>
                <a:ea typeface="Arial"/>
                <a:cs typeface="Arial"/>
              </a:rPr>
              <a:t>¿Cuánto</a:t>
            </a:r>
            <a:endParaRPr lang="en-US" sz="4300"/>
          </a:p>
          <a:p>
            <a:pPr marL="0" indent="0">
              <a:buNone/>
              <a:defRPr/>
            </a:pPr>
            <a:r>
              <a:rPr lang="en-US" sz="4300" b="1">
                <a:solidFill>
                  <a:srgbClr val="241331"/>
                </a:solidFill>
                <a:latin typeface="Arial"/>
                <a:ea typeface="Arial"/>
                <a:cs typeface="Arial"/>
              </a:rPr>
              <a:t>vendimos</a:t>
            </a:r>
            <a:endParaRPr lang="en-US" sz="4300"/>
          </a:p>
          <a:p>
            <a:pPr marL="0" indent="0">
              <a:buNone/>
              <a:defRPr/>
            </a:pPr>
            <a:r>
              <a:rPr lang="en-US" sz="4300" b="1">
                <a:solidFill>
                  <a:srgbClr val="241331"/>
                </a:solidFill>
                <a:latin typeface="Arial"/>
                <a:ea typeface="Arial"/>
                <a:cs typeface="Arial"/>
              </a:rPr>
              <a:t>ayer?</a:t>
            </a:r>
            <a:endParaRPr lang="en-US" sz="4300"/>
          </a:p>
        </p:txBody>
      </p:sp>
      <p:sp>
        <p:nvSpPr>
          <p:cNvPr id="394078760" name="Shape 6"/>
          <p:cNvSpPr/>
          <p:nvPr/>
        </p:nvSpPr>
        <p:spPr bwMode="auto">
          <a:xfrm>
            <a:off x="5532120" y="1783080"/>
            <a:ext cx="5440680" cy="1005840"/>
          </a:xfrm>
          <a:prstGeom prst="roundRect">
            <a:avLst>
              <a:gd name="adj" fmla="val 9091"/>
            </a:avLst>
          </a:prstGeom>
          <a:solidFill>
            <a:srgbClr val="FFFFFF"/>
          </a:solidFill>
          <a:ln w="19050">
            <a:solidFill>
              <a:srgbClr val="FFFFFF"/>
            </a:solidFill>
            <a:prstDash val="solid"/>
          </a:ln>
        </p:spPr>
      </p:sp>
      <p:sp>
        <p:nvSpPr>
          <p:cNvPr id="1606219585" name="Text 7"/>
          <p:cNvSpPr txBox="1"/>
          <p:nvPr/>
        </p:nvSpPr>
        <p:spPr bwMode="auto">
          <a:xfrm>
            <a:off x="5641848" y="1828800"/>
            <a:ext cx="5221224" cy="914400"/>
          </a:xfrm>
          <a:prstGeom prst="rect">
            <a:avLst/>
          </a:prstGeom>
          <a:noFill/>
          <a:ln/>
        </p:spPr>
        <p:txBody>
          <a:bodyPr wrap="square" lIns="0" tIns="0" rIns="0" bIns="0" rtlCol="0" anchor="ctr"/>
          <a:lstStyle/>
          <a:p>
            <a:pPr marL="0" indent="0" algn="ctr">
              <a:buNone/>
              <a:defRPr/>
            </a:pPr>
            <a:r>
              <a:rPr lang="en-US" sz="2500" b="1">
                <a:solidFill>
                  <a:srgbClr val="6934C6"/>
                </a:solidFill>
                <a:latin typeface="Arial"/>
                <a:ea typeface="Arial"/>
                <a:cs typeface="Arial"/>
              </a:rPr>
              <a:t>“$85,000.</a:t>
            </a:r>
            <a:endParaRPr lang="en-US" sz="2500"/>
          </a:p>
          <a:p>
            <a:pPr marL="0" indent="0" algn="ctr">
              <a:buNone/>
              <a:defRPr/>
            </a:pPr>
            <a:r>
              <a:rPr lang="en-US" sz="2500" b="1">
                <a:solidFill>
                  <a:srgbClr val="6934C6"/>
                </a:solidFill>
                <a:latin typeface="Arial"/>
                <a:ea typeface="Arial"/>
                <a:cs typeface="Arial"/>
              </a:rPr>
              <a:t>Sin duda, mi estimado.”</a:t>
            </a:r>
            <a:endParaRPr lang="en-US" sz="2500"/>
          </a:p>
        </p:txBody>
      </p:sp>
      <p:sp>
        <p:nvSpPr>
          <p:cNvPr id="2125377898" name="Shape 8"/>
          <p:cNvSpPr/>
          <p:nvPr/>
        </p:nvSpPr>
        <p:spPr bwMode="auto">
          <a:xfrm>
            <a:off x="594360" y="4892039"/>
            <a:ext cx="3474720" cy="530352"/>
          </a:xfrm>
          <a:prstGeom prst="roundRect">
            <a:avLst>
              <a:gd name="adj" fmla="val 17241"/>
            </a:avLst>
          </a:prstGeom>
          <a:solidFill>
            <a:srgbClr val="D5F46A"/>
          </a:solidFill>
          <a:ln w="19050">
            <a:solidFill>
              <a:srgbClr val="D5F46A"/>
            </a:solidFill>
            <a:prstDash val="solid"/>
          </a:ln>
        </p:spPr>
      </p:sp>
      <p:sp>
        <p:nvSpPr>
          <p:cNvPr id="1296856663" name="Text 9"/>
          <p:cNvSpPr txBox="1"/>
          <p:nvPr/>
        </p:nvSpPr>
        <p:spPr bwMode="auto">
          <a:xfrm>
            <a:off x="704088" y="4928616"/>
            <a:ext cx="3255264" cy="457200"/>
          </a:xfrm>
          <a:prstGeom prst="rect">
            <a:avLst/>
          </a:prstGeom>
          <a:noFill/>
          <a:ln/>
        </p:spPr>
        <p:txBody>
          <a:bodyPr wrap="square" lIns="0" tIns="0" rIns="0" bIns="0" rtlCol="0" anchor="ctr"/>
          <a:lstStyle/>
          <a:p>
            <a:pPr marL="0" indent="0" algn="ctr">
              <a:buNone/>
              <a:defRPr/>
            </a:pPr>
            <a:r>
              <a:rPr lang="en-US" sz="2100" b="1">
                <a:solidFill>
                  <a:srgbClr val="241331"/>
                </a:solidFill>
                <a:latin typeface="Arial"/>
                <a:ea typeface="Arial"/>
                <a:cs typeface="Arial"/>
              </a:rPr>
              <a:t>Fuente: créeme, bro.</a:t>
            </a:r>
            <a:endParaRPr lang="en-US" sz="2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291244"/>
        </a:solidFill>
      </p:bgPr>
    </p:bg>
    <p:spTree>
      <p:nvGrpSpPr>
        <p:cNvPr id="1" name=""/>
        <p:cNvGrpSpPr/>
        <p:nvPr/>
      </p:nvGrpSpPr>
      <p:grpSpPr bwMode="auto">
        <a:xfrm>
          <a:off x="0" y="0"/>
          <a:ext cx="0" cy="0"/>
          <a:chOff x="0" y="0"/>
          <a:chExt cx="0" cy="0"/>
        </a:xfrm>
      </p:grpSpPr>
      <p:sp>
        <p:nvSpPr>
          <p:cNvPr id="1530734232" name="Text 0"/>
          <p:cNvSpPr txBox="1"/>
          <p:nvPr/>
        </p:nvSpPr>
        <p:spPr bwMode="auto">
          <a:xfrm>
            <a:off x="777240" y="640080"/>
            <a:ext cx="10607040" cy="502920"/>
          </a:xfrm>
          <a:prstGeom prst="rect">
            <a:avLst/>
          </a:prstGeom>
          <a:noFill/>
          <a:ln/>
        </p:spPr>
        <p:txBody>
          <a:bodyPr wrap="square" lIns="0" tIns="0" rIns="0" bIns="0" rtlCol="0" anchor="ctr"/>
          <a:lstStyle/>
          <a:p>
            <a:pPr marL="0" indent="0">
              <a:buNone/>
              <a:defRPr/>
            </a:pPr>
            <a:r>
              <a:rPr lang="en-US" sz="2200" b="1">
                <a:solidFill>
                  <a:srgbClr val="D5F46A"/>
                </a:solidFill>
                <a:latin typeface="Arial"/>
                <a:ea typeface="Arial"/>
                <a:cs typeface="Arial"/>
              </a:rPr>
              <a:t>ACTO II</a:t>
            </a:r>
            <a:endParaRPr lang="en-US" sz="2200"/>
          </a:p>
        </p:txBody>
      </p:sp>
      <p:sp>
        <p:nvSpPr>
          <p:cNvPr id="1586111842" name="Text 1"/>
          <p:cNvSpPr txBox="1"/>
          <p:nvPr/>
        </p:nvSpPr>
        <p:spPr bwMode="auto">
          <a:xfrm>
            <a:off x="777240" y="1554480"/>
            <a:ext cx="10607040" cy="1188720"/>
          </a:xfrm>
          <a:prstGeom prst="rect">
            <a:avLst/>
          </a:prstGeom>
          <a:noFill/>
          <a:ln/>
        </p:spPr>
        <p:txBody>
          <a:bodyPr wrap="square" lIns="0" tIns="0" rIns="0" bIns="0" rtlCol="0" anchor="ctr"/>
          <a:lstStyle/>
          <a:p>
            <a:pPr marL="0" indent="0">
              <a:buNone/>
              <a:defRPr/>
            </a:pPr>
            <a:r>
              <a:rPr lang="en-US" sz="4000" b="1">
                <a:solidFill>
                  <a:srgbClr val="FFFFFF"/>
                </a:solidFill>
                <a:latin typeface="Arial"/>
                <a:ea typeface="Arial"/>
                <a:cs typeface="Arial"/>
              </a:rPr>
              <a:t>El cerebro que hace trampa</a:t>
            </a:r>
            <a:endParaRPr lang="en-US" sz="4000"/>
          </a:p>
        </p:txBody>
      </p:sp>
      <p:sp>
        <p:nvSpPr>
          <p:cNvPr id="270164507" name="Text 2"/>
          <p:cNvSpPr txBox="1"/>
          <p:nvPr/>
        </p:nvSpPr>
        <p:spPr bwMode="auto">
          <a:xfrm>
            <a:off x="777240" y="3200400"/>
            <a:ext cx="10515600" cy="2103120"/>
          </a:xfrm>
          <a:prstGeom prst="rect">
            <a:avLst/>
          </a:prstGeom>
          <a:noFill/>
          <a:ln/>
        </p:spPr>
        <p:txBody>
          <a:bodyPr wrap="square" lIns="0" tIns="0" rIns="0" bIns="0" rtlCol="0" anchor="ctr"/>
          <a:lstStyle/>
          <a:p>
            <a:pPr marL="0" indent="0">
              <a:buNone/>
              <a:defRPr/>
            </a:pPr>
            <a:r>
              <a:rPr lang="en-US" sz="5100" b="1">
                <a:solidFill>
                  <a:srgbClr val="FFFFFF"/>
                </a:solidFill>
                <a:latin typeface="Arial"/>
                <a:ea typeface="Arial"/>
                <a:cs typeface="Arial"/>
              </a:rPr>
              <a:t>Si no se lo sabe…</a:t>
            </a:r>
            <a:br>
              <a:rPr lang="en-US" sz="5100" b="1">
                <a:solidFill>
                  <a:srgbClr val="FFFFFF"/>
                </a:solidFill>
                <a:latin typeface="Arial"/>
                <a:ea typeface="Arial"/>
                <a:cs typeface="Arial"/>
              </a:rPr>
            </a:br>
            <a:r>
              <a:rPr lang="en-US" sz="5100" b="1">
                <a:solidFill>
                  <a:srgbClr val="FFFFFF"/>
                </a:solidFill>
                <a:latin typeface="Arial"/>
                <a:ea typeface="Arial"/>
                <a:cs typeface="Arial"/>
              </a:rPr>
              <a:t>le pasamos el acordeón.</a:t>
            </a:r>
            <a:endParaRPr lang="en-US" sz="5100"/>
          </a:p>
          <a:p>
            <a:pPr marL="0" indent="0">
              <a:buNone/>
              <a:defRPr/>
            </a:pPr>
            <a:endParaRPr lang="en-US" sz="5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FFFFFF"/>
        </a:solidFill>
      </p:bgPr>
    </p:bg>
    <p:spTree>
      <p:nvGrpSpPr>
        <p:cNvPr id="1" name=""/>
        <p:cNvGrpSpPr/>
        <p:nvPr/>
      </p:nvGrpSpPr>
      <p:grpSpPr bwMode="auto">
        <a:xfrm>
          <a:off x="0" y="0"/>
          <a:ext cx="0" cy="0"/>
          <a:chOff x="0" y="0"/>
          <a:chExt cx="0" cy="0"/>
        </a:xfrm>
      </p:grpSpPr>
      <p:sp>
        <p:nvSpPr>
          <p:cNvPr id="84801318"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CUANDO SE ACABA LO QUE SABE</a:t>
            </a:r>
            <a:endParaRPr lang="en-US" sz="1400"/>
          </a:p>
        </p:txBody>
      </p:sp>
      <p:sp>
        <p:nvSpPr>
          <p:cNvPr id="1466564934"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n-US" sz="3800" b="1">
                <a:solidFill>
                  <a:srgbClr val="241331"/>
                </a:solidFill>
                <a:latin typeface="Arial"/>
                <a:ea typeface="Arial"/>
                <a:cs typeface="Arial"/>
              </a:rPr>
              <a:t>Se acabó lo que sabe. ¿Y ahora?</a:t>
            </a:r>
            <a:endParaRPr lang="en-US" sz="3800"/>
          </a:p>
        </p:txBody>
      </p:sp>
      <p:sp>
        <p:nvSpPr>
          <p:cNvPr id="1536320637" name="Text 2"/>
          <p:cNvSpPr txBox="1"/>
          <p:nvPr/>
        </p:nvSpPr>
        <p:spPr bwMode="auto">
          <a:xfrm>
            <a:off x="731520" y="2423160"/>
            <a:ext cx="3840480" cy="640080"/>
          </a:xfrm>
          <a:prstGeom prst="rect">
            <a:avLst/>
          </a:prstGeom>
          <a:noFill/>
          <a:ln/>
        </p:spPr>
        <p:txBody>
          <a:bodyPr wrap="square" lIns="0" tIns="0" rIns="0" bIns="0" rtlCol="0" anchor="ctr"/>
          <a:lstStyle/>
          <a:p>
            <a:pPr marL="0" indent="0">
              <a:buNone/>
              <a:defRPr/>
            </a:pPr>
            <a:r>
              <a:rPr lang="en-US" sz="3800" b="1">
                <a:solidFill>
                  <a:srgbClr val="6934C6"/>
                </a:solidFill>
                <a:latin typeface="Arial"/>
                <a:ea typeface="Arial"/>
                <a:cs typeface="Arial"/>
              </a:rPr>
              <a:t>Reentrenar</a:t>
            </a:r>
            <a:endParaRPr lang="en-US" sz="3800"/>
          </a:p>
        </p:txBody>
      </p:sp>
      <p:sp>
        <p:nvSpPr>
          <p:cNvPr id="635368737" name="Text 3"/>
          <p:cNvSpPr txBox="1"/>
          <p:nvPr/>
        </p:nvSpPr>
        <p:spPr bwMode="auto">
          <a:xfrm>
            <a:off x="731520" y="3291840"/>
            <a:ext cx="3840480" cy="1097280"/>
          </a:xfrm>
          <a:prstGeom prst="rect">
            <a:avLst/>
          </a:prstGeom>
          <a:noFill/>
          <a:ln/>
        </p:spPr>
        <p:txBody>
          <a:bodyPr wrap="square" lIns="0" tIns="0" rIns="0" bIns="0" rtlCol="0" anchor="ctr"/>
          <a:lstStyle/>
          <a:p>
            <a:pPr marL="0" indent="0">
              <a:buNone/>
              <a:defRPr/>
            </a:pPr>
            <a:r>
              <a:rPr lang="en-US" sz="2600">
                <a:solidFill>
                  <a:srgbClr val="241331"/>
                </a:solidFill>
                <a:latin typeface="Arial"/>
                <a:ea typeface="Arial"/>
                <a:cs typeface="Arial"/>
              </a:rPr>
              <a:t>Actualizar lo aprendido</a:t>
            </a:r>
            <a:endParaRPr lang="en-US" sz="2600"/>
          </a:p>
          <a:p>
            <a:pPr marL="0" indent="0">
              <a:buNone/>
              <a:defRPr/>
            </a:pPr>
            <a:r>
              <a:rPr lang="en-US" sz="2600">
                <a:solidFill>
                  <a:srgbClr val="241331"/>
                </a:solidFill>
                <a:latin typeface="Arial"/>
                <a:ea typeface="Arial"/>
                <a:cs typeface="Arial"/>
              </a:rPr>
              <a:t>con más entrenamiento.</a:t>
            </a:r>
            <a:endParaRPr lang="en-US" sz="2600"/>
          </a:p>
        </p:txBody>
      </p:sp>
      <p:sp>
        <p:nvSpPr>
          <p:cNvPr id="1333005911" name="Text 4"/>
          <p:cNvSpPr txBox="1"/>
          <p:nvPr/>
        </p:nvSpPr>
        <p:spPr bwMode="auto">
          <a:xfrm>
            <a:off x="6583680" y="2423160"/>
            <a:ext cx="4663440" cy="640080"/>
          </a:xfrm>
          <a:prstGeom prst="rect">
            <a:avLst/>
          </a:prstGeom>
          <a:noFill/>
          <a:ln/>
        </p:spPr>
        <p:txBody>
          <a:bodyPr wrap="square" lIns="0" tIns="0" rIns="0" bIns="0" rtlCol="0" anchor="ctr"/>
          <a:lstStyle/>
          <a:p>
            <a:pPr marL="0" indent="0">
              <a:buNone/>
              <a:defRPr/>
            </a:pPr>
            <a:r>
              <a:rPr lang="en-US" sz="3800" b="1">
                <a:solidFill>
                  <a:srgbClr val="6934C6"/>
                </a:solidFill>
                <a:latin typeface="Arial"/>
                <a:ea typeface="Arial"/>
                <a:cs typeface="Arial"/>
              </a:rPr>
              <a:t>“Reentrenar”</a:t>
            </a:r>
            <a:endParaRPr lang="en-US" sz="3800"/>
          </a:p>
        </p:txBody>
      </p:sp>
      <p:sp>
        <p:nvSpPr>
          <p:cNvPr id="673243196" name="Text 5"/>
          <p:cNvSpPr txBox="1"/>
          <p:nvPr/>
        </p:nvSpPr>
        <p:spPr bwMode="auto">
          <a:xfrm>
            <a:off x="6583680" y="3291840"/>
            <a:ext cx="4663440" cy="1097280"/>
          </a:xfrm>
          <a:prstGeom prst="rect">
            <a:avLst/>
          </a:prstGeom>
          <a:noFill/>
          <a:ln/>
        </p:spPr>
        <p:txBody>
          <a:bodyPr wrap="square" lIns="0" tIns="0" rIns="0" bIns="0" rtlCol="0" anchor="ctr"/>
          <a:lstStyle/>
          <a:p>
            <a:pPr marL="0" indent="0">
              <a:buNone/>
              <a:defRPr/>
            </a:pPr>
            <a:r>
              <a:rPr lang="en-US" sz="2600">
                <a:solidFill>
                  <a:srgbClr val="241331"/>
                </a:solidFill>
                <a:latin typeface="Arial"/>
                <a:ea typeface="Arial"/>
                <a:cs typeface="Arial"/>
              </a:rPr>
              <a:t>Pasarle información</a:t>
            </a:r>
            <a:endParaRPr lang="en-US" sz="2600"/>
          </a:p>
          <a:p>
            <a:pPr marL="0" indent="0">
              <a:buNone/>
              <a:defRPr/>
            </a:pPr>
            <a:r>
              <a:rPr lang="en-US" sz="2600">
                <a:solidFill>
                  <a:srgbClr val="241331"/>
                </a:solidFill>
                <a:latin typeface="Arial"/>
                <a:ea typeface="Arial"/>
                <a:cs typeface="Arial"/>
              </a:rPr>
              <a:t>justo cuando la necesita.</a:t>
            </a:r>
            <a:endParaRPr lang="en-US" sz="2600"/>
          </a:p>
        </p:txBody>
      </p:sp>
      <p:pic>
        <p:nvPicPr>
          <p:cNvPr id="524801787" name="Image 0" descr="assets/new/alex_dudoso.png"/>
          <p:cNvPicPr>
            <a:picLocks noChangeAspect="1"/>
          </p:cNvPicPr>
          <p:nvPr/>
        </p:nvPicPr>
        <p:blipFill rotWithShape="1">
          <a:blip r:embed="rId3"/>
          <a:stretch/>
        </p:blipFill>
        <p:spPr bwMode="auto">
          <a:xfrm>
            <a:off x="4343400" y="2678372"/>
            <a:ext cx="2103120" cy="2552815"/>
          </a:xfrm>
          <a:prstGeom prst="rect">
            <a:avLst/>
          </a:prstGeom>
        </p:spPr>
      </p:pic>
      <p:sp>
        <p:nvSpPr>
          <p:cNvPr id="1996889858" name="Text 6"/>
          <p:cNvSpPr txBox="1"/>
          <p:nvPr/>
        </p:nvSpPr>
        <p:spPr bwMode="auto">
          <a:xfrm>
            <a:off x="731520" y="5806440"/>
            <a:ext cx="10789920" cy="594360"/>
          </a:xfrm>
          <a:prstGeom prst="rect">
            <a:avLst/>
          </a:prstGeom>
          <a:noFill/>
          <a:ln/>
        </p:spPr>
        <p:txBody>
          <a:bodyPr wrap="square" lIns="0" tIns="0" rIns="0" bIns="0" rtlCol="0" anchor="ctr"/>
          <a:lstStyle/>
          <a:p>
            <a:pPr marL="0" indent="0" algn="ctr">
              <a:buNone/>
              <a:defRPr/>
            </a:pPr>
            <a:r>
              <a:rPr lang="en-US" sz="2600" b="1">
                <a:solidFill>
                  <a:srgbClr val="241331"/>
                </a:solidFill>
                <a:latin typeface="Arial"/>
                <a:ea typeface="Arial"/>
                <a:cs typeface="Arial"/>
              </a:rPr>
              <a:t>Spoiler: el segundo lleva comillas. Es contexto → RAG.</a:t>
            </a:r>
            <a:endParaRPr lang="en-US"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256635165"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RAG   /   CONTEXTO POR DEBAJO DE LA PUERTA</a:t>
            </a:r>
            <a:endParaRPr lang="en-US" sz="1400"/>
          </a:p>
        </p:txBody>
      </p:sp>
      <p:sp>
        <p:nvSpPr>
          <p:cNvPr id="1685010567" name="Shape 1"/>
          <p:cNvSpPr/>
          <p:nvPr/>
        </p:nvSpPr>
        <p:spPr bwMode="auto">
          <a:xfrm>
            <a:off x="4206240" y="1600200"/>
            <a:ext cx="7223760" cy="4553712"/>
          </a:xfrm>
          <a:prstGeom prst="rect">
            <a:avLst/>
          </a:prstGeom>
          <a:solidFill>
            <a:srgbClr val="F4EFFF"/>
          </a:solidFill>
          <a:ln w="19050">
            <a:solidFill>
              <a:srgbClr val="6934C6"/>
            </a:solidFill>
            <a:prstDash val="solid"/>
          </a:ln>
        </p:spPr>
      </p:sp>
      <p:sp>
        <p:nvSpPr>
          <p:cNvPr id="299571079" name="Shape 2"/>
          <p:cNvSpPr/>
          <p:nvPr/>
        </p:nvSpPr>
        <p:spPr bwMode="auto">
          <a:xfrm>
            <a:off x="4206240" y="5715000"/>
            <a:ext cx="7223760" cy="0"/>
          </a:xfrm>
          <a:prstGeom prst="line">
            <a:avLst/>
          </a:prstGeom>
          <a:noFill/>
          <a:ln w="25400">
            <a:solidFill>
              <a:srgbClr val="C5B4DC"/>
            </a:solidFill>
            <a:prstDash val="solid"/>
          </a:ln>
        </p:spPr>
      </p:sp>
      <p:pic>
        <p:nvPicPr>
          <p:cNvPr id="157282502" name="Image 0" descr="assets/6_alex_as_rag_looking_for_notes.png"/>
          <p:cNvPicPr>
            <a:picLocks noChangeAspect="1"/>
          </p:cNvPicPr>
          <p:nvPr/>
        </p:nvPicPr>
        <p:blipFill rotWithShape="1">
          <a:blip r:embed="rId3"/>
          <a:stretch/>
        </p:blipFill>
        <p:spPr bwMode="auto">
          <a:xfrm>
            <a:off x="5800477" y="2240280"/>
            <a:ext cx="3611880" cy="3611880"/>
          </a:xfrm>
          <a:prstGeom prst="rect">
            <a:avLst/>
          </a:prstGeom>
        </p:spPr>
      </p:pic>
      <p:sp>
        <p:nvSpPr>
          <p:cNvPr id="1738222275" name="Text 3"/>
          <p:cNvSpPr txBox="1"/>
          <p:nvPr/>
        </p:nvSpPr>
        <p:spPr bwMode="auto">
          <a:xfrm>
            <a:off x="594360" y="3099816"/>
            <a:ext cx="3291840" cy="1554480"/>
          </a:xfrm>
          <a:prstGeom prst="rect">
            <a:avLst/>
          </a:prstGeom>
          <a:noFill/>
          <a:ln/>
        </p:spPr>
        <p:txBody>
          <a:bodyPr wrap="square" lIns="0" tIns="0" rIns="0" bIns="0" rtlCol="0" anchor="ctr"/>
          <a:lstStyle/>
          <a:p>
            <a:pPr marL="0" indent="0">
              <a:buNone/>
              <a:defRPr/>
            </a:pPr>
            <a:r>
              <a:rPr lang="es-ES" sz="4100" b="1">
                <a:solidFill>
                  <a:srgbClr val="241331"/>
                </a:solidFill>
                <a:latin typeface="Arial"/>
                <a:ea typeface="Arial"/>
                <a:cs typeface="Arial"/>
              </a:rPr>
              <a:t>Pasale la informacion por debajo de la mesa</a:t>
            </a:r>
            <a:endParaRPr lang="en-US" sz="4100"/>
          </a:p>
        </p:txBody>
      </p:sp>
      <p:sp>
        <p:nvSpPr>
          <p:cNvPr id="1890407395" name="Text 5"/>
          <p:cNvSpPr txBox="1"/>
          <p:nvPr/>
        </p:nvSpPr>
        <p:spPr bwMode="auto">
          <a:xfrm flipH="0" flipV="0">
            <a:off x="8901009" y="1874520"/>
            <a:ext cx="2311057" cy="1097280"/>
          </a:xfrm>
          <a:prstGeom prst="rect">
            <a:avLst/>
          </a:prstGeom>
          <a:noFill/>
          <a:ln/>
        </p:spPr>
        <p:txBody>
          <a:bodyPr wrap="square" lIns="0" tIns="0" rIns="0" bIns="0" rtlCol="0" anchor="ctr"/>
          <a:lstStyle/>
          <a:p>
            <a:pPr marL="0" indent="0" algn="ctr">
              <a:buNone/>
              <a:defRPr/>
            </a:pPr>
            <a:r>
              <a:rPr lang="en-US" sz="2400" b="1">
                <a:solidFill>
                  <a:srgbClr val="241331"/>
                </a:solidFill>
                <a:latin typeface="Arial"/>
                <a:ea typeface="Arial"/>
                <a:cs typeface="Arial"/>
              </a:rPr>
              <a:t>REPORTE DE AYER</a:t>
            </a:r>
            <a:endParaRPr lang="en-US" sz="2400"/>
          </a:p>
          <a:p>
            <a:pPr marL="0" indent="0" algn="ctr">
              <a:buNone/>
              <a:defRPr/>
            </a:pPr>
            <a:r>
              <a:rPr lang="en-US" sz="2400" b="1">
                <a:solidFill>
                  <a:srgbClr val="241331"/>
                </a:solidFill>
                <a:latin typeface="Arial"/>
                <a:ea typeface="Arial"/>
                <a:cs typeface="Arial"/>
              </a:rPr>
              <a:t>$42,000</a:t>
            </a:r>
            <a:endParaRPr lang="en-US" sz="2400"/>
          </a:p>
        </p:txBody>
      </p:sp>
      <p:sp>
        <p:nvSpPr>
          <p:cNvPr id="1222326707" name="Text 7"/>
          <p:cNvSpPr txBox="1"/>
          <p:nvPr/>
        </p:nvSpPr>
        <p:spPr bwMode="auto">
          <a:xfrm>
            <a:off x="594360" y="6327648"/>
            <a:ext cx="10972800" cy="320040"/>
          </a:xfrm>
          <a:prstGeom prst="rect">
            <a:avLst/>
          </a:prstGeom>
          <a:noFill/>
          <a:ln/>
        </p:spPr>
        <p:txBody>
          <a:bodyPr wrap="square" lIns="0" tIns="0" rIns="0" bIns="0" rtlCol="0" anchor="ctr"/>
          <a:lstStyle/>
          <a:p>
            <a:pPr marL="0" indent="0" algn="ctr">
              <a:buNone/>
              <a:defRPr/>
            </a:pPr>
            <a:r>
              <a:rPr lang="en-US" sz="2000" b="1">
                <a:solidFill>
                  <a:srgbClr val="6934C6"/>
                </a:solidFill>
                <a:latin typeface="Arial"/>
                <a:ea typeface="Arial"/>
                <a:cs typeface="Arial"/>
              </a:rPr>
              <a:t>Pregunta  →  recuperar  →  contexto  →  respuesta</a:t>
            </a:r>
            <a:endParaRPr lang="en-US" sz="2000"/>
          </a:p>
        </p:txBody>
      </p:sp>
      <p:sp>
        <p:nvSpPr>
          <p:cNvPr id="386571487" name=""/>
          <p:cNvSpPr/>
          <p:nvPr/>
        </p:nvSpPr>
        <p:spPr bwMode="auto">
          <a:xfrm rot="0" flipH="0" flipV="0">
            <a:off x="4413749" y="1778933"/>
            <a:ext cx="1386727" cy="826433"/>
          </a:xfrm>
          <a:prstGeom prst="wedgeRoundRectCallout">
            <a:avLst>
              <a:gd name="adj1" fmla="val 43443"/>
              <a:gd name="adj2" fmla="val 82609"/>
              <a:gd name="adj3" fmla="val 16667"/>
            </a:avLst>
          </a:prstGeom>
          <a:solidFill>
            <a:schemeClr val="accent1">
              <a:alpha val="0"/>
            </a:schemeClr>
          </a:solidFill>
          <a:ln w="1905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r>
              <a:rPr lang="es-ES" b="1">
                <a:solidFill>
                  <a:schemeClr val="tx1"/>
                </a:solidFill>
              </a:rPr>
              <a:t>Aquí está el reporte</a:t>
            </a:r>
            <a:endParaRPr b="1">
              <a:solidFill>
                <a:schemeClr val="tx1"/>
              </a:solidFill>
            </a:endParaRPr>
          </a:p>
        </p:txBody>
      </p:sp>
      <p:sp>
        <p:nvSpPr>
          <p:cNvPr id="105018808" name=""/>
          <p:cNvSpPr/>
          <p:nvPr/>
        </p:nvSpPr>
        <p:spPr bwMode="auto">
          <a:xfrm rot="0" flipH="0" flipV="0">
            <a:off x="8959038" y="1721826"/>
            <a:ext cx="2253028" cy="1377988"/>
          </a:xfrm>
          <a:prstGeom prst="wedgeRoundRectCallout">
            <a:avLst>
              <a:gd name="adj1" fmla="val -39430"/>
              <a:gd name="adj2" fmla="val 74952"/>
              <a:gd name="adj3" fmla="val 16667"/>
            </a:avLst>
          </a:prstGeom>
          <a:solidFill>
            <a:schemeClr val="accent1">
              <a:alpha val="0"/>
            </a:schemeClr>
          </a:solidFill>
          <a:ln w="1905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a:solidFill>
                <a:schemeClr val="tx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sp>
        <p:nvSpPr>
          <p:cNvPr id="1363785199"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SABER EXPLICAR ≠ EJECUTAR</a:t>
            </a:r>
            <a:endParaRPr lang="en-US" sz="1400"/>
          </a:p>
        </p:txBody>
      </p:sp>
      <p:sp>
        <p:nvSpPr>
          <p:cNvPr id="526327323"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n-US" sz="3800" b="1">
                <a:solidFill>
                  <a:srgbClr val="241331"/>
                </a:solidFill>
                <a:latin typeface="Arial"/>
                <a:ea typeface="Arial"/>
                <a:cs typeface="Arial"/>
              </a:rPr>
              <a:t>“No me expliques</a:t>
            </a:r>
            <a:r>
              <a:rPr lang="es-ES" sz="3800" b="1">
                <a:solidFill>
                  <a:srgbClr val="241331"/>
                </a:solidFill>
                <a:latin typeface="Arial"/>
                <a:ea typeface="Arial"/>
                <a:cs typeface="Arial"/>
              </a:rPr>
              <a:t>.</a:t>
            </a:r>
            <a:r>
              <a:rPr lang="en-US" sz="3800" b="1">
                <a:solidFill>
                  <a:srgbClr val="241331"/>
                </a:solidFill>
                <a:latin typeface="Arial"/>
                <a:ea typeface="Arial"/>
                <a:cs typeface="Arial"/>
              </a:rPr>
              <a:t> </a:t>
            </a:r>
            <a:r>
              <a:rPr lang="es-ES" sz="3800" b="1">
                <a:solidFill>
                  <a:srgbClr val="241331"/>
                </a:solidFill>
                <a:latin typeface="Arial"/>
                <a:ea typeface="Arial"/>
                <a:cs typeface="Arial"/>
              </a:rPr>
              <a:t>¡</a:t>
            </a:r>
            <a:r>
              <a:rPr lang="en-US" sz="3800" b="1">
                <a:solidFill>
                  <a:srgbClr val="241331"/>
                </a:solidFill>
                <a:latin typeface="Arial"/>
                <a:ea typeface="Arial"/>
                <a:cs typeface="Arial"/>
              </a:rPr>
              <a:t>Hazlo</a:t>
            </a:r>
            <a:r>
              <a:rPr lang="es-ES" sz="3800" b="1">
                <a:solidFill>
                  <a:srgbClr val="241331"/>
                </a:solidFill>
                <a:latin typeface="Arial"/>
                <a:ea typeface="Arial"/>
                <a:cs typeface="Arial"/>
              </a:rPr>
              <a:t> tú!</a:t>
            </a:r>
            <a:r>
              <a:rPr lang="en-US" sz="3800" b="1">
                <a:solidFill>
                  <a:srgbClr val="241331"/>
                </a:solidFill>
                <a:latin typeface="Arial"/>
                <a:ea typeface="Arial"/>
                <a:cs typeface="Arial"/>
              </a:rPr>
              <a:t>”</a:t>
            </a:r>
            <a:endParaRPr lang="en-US" sz="3800"/>
          </a:p>
        </p:txBody>
      </p:sp>
      <p:sp>
        <p:nvSpPr>
          <p:cNvPr id="1022856504" name="Shape 2"/>
          <p:cNvSpPr/>
          <p:nvPr/>
        </p:nvSpPr>
        <p:spPr bwMode="auto">
          <a:xfrm>
            <a:off x="731520" y="2194560"/>
            <a:ext cx="4937760" cy="777240"/>
          </a:xfrm>
          <a:prstGeom prst="roundRect">
            <a:avLst>
              <a:gd name="adj" fmla="val 11765"/>
            </a:avLst>
          </a:prstGeom>
          <a:solidFill>
            <a:srgbClr val="6934C6"/>
          </a:solidFill>
          <a:ln w="19050">
            <a:solidFill>
              <a:srgbClr val="6934C6"/>
            </a:solidFill>
            <a:prstDash val="solid"/>
          </a:ln>
        </p:spPr>
      </p:sp>
      <p:sp>
        <p:nvSpPr>
          <p:cNvPr id="265487992" name="Text 3"/>
          <p:cNvSpPr txBox="1"/>
          <p:nvPr/>
        </p:nvSpPr>
        <p:spPr bwMode="auto">
          <a:xfrm>
            <a:off x="841248" y="2240280"/>
            <a:ext cx="4718304" cy="685800"/>
          </a:xfrm>
          <a:prstGeom prst="rect">
            <a:avLst/>
          </a:prstGeom>
          <a:noFill/>
          <a:ln/>
        </p:spPr>
        <p:txBody>
          <a:bodyPr wrap="square" lIns="0" tIns="0" rIns="0" bIns="0" rtlCol="0" anchor="ctr"/>
          <a:lstStyle/>
          <a:p>
            <a:pPr marL="0" indent="0" algn="ctr">
              <a:buNone/>
              <a:defRPr/>
            </a:pPr>
            <a:r>
              <a:rPr lang="en-US" sz="2900" b="1">
                <a:solidFill>
                  <a:srgbClr val="FFFFFF"/>
                </a:solidFill>
                <a:latin typeface="Arial"/>
                <a:ea typeface="Arial"/>
                <a:cs typeface="Arial"/>
              </a:rPr>
              <a:t>Genera la factura.</a:t>
            </a:r>
            <a:endParaRPr lang="en-US" sz="2900"/>
          </a:p>
        </p:txBody>
      </p:sp>
      <p:sp>
        <p:nvSpPr>
          <p:cNvPr id="262957005" name="Shape 4"/>
          <p:cNvSpPr/>
          <p:nvPr/>
        </p:nvSpPr>
        <p:spPr bwMode="auto">
          <a:xfrm>
            <a:off x="6492240" y="2194560"/>
            <a:ext cx="4937760" cy="1097280"/>
          </a:xfrm>
          <a:prstGeom prst="roundRect">
            <a:avLst>
              <a:gd name="adj" fmla="val 8333"/>
            </a:avLst>
          </a:prstGeom>
          <a:solidFill>
            <a:srgbClr val="F4EFFF"/>
          </a:solidFill>
          <a:ln w="19050">
            <a:solidFill>
              <a:srgbClr val="F4EFFF"/>
            </a:solidFill>
            <a:prstDash val="solid"/>
          </a:ln>
        </p:spPr>
      </p:sp>
      <p:sp>
        <p:nvSpPr>
          <p:cNvPr id="97677003" name="Text 5"/>
          <p:cNvSpPr txBox="1"/>
          <p:nvPr/>
        </p:nvSpPr>
        <p:spPr bwMode="auto">
          <a:xfrm>
            <a:off x="6601968" y="2240280"/>
            <a:ext cx="4718304" cy="1005840"/>
          </a:xfrm>
          <a:prstGeom prst="rect">
            <a:avLst/>
          </a:prstGeom>
          <a:noFill/>
          <a:ln/>
        </p:spPr>
        <p:txBody>
          <a:bodyPr wrap="square" lIns="0" tIns="0" rIns="0" bIns="0" rtlCol="0" anchor="ctr"/>
          <a:lstStyle/>
          <a:p>
            <a:pPr marL="0" indent="0" algn="ctr">
              <a:buNone/>
              <a:defRPr/>
            </a:pPr>
            <a:r>
              <a:rPr lang="en-US" sz="2600" b="1">
                <a:solidFill>
                  <a:srgbClr val="241331"/>
                </a:solidFill>
                <a:latin typeface="Arial"/>
                <a:ea typeface="Arial"/>
                <a:cs typeface="Arial"/>
              </a:rPr>
              <a:t>1. Abre el sistema…</a:t>
            </a:r>
            <a:endParaRPr lang="en-US" sz="2600"/>
          </a:p>
          <a:p>
            <a:pPr marL="0" indent="0" algn="ctr">
              <a:buNone/>
              <a:defRPr/>
            </a:pPr>
            <a:r>
              <a:rPr lang="en-US" sz="2600" b="1">
                <a:solidFill>
                  <a:srgbClr val="241331"/>
                </a:solidFill>
                <a:latin typeface="Arial"/>
                <a:ea typeface="Arial"/>
                <a:cs typeface="Arial"/>
              </a:rPr>
              <a:t>2. Captura los datos…</a:t>
            </a:r>
            <a:endParaRPr lang="en-US" sz="2600"/>
          </a:p>
        </p:txBody>
      </p:sp>
      <p:sp>
        <p:nvSpPr>
          <p:cNvPr id="1148563716" name="Shape 6"/>
          <p:cNvSpPr/>
          <p:nvPr/>
        </p:nvSpPr>
        <p:spPr bwMode="auto">
          <a:xfrm>
            <a:off x="731520" y="3794760"/>
            <a:ext cx="4937760" cy="777240"/>
          </a:xfrm>
          <a:prstGeom prst="roundRect">
            <a:avLst>
              <a:gd name="adj" fmla="val 11765"/>
            </a:avLst>
          </a:prstGeom>
          <a:solidFill>
            <a:srgbClr val="6934C6"/>
          </a:solidFill>
          <a:ln w="19050">
            <a:solidFill>
              <a:srgbClr val="6934C6"/>
            </a:solidFill>
            <a:prstDash val="solid"/>
          </a:ln>
        </p:spPr>
      </p:sp>
      <p:sp>
        <p:nvSpPr>
          <p:cNvPr id="1060585633" name="Text 7"/>
          <p:cNvSpPr txBox="1"/>
          <p:nvPr/>
        </p:nvSpPr>
        <p:spPr bwMode="auto">
          <a:xfrm>
            <a:off x="841248" y="3840480"/>
            <a:ext cx="4718304" cy="685800"/>
          </a:xfrm>
          <a:prstGeom prst="rect">
            <a:avLst/>
          </a:prstGeom>
          <a:noFill/>
          <a:ln/>
        </p:spPr>
        <p:txBody>
          <a:bodyPr wrap="square" lIns="0" tIns="0" rIns="0" bIns="0" rtlCol="0" anchor="ctr"/>
          <a:lstStyle/>
          <a:p>
            <a:pPr marL="0" indent="0" algn="ctr">
              <a:buNone/>
              <a:defRPr/>
            </a:pPr>
            <a:r>
              <a:rPr lang="en-US" sz="2900" b="1">
                <a:solidFill>
                  <a:srgbClr val="FFFFFF"/>
                </a:solidFill>
                <a:latin typeface="Arial"/>
                <a:ea typeface="Arial"/>
                <a:cs typeface="Arial"/>
              </a:rPr>
              <a:t>¡Pero hazla tú!</a:t>
            </a:r>
            <a:endParaRPr lang="en-US" sz="2900"/>
          </a:p>
        </p:txBody>
      </p:sp>
      <p:sp>
        <p:nvSpPr>
          <p:cNvPr id="1440590799" name="Shape 8"/>
          <p:cNvSpPr/>
          <p:nvPr/>
        </p:nvSpPr>
        <p:spPr bwMode="auto">
          <a:xfrm>
            <a:off x="6492240" y="3794760"/>
            <a:ext cx="4937760" cy="1097280"/>
          </a:xfrm>
          <a:prstGeom prst="roundRect">
            <a:avLst>
              <a:gd name="adj" fmla="val 8333"/>
            </a:avLst>
          </a:prstGeom>
          <a:solidFill>
            <a:srgbClr val="F4EFFF"/>
          </a:solidFill>
          <a:ln w="19050">
            <a:solidFill>
              <a:srgbClr val="F4EFFF"/>
            </a:solidFill>
            <a:prstDash val="solid"/>
          </a:ln>
        </p:spPr>
      </p:sp>
      <p:sp>
        <p:nvSpPr>
          <p:cNvPr id="149875159" name="Text 9"/>
          <p:cNvSpPr txBox="1"/>
          <p:nvPr/>
        </p:nvSpPr>
        <p:spPr bwMode="auto">
          <a:xfrm>
            <a:off x="6601968" y="3840480"/>
            <a:ext cx="4718304" cy="1005840"/>
          </a:xfrm>
          <a:prstGeom prst="rect">
            <a:avLst/>
          </a:prstGeom>
          <a:noFill/>
          <a:ln/>
        </p:spPr>
        <p:txBody>
          <a:bodyPr wrap="square" lIns="0" tIns="0" rIns="0" bIns="0" rtlCol="0" anchor="ctr"/>
          <a:lstStyle/>
          <a:p>
            <a:pPr marL="0" indent="0" algn="ctr">
              <a:buNone/>
              <a:defRPr/>
            </a:pPr>
            <a:r>
              <a:rPr lang="en-US" sz="2600" b="1">
                <a:solidFill>
                  <a:srgbClr val="241331"/>
                </a:solidFill>
                <a:latin typeface="Arial"/>
                <a:ea typeface="Arial"/>
                <a:cs typeface="Arial"/>
              </a:rPr>
              <a:t>Claro, aquí tienes</a:t>
            </a:r>
            <a:endParaRPr lang="en-US" sz="2600"/>
          </a:p>
          <a:p>
            <a:pPr marL="0" indent="0" algn="ctr">
              <a:buNone/>
              <a:defRPr/>
            </a:pPr>
            <a:r>
              <a:rPr lang="en-US" sz="2600" b="1">
                <a:solidFill>
                  <a:srgbClr val="241331"/>
                </a:solidFill>
                <a:latin typeface="Arial"/>
                <a:ea typeface="Arial"/>
                <a:cs typeface="Arial"/>
              </a:rPr>
              <a:t>las instrucciones…</a:t>
            </a:r>
            <a:endParaRPr lang="en-US" sz="2600"/>
          </a:p>
        </p:txBody>
      </p:sp>
      <p:sp>
        <p:nvSpPr>
          <p:cNvPr id="997100105" name="Shape 10"/>
          <p:cNvSpPr/>
          <p:nvPr/>
        </p:nvSpPr>
        <p:spPr bwMode="auto">
          <a:xfrm>
            <a:off x="5669280" y="2560320"/>
            <a:ext cx="822960" cy="0"/>
          </a:xfrm>
          <a:prstGeom prst="line">
            <a:avLst/>
          </a:prstGeom>
          <a:noFill/>
          <a:ln w="25400">
            <a:solidFill>
              <a:srgbClr val="6934C6"/>
            </a:solidFill>
            <a:prstDash val="solid"/>
            <a:tailEnd type="triangle"/>
          </a:ln>
        </p:spPr>
      </p:sp>
      <p:sp>
        <p:nvSpPr>
          <p:cNvPr id="1237466339" name="Shape 11"/>
          <p:cNvSpPr/>
          <p:nvPr/>
        </p:nvSpPr>
        <p:spPr bwMode="auto">
          <a:xfrm>
            <a:off x="5669280" y="4160519"/>
            <a:ext cx="822960" cy="0"/>
          </a:xfrm>
          <a:prstGeom prst="line">
            <a:avLst/>
          </a:prstGeom>
          <a:noFill/>
          <a:ln w="25400">
            <a:solidFill>
              <a:srgbClr val="6934C6"/>
            </a:solidFill>
            <a:prstDash val="solid"/>
            <a:tailEnd type="triangle"/>
          </a:ln>
        </p:spPr>
      </p:sp>
      <p:sp>
        <p:nvSpPr>
          <p:cNvPr id="1907961957" name="Text 12"/>
          <p:cNvSpPr txBox="1"/>
          <p:nvPr/>
        </p:nvSpPr>
        <p:spPr bwMode="auto">
          <a:xfrm>
            <a:off x="731520" y="5806440"/>
            <a:ext cx="10789920" cy="548640"/>
          </a:xfrm>
          <a:prstGeom prst="rect">
            <a:avLst/>
          </a:prstGeom>
          <a:noFill/>
          <a:ln/>
        </p:spPr>
        <p:txBody>
          <a:bodyPr wrap="square" lIns="0" tIns="0" rIns="0" bIns="0" rtlCol="0" anchor="ctr"/>
          <a:lstStyle/>
          <a:p>
            <a:pPr marL="0" indent="0" algn="ctr">
              <a:buNone/>
              <a:defRPr/>
            </a:pPr>
            <a:r>
              <a:rPr lang="en-US" sz="2900" b="1">
                <a:solidFill>
                  <a:srgbClr val="6934C6"/>
                </a:solidFill>
                <a:latin typeface="Arial"/>
                <a:ea typeface="Arial"/>
                <a:cs typeface="Arial"/>
              </a:rPr>
              <a:t>Sin herramientas: más texto. Facturas generadas: 0.</a:t>
            </a:r>
            <a:endParaRPr lang="en-US" sz="2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291244"/>
        </a:solidFill>
      </p:bgPr>
    </p:bg>
    <p:spTree>
      <p:nvGrpSpPr>
        <p:cNvPr id="1" name=""/>
        <p:cNvGrpSpPr/>
        <p:nvPr/>
      </p:nvGrpSpPr>
      <p:grpSpPr bwMode="auto">
        <a:xfrm>
          <a:off x="0" y="0"/>
          <a:ext cx="0" cy="0"/>
          <a:chOff x="0" y="0"/>
          <a:chExt cx="0" cy="0"/>
        </a:xfrm>
      </p:grpSpPr>
      <p:sp>
        <p:nvSpPr>
          <p:cNvPr id="39227088" name="Text 0"/>
          <p:cNvSpPr txBox="1"/>
          <p:nvPr/>
        </p:nvSpPr>
        <p:spPr bwMode="auto">
          <a:xfrm>
            <a:off x="777240" y="640080"/>
            <a:ext cx="10607040" cy="502920"/>
          </a:xfrm>
          <a:prstGeom prst="rect">
            <a:avLst/>
          </a:prstGeom>
          <a:noFill/>
          <a:ln/>
        </p:spPr>
        <p:txBody>
          <a:bodyPr wrap="square" lIns="0" tIns="0" rIns="0" bIns="0" rtlCol="0" anchor="ctr"/>
          <a:lstStyle/>
          <a:p>
            <a:pPr marL="0" indent="0">
              <a:buNone/>
              <a:defRPr/>
            </a:pPr>
            <a:r>
              <a:rPr lang="en-US" sz="2200" b="1">
                <a:solidFill>
                  <a:srgbClr val="D5F46A"/>
                </a:solidFill>
                <a:latin typeface="Arial"/>
                <a:ea typeface="Arial"/>
                <a:cs typeface="Arial"/>
              </a:rPr>
              <a:t>ACTO III</a:t>
            </a:r>
            <a:endParaRPr lang="en-US" sz="2200"/>
          </a:p>
        </p:txBody>
      </p:sp>
      <p:sp>
        <p:nvSpPr>
          <p:cNvPr id="1118770121" name="Text 1"/>
          <p:cNvSpPr txBox="1"/>
          <p:nvPr/>
        </p:nvSpPr>
        <p:spPr bwMode="auto">
          <a:xfrm>
            <a:off x="777240" y="1554480"/>
            <a:ext cx="10607040" cy="1188720"/>
          </a:xfrm>
          <a:prstGeom prst="rect">
            <a:avLst/>
          </a:prstGeom>
          <a:noFill/>
          <a:ln/>
        </p:spPr>
        <p:txBody>
          <a:bodyPr wrap="square" lIns="0" tIns="0" rIns="0" bIns="0" rtlCol="0" anchor="ctr"/>
          <a:lstStyle/>
          <a:p>
            <a:pPr marL="0" indent="0">
              <a:buNone/>
              <a:defRPr/>
            </a:pPr>
            <a:r>
              <a:rPr lang="en-US" sz="4000" b="1">
                <a:solidFill>
                  <a:srgbClr val="FFFFFF"/>
                </a:solidFill>
                <a:latin typeface="Arial"/>
                <a:ea typeface="Arial"/>
                <a:cs typeface="Arial"/>
              </a:rPr>
              <a:t>Le damos un cuerpo</a:t>
            </a:r>
            <a:endParaRPr lang="en-US" sz="4000"/>
          </a:p>
        </p:txBody>
      </p:sp>
      <p:sp>
        <p:nvSpPr>
          <p:cNvPr id="212448067" name="Text 2"/>
          <p:cNvSpPr txBox="1"/>
          <p:nvPr/>
        </p:nvSpPr>
        <p:spPr bwMode="auto">
          <a:xfrm>
            <a:off x="777240" y="3200400"/>
            <a:ext cx="10515600" cy="2103120"/>
          </a:xfrm>
          <a:prstGeom prst="rect">
            <a:avLst/>
          </a:prstGeom>
          <a:noFill/>
          <a:ln/>
        </p:spPr>
        <p:txBody>
          <a:bodyPr wrap="square" lIns="0" tIns="0" rIns="0" bIns="0" rtlCol="0" anchor="ctr"/>
          <a:lstStyle/>
          <a:p>
            <a:pPr marL="0" indent="0">
              <a:buNone/>
              <a:defRPr/>
            </a:pPr>
            <a:r>
              <a:rPr lang="en-US" sz="5100" b="1">
                <a:solidFill>
                  <a:srgbClr val="FFFFFF"/>
                </a:solidFill>
                <a:latin typeface="Arial"/>
                <a:ea typeface="Arial"/>
                <a:cs typeface="Arial"/>
              </a:rPr>
              <a:t>Ya da consejos.</a:t>
            </a:r>
            <a:endParaRPr lang="en-US" sz="5100"/>
          </a:p>
          <a:p>
            <a:pPr marL="0" indent="0">
              <a:buNone/>
              <a:defRPr/>
            </a:pPr>
            <a:r>
              <a:rPr lang="en-US" sz="5100" b="1">
                <a:solidFill>
                  <a:srgbClr val="FFFFFF"/>
                </a:solidFill>
                <a:latin typeface="Arial"/>
                <a:ea typeface="Arial"/>
                <a:cs typeface="Arial"/>
              </a:rPr>
              <a:t>Ahora que haga algo.</a:t>
            </a:r>
            <a:endParaRPr lang="en-US" sz="5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FFFFF"/>
        </a:solidFill>
      </p:bgPr>
    </p:bg>
    <p:spTree>
      <p:nvGrpSpPr>
        <p:cNvPr id="1" name=""/>
        <p:cNvGrpSpPr/>
        <p:nvPr/>
      </p:nvGrpSpPr>
      <p:grpSpPr bwMode="auto">
        <a:xfrm>
          <a:off x="0" y="0"/>
          <a:ext cx="0" cy="0"/>
          <a:chOff x="0" y="0"/>
          <a:chExt cx="0" cy="0"/>
        </a:xfrm>
      </p:grpSpPr>
      <p:sp>
        <p:nvSpPr>
          <p:cNvPr id="651672078"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ACTO III   /   LE DAMOS UN CUERPO</a:t>
            </a:r>
            <a:endParaRPr lang="en-US" sz="1400"/>
          </a:p>
        </p:txBody>
      </p:sp>
      <p:sp>
        <p:nvSpPr>
          <p:cNvPr id="1818943357"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n-US" sz="3800" b="1">
                <a:solidFill>
                  <a:srgbClr val="241331"/>
                </a:solidFill>
                <a:latin typeface="Arial"/>
                <a:ea typeface="Arial"/>
                <a:cs typeface="Arial"/>
              </a:rPr>
              <a:t>Del “te explico” al “lo hago”.</a:t>
            </a:r>
            <a:endParaRPr lang="en-US" sz="3800"/>
          </a:p>
        </p:txBody>
      </p:sp>
      <p:pic>
        <p:nvPicPr>
          <p:cNvPr id="924256244" name="Image 0" descr="assets/7_alex_as_agent_with_tools.png"/>
          <p:cNvPicPr>
            <a:picLocks noChangeAspect="1"/>
          </p:cNvPicPr>
          <p:nvPr/>
        </p:nvPicPr>
        <p:blipFill rotWithShape="1">
          <a:blip r:embed="rId3"/>
          <a:stretch/>
        </p:blipFill>
        <p:spPr bwMode="auto">
          <a:xfrm>
            <a:off x="4160519" y="2011680"/>
            <a:ext cx="3886200" cy="3886200"/>
          </a:xfrm>
          <a:prstGeom prst="rect">
            <a:avLst/>
          </a:prstGeom>
        </p:spPr>
      </p:pic>
      <p:sp>
        <p:nvSpPr>
          <p:cNvPr id="1369166392" name="Text 2"/>
          <p:cNvSpPr txBox="1"/>
          <p:nvPr/>
        </p:nvSpPr>
        <p:spPr bwMode="auto">
          <a:xfrm>
            <a:off x="731520" y="2423160"/>
            <a:ext cx="2971800" cy="548640"/>
          </a:xfrm>
          <a:prstGeom prst="rect">
            <a:avLst/>
          </a:prstGeom>
          <a:noFill/>
          <a:ln/>
        </p:spPr>
        <p:txBody>
          <a:bodyPr wrap="square" lIns="0" tIns="0" rIns="0" bIns="0" rtlCol="0" anchor="ctr"/>
          <a:lstStyle/>
          <a:p>
            <a:pPr marL="0" indent="0">
              <a:buNone/>
              <a:defRPr/>
            </a:pPr>
            <a:r>
              <a:rPr lang="en-US" sz="3500" b="1">
                <a:solidFill>
                  <a:srgbClr val="6934C6"/>
                </a:solidFill>
                <a:latin typeface="Arial"/>
                <a:ea typeface="Arial"/>
                <a:cs typeface="Arial"/>
              </a:rPr>
              <a:t>LLM</a:t>
            </a:r>
            <a:endParaRPr lang="en-US" sz="3500"/>
          </a:p>
        </p:txBody>
      </p:sp>
      <p:sp>
        <p:nvSpPr>
          <p:cNvPr id="350419882" name="Text 3"/>
          <p:cNvSpPr txBox="1"/>
          <p:nvPr/>
        </p:nvSpPr>
        <p:spPr bwMode="auto">
          <a:xfrm>
            <a:off x="731520" y="3017519"/>
            <a:ext cx="2971800" cy="502920"/>
          </a:xfrm>
          <a:prstGeom prst="rect">
            <a:avLst/>
          </a:prstGeom>
          <a:noFill/>
          <a:ln/>
        </p:spPr>
        <p:txBody>
          <a:bodyPr wrap="square" lIns="0" tIns="0" rIns="0" bIns="0" rtlCol="0" anchor="ctr"/>
          <a:lstStyle/>
          <a:p>
            <a:pPr marL="0" indent="0">
              <a:buNone/>
              <a:defRPr/>
            </a:pPr>
            <a:r>
              <a:rPr lang="en-US" sz="2400">
                <a:solidFill>
                  <a:srgbClr val="241331"/>
                </a:solidFill>
                <a:latin typeface="Arial"/>
                <a:ea typeface="Arial"/>
                <a:cs typeface="Arial"/>
              </a:rPr>
              <a:t>el cerebro</a:t>
            </a:r>
            <a:endParaRPr lang="en-US" sz="2400"/>
          </a:p>
        </p:txBody>
      </p:sp>
      <p:sp>
        <p:nvSpPr>
          <p:cNvPr id="1367620462" name="Shape 4"/>
          <p:cNvSpPr/>
          <p:nvPr/>
        </p:nvSpPr>
        <p:spPr bwMode="auto">
          <a:xfrm>
            <a:off x="3246120" y="2971800"/>
            <a:ext cx="960120" cy="0"/>
          </a:xfrm>
          <a:prstGeom prst="line">
            <a:avLst/>
          </a:prstGeom>
          <a:noFill/>
          <a:ln w="25400">
            <a:solidFill>
              <a:srgbClr val="6934C6"/>
            </a:solidFill>
            <a:prstDash val="solid"/>
          </a:ln>
        </p:spPr>
      </p:sp>
      <p:sp>
        <p:nvSpPr>
          <p:cNvPr id="1899853134" name="Text 5"/>
          <p:cNvSpPr txBox="1"/>
          <p:nvPr/>
        </p:nvSpPr>
        <p:spPr bwMode="auto">
          <a:xfrm>
            <a:off x="8412480" y="2423160"/>
            <a:ext cx="3017519" cy="548640"/>
          </a:xfrm>
          <a:prstGeom prst="rect">
            <a:avLst/>
          </a:prstGeom>
          <a:noFill/>
          <a:ln/>
        </p:spPr>
        <p:txBody>
          <a:bodyPr wrap="square" lIns="0" tIns="0" rIns="0" bIns="0" rtlCol="0" anchor="ctr"/>
          <a:lstStyle/>
          <a:p>
            <a:pPr marL="0" indent="0">
              <a:buNone/>
              <a:defRPr/>
            </a:pPr>
            <a:r>
              <a:rPr lang="en-US" sz="3500" b="1">
                <a:solidFill>
                  <a:srgbClr val="6934C6"/>
                </a:solidFill>
                <a:latin typeface="Arial"/>
                <a:ea typeface="Arial"/>
                <a:cs typeface="Arial"/>
              </a:rPr>
              <a:t>TOOLS</a:t>
            </a:r>
            <a:endParaRPr lang="en-US" sz="3500"/>
          </a:p>
        </p:txBody>
      </p:sp>
      <p:sp>
        <p:nvSpPr>
          <p:cNvPr id="1328303221" name="Text 6"/>
          <p:cNvSpPr txBox="1"/>
          <p:nvPr/>
        </p:nvSpPr>
        <p:spPr bwMode="auto">
          <a:xfrm>
            <a:off x="8412480" y="3017519"/>
            <a:ext cx="3200400" cy="502920"/>
          </a:xfrm>
          <a:prstGeom prst="rect">
            <a:avLst/>
          </a:prstGeom>
          <a:noFill/>
          <a:ln/>
        </p:spPr>
        <p:txBody>
          <a:bodyPr wrap="square" lIns="0" tIns="0" rIns="0" bIns="0" rtlCol="0" anchor="ctr"/>
          <a:lstStyle/>
          <a:p>
            <a:pPr marL="0" indent="0">
              <a:buNone/>
              <a:defRPr/>
            </a:pPr>
            <a:r>
              <a:rPr lang="en-US" sz="2400">
                <a:solidFill>
                  <a:srgbClr val="241331"/>
                </a:solidFill>
                <a:latin typeface="Arial"/>
                <a:ea typeface="Arial"/>
                <a:cs typeface="Arial"/>
              </a:rPr>
              <a:t>las capacidades</a:t>
            </a:r>
            <a:endParaRPr lang="en-US" sz="2400"/>
          </a:p>
        </p:txBody>
      </p:sp>
      <p:sp>
        <p:nvSpPr>
          <p:cNvPr id="1057160727" name="Shape 7"/>
          <p:cNvSpPr/>
          <p:nvPr/>
        </p:nvSpPr>
        <p:spPr bwMode="auto">
          <a:xfrm>
            <a:off x="7955280" y="2971800"/>
            <a:ext cx="320040" cy="0"/>
          </a:xfrm>
          <a:prstGeom prst="line">
            <a:avLst/>
          </a:prstGeom>
          <a:noFill/>
          <a:ln w="25400">
            <a:solidFill>
              <a:srgbClr val="6934C6"/>
            </a:solidFill>
            <a:prstDash val="solid"/>
          </a:ln>
        </p:spPr>
      </p:sp>
      <p:sp>
        <p:nvSpPr>
          <p:cNvPr id="1015139390" name="Shape 8"/>
          <p:cNvSpPr/>
          <p:nvPr/>
        </p:nvSpPr>
        <p:spPr bwMode="auto">
          <a:xfrm>
            <a:off x="2148840" y="5852160"/>
            <a:ext cx="7863840" cy="530352"/>
          </a:xfrm>
          <a:prstGeom prst="roundRect">
            <a:avLst>
              <a:gd name="adj" fmla="val 17241"/>
            </a:avLst>
          </a:prstGeom>
          <a:solidFill>
            <a:srgbClr val="241331"/>
          </a:solidFill>
          <a:ln w="19050">
            <a:solidFill>
              <a:srgbClr val="241331"/>
            </a:solidFill>
            <a:prstDash val="solid"/>
          </a:ln>
        </p:spPr>
      </p:sp>
      <p:sp>
        <p:nvSpPr>
          <p:cNvPr id="2023217071" name="Text 9"/>
          <p:cNvSpPr txBox="1"/>
          <p:nvPr/>
        </p:nvSpPr>
        <p:spPr bwMode="auto">
          <a:xfrm>
            <a:off x="2258568" y="5888736"/>
            <a:ext cx="7644384" cy="457200"/>
          </a:xfrm>
          <a:prstGeom prst="rect">
            <a:avLst/>
          </a:prstGeom>
          <a:noFill/>
          <a:ln/>
        </p:spPr>
        <p:txBody>
          <a:bodyPr wrap="square" lIns="0" tIns="0" rIns="0" bIns="0" rtlCol="0" anchor="ctr"/>
          <a:lstStyle/>
          <a:p>
            <a:pPr marL="0" indent="0" algn="ctr">
              <a:buNone/>
              <a:defRPr/>
            </a:pPr>
            <a:r>
              <a:rPr lang="en-US" sz="2500" b="1">
                <a:solidFill>
                  <a:srgbClr val="FFFFFF"/>
                </a:solidFill>
                <a:latin typeface="Arial"/>
                <a:ea typeface="Arial"/>
                <a:cs typeface="Arial"/>
              </a:rPr>
              <a:t>AGENTE = decide + ejecuta + observa</a:t>
            </a:r>
            <a:endParaRPr lang="en-US" sz="2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FFFFF"/>
        </a:solidFill>
      </p:bgPr>
    </p:bg>
    <p:spTree>
      <p:nvGrpSpPr>
        <p:cNvPr id="1" name=""/>
        <p:cNvGrpSpPr/>
        <p:nvPr/>
      </p:nvGrpSpPr>
      <p:grpSpPr bwMode="auto">
        <a:xfrm>
          <a:off x="0" y="0"/>
          <a:ext cx="0" cy="0"/>
          <a:chOff x="0" y="0"/>
          <a:chExt cx="0" cy="0"/>
        </a:xfrm>
      </p:grpSpPr>
      <p:sp>
        <p:nvSpPr>
          <p:cNvPr id="1943788647"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UNA VUELTA DEL CICLO</a:t>
            </a:r>
            <a:endParaRPr lang="en-US" sz="1400"/>
          </a:p>
        </p:txBody>
      </p:sp>
      <p:sp>
        <p:nvSpPr>
          <p:cNvPr id="1581963973"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n-US" sz="3800" b="1">
                <a:solidFill>
                  <a:srgbClr val="241331"/>
                </a:solidFill>
                <a:latin typeface="Arial"/>
                <a:ea typeface="Arial"/>
                <a:cs typeface="Arial"/>
              </a:rPr>
              <a:t>Una llamada. Un resultado. Una respuesta.</a:t>
            </a:r>
            <a:endParaRPr lang="en-US" sz="3800"/>
          </a:p>
        </p:txBody>
      </p:sp>
      <p:sp>
        <p:nvSpPr>
          <p:cNvPr id="398218220" name="Text 2"/>
          <p:cNvSpPr txBox="1"/>
          <p:nvPr/>
        </p:nvSpPr>
        <p:spPr bwMode="auto">
          <a:xfrm>
            <a:off x="594360" y="2148840"/>
            <a:ext cx="2468880" cy="457200"/>
          </a:xfrm>
          <a:prstGeom prst="rect">
            <a:avLst/>
          </a:prstGeom>
          <a:noFill/>
          <a:ln/>
        </p:spPr>
        <p:txBody>
          <a:bodyPr wrap="square" lIns="0" tIns="0" rIns="0" bIns="0" rtlCol="0" anchor="ctr"/>
          <a:lstStyle/>
          <a:p>
            <a:pPr marL="0" indent="0">
              <a:buNone/>
              <a:defRPr/>
            </a:pPr>
            <a:r>
              <a:rPr lang="en-US" sz="2100" b="1">
                <a:solidFill>
                  <a:srgbClr val="6934C6"/>
                </a:solidFill>
                <a:latin typeface="Arial"/>
                <a:ea typeface="Arial"/>
                <a:cs typeface="Arial"/>
              </a:rPr>
              <a:t>Usuario</a:t>
            </a:r>
            <a:endParaRPr lang="en-US" sz="2100"/>
          </a:p>
        </p:txBody>
      </p:sp>
      <p:sp>
        <p:nvSpPr>
          <p:cNvPr id="1785931045" name="Shape 3"/>
          <p:cNvSpPr/>
          <p:nvPr/>
        </p:nvSpPr>
        <p:spPr bwMode="auto">
          <a:xfrm>
            <a:off x="3063240" y="3657600"/>
            <a:ext cx="365760" cy="0"/>
          </a:xfrm>
          <a:prstGeom prst="line">
            <a:avLst/>
          </a:prstGeom>
          <a:noFill/>
          <a:ln w="25400">
            <a:solidFill>
              <a:srgbClr val="6934C6"/>
            </a:solidFill>
            <a:prstDash val="solid"/>
            <a:tailEnd type="triangle"/>
          </a:ln>
        </p:spPr>
      </p:sp>
      <p:sp>
        <p:nvSpPr>
          <p:cNvPr id="503894343" name="Text 4"/>
          <p:cNvSpPr txBox="1"/>
          <p:nvPr/>
        </p:nvSpPr>
        <p:spPr bwMode="auto">
          <a:xfrm>
            <a:off x="3520440" y="2148840"/>
            <a:ext cx="2468880" cy="457200"/>
          </a:xfrm>
          <a:prstGeom prst="rect">
            <a:avLst/>
          </a:prstGeom>
          <a:noFill/>
          <a:ln/>
        </p:spPr>
        <p:txBody>
          <a:bodyPr wrap="square" lIns="0" tIns="0" rIns="0" bIns="0" rtlCol="0" anchor="ctr"/>
          <a:lstStyle/>
          <a:p>
            <a:pPr marL="0" indent="0">
              <a:buNone/>
              <a:defRPr/>
            </a:pPr>
            <a:r>
              <a:rPr lang="en-US" sz="2100" b="1">
                <a:solidFill>
                  <a:srgbClr val="6934C6"/>
                </a:solidFill>
                <a:latin typeface="Arial"/>
                <a:ea typeface="Arial"/>
                <a:cs typeface="Arial"/>
              </a:rPr>
              <a:t>LLM propone</a:t>
            </a:r>
            <a:endParaRPr lang="en-US" sz="2100"/>
          </a:p>
        </p:txBody>
      </p:sp>
      <p:sp>
        <p:nvSpPr>
          <p:cNvPr id="904409028" name="Shape 5"/>
          <p:cNvSpPr/>
          <p:nvPr/>
        </p:nvSpPr>
        <p:spPr bwMode="auto">
          <a:xfrm>
            <a:off x="5989320" y="3657600"/>
            <a:ext cx="365760" cy="0"/>
          </a:xfrm>
          <a:prstGeom prst="line">
            <a:avLst/>
          </a:prstGeom>
          <a:noFill/>
          <a:ln w="25400">
            <a:solidFill>
              <a:srgbClr val="6934C6"/>
            </a:solidFill>
            <a:prstDash val="solid"/>
            <a:tailEnd type="triangle"/>
          </a:ln>
        </p:spPr>
      </p:sp>
      <p:sp>
        <p:nvSpPr>
          <p:cNvPr id="708780690" name="Text 6"/>
          <p:cNvSpPr txBox="1"/>
          <p:nvPr/>
        </p:nvSpPr>
        <p:spPr bwMode="auto">
          <a:xfrm>
            <a:off x="6446520" y="2148840"/>
            <a:ext cx="2286000" cy="457200"/>
          </a:xfrm>
          <a:prstGeom prst="rect">
            <a:avLst/>
          </a:prstGeom>
          <a:noFill/>
          <a:ln/>
        </p:spPr>
        <p:txBody>
          <a:bodyPr wrap="square" lIns="0" tIns="0" rIns="0" bIns="0" rtlCol="0" anchor="ctr"/>
          <a:lstStyle/>
          <a:p>
            <a:pPr marL="0" indent="0">
              <a:buNone/>
              <a:defRPr/>
            </a:pPr>
            <a:r>
              <a:rPr lang="en-US" sz="2100" b="1">
                <a:solidFill>
                  <a:srgbClr val="6934C6"/>
                </a:solidFill>
                <a:latin typeface="Arial"/>
                <a:ea typeface="Arial"/>
                <a:cs typeface="Arial"/>
              </a:rPr>
              <a:t>Runtime ejecuta</a:t>
            </a:r>
            <a:endParaRPr lang="en-US" sz="2100"/>
          </a:p>
        </p:txBody>
      </p:sp>
      <p:sp>
        <p:nvSpPr>
          <p:cNvPr id="1040252930" name="Shape 7"/>
          <p:cNvSpPr/>
          <p:nvPr/>
        </p:nvSpPr>
        <p:spPr bwMode="auto">
          <a:xfrm>
            <a:off x="8732520" y="3657600"/>
            <a:ext cx="365760" cy="0"/>
          </a:xfrm>
          <a:prstGeom prst="line">
            <a:avLst/>
          </a:prstGeom>
          <a:noFill/>
          <a:ln w="25400">
            <a:solidFill>
              <a:srgbClr val="6934C6"/>
            </a:solidFill>
            <a:prstDash val="solid"/>
            <a:tailEnd type="triangle"/>
          </a:ln>
        </p:spPr>
      </p:sp>
      <p:sp>
        <p:nvSpPr>
          <p:cNvPr id="1471338762" name="Text 8"/>
          <p:cNvSpPr txBox="1"/>
          <p:nvPr/>
        </p:nvSpPr>
        <p:spPr bwMode="auto">
          <a:xfrm>
            <a:off x="9189720" y="2148840"/>
            <a:ext cx="2423160" cy="457200"/>
          </a:xfrm>
          <a:prstGeom prst="rect">
            <a:avLst/>
          </a:prstGeom>
          <a:noFill/>
          <a:ln/>
        </p:spPr>
        <p:txBody>
          <a:bodyPr wrap="square" lIns="0" tIns="0" rIns="0" bIns="0" rtlCol="0" anchor="ctr"/>
          <a:lstStyle/>
          <a:p>
            <a:pPr marL="0" indent="0">
              <a:buNone/>
              <a:defRPr/>
            </a:pPr>
            <a:r>
              <a:rPr lang="en-US" sz="2100" b="1">
                <a:solidFill>
                  <a:srgbClr val="6934C6"/>
                </a:solidFill>
                <a:latin typeface="Arial"/>
                <a:ea typeface="Arial"/>
                <a:cs typeface="Arial"/>
              </a:rPr>
              <a:t>LLM responde</a:t>
            </a:r>
            <a:endParaRPr lang="en-US" sz="2100"/>
          </a:p>
        </p:txBody>
      </p:sp>
      <p:sp>
        <p:nvSpPr>
          <p:cNvPr id="1293473112" name="Shape 9"/>
          <p:cNvSpPr/>
          <p:nvPr/>
        </p:nvSpPr>
        <p:spPr bwMode="auto">
          <a:xfrm>
            <a:off x="594360" y="2971800"/>
            <a:ext cx="2468880" cy="1508759"/>
          </a:xfrm>
          <a:prstGeom prst="roundRect">
            <a:avLst>
              <a:gd name="adj" fmla="val 6061"/>
            </a:avLst>
          </a:prstGeom>
          <a:solidFill>
            <a:srgbClr val="F4EFFF"/>
          </a:solidFill>
          <a:ln w="19050">
            <a:solidFill>
              <a:srgbClr val="F4EFFF"/>
            </a:solidFill>
            <a:prstDash val="solid"/>
          </a:ln>
        </p:spPr>
      </p:sp>
      <p:sp>
        <p:nvSpPr>
          <p:cNvPr id="1553487604" name="Text 10"/>
          <p:cNvSpPr txBox="1"/>
          <p:nvPr/>
        </p:nvSpPr>
        <p:spPr bwMode="auto">
          <a:xfrm>
            <a:off x="704088" y="3017519"/>
            <a:ext cx="2249424" cy="1417320"/>
          </a:xfrm>
          <a:prstGeom prst="rect">
            <a:avLst/>
          </a:prstGeom>
          <a:noFill/>
          <a:ln/>
        </p:spPr>
        <p:txBody>
          <a:bodyPr wrap="square" lIns="0" tIns="0" rIns="0" bIns="0" rtlCol="0" anchor="ctr"/>
          <a:lstStyle/>
          <a:p>
            <a:pPr marL="0" indent="0" algn="ctr">
              <a:buNone/>
              <a:defRPr/>
            </a:pPr>
            <a:r>
              <a:rPr lang="en-US" sz="2600" b="1">
                <a:solidFill>
                  <a:srgbClr val="241331"/>
                </a:solidFill>
                <a:latin typeface="Arial"/>
                <a:ea typeface="Arial"/>
                <a:cs typeface="Arial"/>
              </a:rPr>
              <a:t>¿Cuánto</a:t>
            </a:r>
            <a:endParaRPr lang="en-US" sz="2600"/>
          </a:p>
          <a:p>
            <a:pPr marL="0" indent="0" algn="ctr">
              <a:buNone/>
              <a:defRPr/>
            </a:pPr>
            <a:r>
              <a:rPr lang="en-US" sz="2600" b="1">
                <a:solidFill>
                  <a:srgbClr val="241331"/>
                </a:solidFill>
                <a:latin typeface="Arial"/>
                <a:ea typeface="Arial"/>
                <a:cs typeface="Arial"/>
              </a:rPr>
              <a:t>vendimos ayer?</a:t>
            </a:r>
            <a:endParaRPr lang="en-US" sz="2600"/>
          </a:p>
        </p:txBody>
      </p:sp>
      <p:sp>
        <p:nvSpPr>
          <p:cNvPr id="2071742548" name="Shape 11"/>
          <p:cNvSpPr/>
          <p:nvPr/>
        </p:nvSpPr>
        <p:spPr bwMode="auto">
          <a:xfrm>
            <a:off x="3520440" y="2971800"/>
            <a:ext cx="2468880" cy="1508759"/>
          </a:xfrm>
          <a:prstGeom prst="roundRect">
            <a:avLst>
              <a:gd name="adj" fmla="val 6061"/>
            </a:avLst>
          </a:prstGeom>
          <a:solidFill>
            <a:srgbClr val="291244"/>
          </a:solidFill>
          <a:ln w="19050">
            <a:solidFill>
              <a:srgbClr val="291244"/>
            </a:solidFill>
            <a:prstDash val="solid"/>
          </a:ln>
        </p:spPr>
      </p:sp>
      <p:sp>
        <p:nvSpPr>
          <p:cNvPr id="678198146" name="Text 12"/>
          <p:cNvSpPr txBox="1"/>
          <p:nvPr/>
        </p:nvSpPr>
        <p:spPr bwMode="auto">
          <a:xfrm>
            <a:off x="3630168" y="3017519"/>
            <a:ext cx="2249424" cy="1417320"/>
          </a:xfrm>
          <a:prstGeom prst="rect">
            <a:avLst/>
          </a:prstGeom>
          <a:noFill/>
          <a:ln/>
        </p:spPr>
        <p:txBody>
          <a:bodyPr wrap="square" lIns="0" tIns="0" rIns="0" bIns="0" rtlCol="0" anchor="ctr"/>
          <a:lstStyle/>
          <a:p>
            <a:pPr marL="0" indent="0" algn="ctr">
              <a:buNone/>
              <a:defRPr/>
            </a:pPr>
            <a:r>
              <a:rPr lang="en-US" sz="1600" b="1">
                <a:solidFill>
                  <a:srgbClr val="FFFFFF"/>
                </a:solidFill>
                <a:latin typeface="Arial"/>
                <a:ea typeface="Arial"/>
                <a:cs typeface="Arial"/>
              </a:rPr>
              <a:t>consultar_ventas</a:t>
            </a:r>
            <a:endParaRPr lang="en-US" sz="1600"/>
          </a:p>
          <a:p>
            <a:pPr marL="0" indent="0" algn="ctr">
              <a:buNone/>
              <a:defRPr/>
            </a:pPr>
            <a:r>
              <a:rPr lang="en-US" sz="1600" b="1">
                <a:solidFill>
                  <a:srgbClr val="FFFFFF"/>
                </a:solidFill>
                <a:latin typeface="Arial"/>
                <a:ea typeface="Arial"/>
                <a:cs typeface="Arial"/>
              </a:rPr>
              <a:t>fecha="2026-09-29"</a:t>
            </a:r>
            <a:endParaRPr lang="en-US" sz="1600"/>
          </a:p>
        </p:txBody>
      </p:sp>
      <p:sp>
        <p:nvSpPr>
          <p:cNvPr id="1590919079" name="Shape 13"/>
          <p:cNvSpPr/>
          <p:nvPr/>
        </p:nvSpPr>
        <p:spPr bwMode="auto">
          <a:xfrm>
            <a:off x="6446520" y="2971800"/>
            <a:ext cx="2286000" cy="1508759"/>
          </a:xfrm>
          <a:prstGeom prst="roundRect">
            <a:avLst>
              <a:gd name="adj" fmla="val 6061"/>
            </a:avLst>
          </a:prstGeom>
          <a:solidFill>
            <a:srgbClr val="F4EFFF"/>
          </a:solidFill>
          <a:ln w="19050">
            <a:solidFill>
              <a:srgbClr val="F4EFFF"/>
            </a:solidFill>
            <a:prstDash val="solid"/>
          </a:ln>
        </p:spPr>
      </p:sp>
      <p:sp>
        <p:nvSpPr>
          <p:cNvPr id="535671266" name="Text 14"/>
          <p:cNvSpPr txBox="1"/>
          <p:nvPr/>
        </p:nvSpPr>
        <p:spPr bwMode="auto">
          <a:xfrm>
            <a:off x="6556248" y="3017519"/>
            <a:ext cx="2066544" cy="1417320"/>
          </a:xfrm>
          <a:prstGeom prst="rect">
            <a:avLst/>
          </a:prstGeom>
          <a:noFill/>
          <a:ln/>
        </p:spPr>
        <p:txBody>
          <a:bodyPr wrap="square" lIns="0" tIns="0" rIns="0" bIns="0" rtlCol="0" anchor="ctr"/>
          <a:lstStyle/>
          <a:p>
            <a:pPr marL="0" indent="0" algn="ctr">
              <a:buNone/>
              <a:defRPr/>
            </a:pPr>
            <a:r>
              <a:rPr lang="en-US" sz="1700" b="1">
                <a:solidFill>
                  <a:srgbClr val="241331"/>
                </a:solidFill>
                <a:latin typeface="Arial"/>
                <a:ea typeface="Arial"/>
                <a:cs typeface="Arial"/>
              </a:rPr>
              <a:t>{"total": 42000,</a:t>
            </a:r>
            <a:endParaRPr lang="en-US" sz="1700"/>
          </a:p>
          <a:p>
            <a:pPr marL="0" indent="0" algn="ctr">
              <a:buNone/>
              <a:defRPr/>
            </a:pPr>
            <a:r>
              <a:rPr lang="en-US" sz="1700" b="1">
                <a:solidFill>
                  <a:srgbClr val="241331"/>
                </a:solidFill>
                <a:latin typeface="Arial"/>
                <a:ea typeface="Arial"/>
                <a:cs typeface="Arial"/>
              </a:rPr>
              <a:t> "moneda": "MXN"}</a:t>
            </a:r>
            <a:endParaRPr lang="en-US" sz="1700"/>
          </a:p>
        </p:txBody>
      </p:sp>
      <p:sp>
        <p:nvSpPr>
          <p:cNvPr id="584548713" name="Shape 15"/>
          <p:cNvSpPr/>
          <p:nvPr/>
        </p:nvSpPr>
        <p:spPr bwMode="auto">
          <a:xfrm>
            <a:off x="9189720" y="2971800"/>
            <a:ext cx="2423160" cy="1508759"/>
          </a:xfrm>
          <a:prstGeom prst="roundRect">
            <a:avLst>
              <a:gd name="adj" fmla="val 6061"/>
            </a:avLst>
          </a:prstGeom>
          <a:solidFill>
            <a:srgbClr val="D5F46A"/>
          </a:solidFill>
          <a:ln w="19050">
            <a:solidFill>
              <a:srgbClr val="D5F46A"/>
            </a:solidFill>
            <a:prstDash val="solid"/>
          </a:ln>
        </p:spPr>
      </p:sp>
      <p:sp>
        <p:nvSpPr>
          <p:cNvPr id="1709694047" name="Text 16"/>
          <p:cNvSpPr txBox="1"/>
          <p:nvPr/>
        </p:nvSpPr>
        <p:spPr bwMode="auto">
          <a:xfrm>
            <a:off x="9299448" y="3017519"/>
            <a:ext cx="2203704" cy="1417320"/>
          </a:xfrm>
          <a:prstGeom prst="rect">
            <a:avLst/>
          </a:prstGeom>
          <a:noFill/>
          <a:ln/>
        </p:spPr>
        <p:txBody>
          <a:bodyPr wrap="square" lIns="0" tIns="0" rIns="0" bIns="0" rtlCol="0" anchor="ctr"/>
          <a:lstStyle/>
          <a:p>
            <a:pPr marL="0" indent="0" algn="ctr">
              <a:buNone/>
              <a:defRPr/>
            </a:pPr>
            <a:r>
              <a:rPr lang="en-US" sz="2400" b="1">
                <a:solidFill>
                  <a:srgbClr val="241331"/>
                </a:solidFill>
                <a:latin typeface="Arial"/>
                <a:ea typeface="Arial"/>
                <a:cs typeface="Arial"/>
              </a:rPr>
              <a:t>Ayer vendimos</a:t>
            </a:r>
            <a:endParaRPr lang="en-US" sz="2400"/>
          </a:p>
          <a:p>
            <a:pPr marL="0" indent="0" algn="ctr">
              <a:buNone/>
              <a:defRPr/>
            </a:pPr>
            <a:r>
              <a:rPr lang="en-US" sz="2400" b="1">
                <a:solidFill>
                  <a:srgbClr val="241331"/>
                </a:solidFill>
                <a:latin typeface="Arial"/>
                <a:ea typeface="Arial"/>
                <a:cs typeface="Arial"/>
              </a:rPr>
              <a:t>$42,000 MXN.</a:t>
            </a:r>
            <a:endParaRPr lang="en-US" sz="2400"/>
          </a:p>
        </p:txBody>
      </p:sp>
      <p:sp>
        <p:nvSpPr>
          <p:cNvPr id="1427176114" name="Text 17"/>
          <p:cNvSpPr txBox="1"/>
          <p:nvPr/>
        </p:nvSpPr>
        <p:spPr bwMode="auto">
          <a:xfrm>
            <a:off x="594360" y="5486400"/>
            <a:ext cx="10972800" cy="548640"/>
          </a:xfrm>
          <a:prstGeom prst="rect">
            <a:avLst/>
          </a:prstGeom>
          <a:noFill/>
          <a:ln/>
        </p:spPr>
        <p:txBody>
          <a:bodyPr wrap="square" lIns="0" tIns="0" rIns="0" bIns="0" rtlCol="0" anchor="ctr"/>
          <a:lstStyle/>
          <a:p>
            <a:pPr marL="0" indent="0" algn="ctr">
              <a:buNone/>
              <a:defRPr/>
            </a:pPr>
            <a:r>
              <a:rPr lang="en-US" sz="2800" b="1">
                <a:solidFill>
                  <a:srgbClr val="6934C6"/>
                </a:solidFill>
                <a:latin typeface="Arial"/>
                <a:ea typeface="Arial"/>
                <a:cs typeface="Arial"/>
              </a:rPr>
              <a:t>Tool calling ya existía antes de MCP.</a:t>
            </a:r>
            <a:endParaRPr lang="en-US"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FFFFF"/>
        </a:solidFill>
      </p:bgPr>
    </p:bg>
    <p:spTree>
      <p:nvGrpSpPr>
        <p:cNvPr id="1" name=""/>
        <p:cNvGrpSpPr/>
        <p:nvPr/>
      </p:nvGrpSpPr>
      <p:grpSpPr bwMode="auto">
        <a:xfrm>
          <a:off x="0" y="0"/>
          <a:ext cx="0" cy="0"/>
          <a:chOff x="0" y="0"/>
          <a:chExt cx="0" cy="0"/>
        </a:xfrm>
      </p:grpSpPr>
      <p:sp>
        <p:nvSpPr>
          <p:cNvPr id="347440799"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ACTO III   /   LE </a:t>
            </a:r>
            <a:r>
              <a:rPr lang="en-US" sz="1400" b="1">
                <a:solidFill>
                  <a:srgbClr val="7443CA"/>
                </a:solidFill>
                <a:latin typeface="Arial"/>
                <a:ea typeface="Arial"/>
                <a:cs typeface="Arial"/>
              </a:rPr>
              <a:t>DAMOS </a:t>
            </a:r>
            <a:r>
              <a:rPr lang="en-US" sz="1400" b="1">
                <a:solidFill>
                  <a:srgbClr val="6934C6"/>
                </a:solidFill>
                <a:latin typeface="Arial"/>
                <a:ea typeface="Arial"/>
                <a:cs typeface="Arial"/>
              </a:rPr>
              <a:t>UN CUERPO</a:t>
            </a:r>
            <a:endParaRPr lang="en-US" sz="1400"/>
          </a:p>
        </p:txBody>
      </p:sp>
      <p:sp>
        <p:nvSpPr>
          <p:cNvPr id="124290061"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s-ES" sz="3800" b="1">
                <a:solidFill>
                  <a:srgbClr val="241331"/>
                </a:solidFill>
                <a:latin typeface="Arial"/>
                <a:ea typeface="Arial"/>
                <a:cs typeface="Arial"/>
              </a:rPr>
              <a:t>¿Y cómo se conecta a mis otras aplicaciónes?</a:t>
            </a:r>
            <a:endParaRPr lang="en-US" sz="3800"/>
          </a:p>
        </p:txBody>
      </p:sp>
      <p:pic>
        <p:nvPicPr>
          <p:cNvPr id="753609580" name=""/>
          <p:cNvPicPr>
            <a:picLocks noChangeAspect="1"/>
          </p:cNvPicPr>
          <p:nvPr/>
        </p:nvPicPr>
        <p:blipFill rotWithShape="1">
          <a:blip r:embed="rId3"/>
          <a:stretch/>
        </p:blipFill>
        <p:spPr bwMode="auto">
          <a:xfrm flipH="0" flipV="0">
            <a:off x="6949952" y="1776778"/>
            <a:ext cx="3385121" cy="4108938"/>
          </a:xfrm>
          <a:prstGeom prst="rect">
            <a:avLst/>
          </a:prstGeom>
        </p:spPr>
      </p:pic>
      <p:pic>
        <p:nvPicPr>
          <p:cNvPr id="1469616653" name=""/>
          <p:cNvPicPr>
            <a:picLocks noChangeAspect="1"/>
          </p:cNvPicPr>
          <p:nvPr/>
        </p:nvPicPr>
        <p:blipFill rotWithShape="1">
          <a:blip r:embed="rId4"/>
          <a:stretch/>
        </p:blipFill>
        <p:spPr bwMode="auto">
          <a:xfrm flipH="0" flipV="0">
            <a:off x="1870240" y="3334833"/>
            <a:ext cx="1232437" cy="1142251"/>
          </a:xfrm>
          <a:prstGeom prst="rect">
            <a:avLst/>
          </a:prstGeom>
        </p:spPr>
      </p:pic>
      <p:pic>
        <p:nvPicPr>
          <p:cNvPr id="211941463" name=""/>
          <p:cNvPicPr>
            <a:picLocks noChangeAspect="1"/>
          </p:cNvPicPr>
          <p:nvPr/>
        </p:nvPicPr>
        <p:blipFill rotWithShape="1">
          <a:blip r:embed="rId5"/>
          <a:stretch/>
        </p:blipFill>
        <p:spPr bwMode="auto">
          <a:xfrm flipH="0" flipV="0">
            <a:off x="3221697" y="4796494"/>
            <a:ext cx="1218143" cy="1218143"/>
          </a:xfrm>
          <a:prstGeom prst="rect">
            <a:avLst/>
          </a:prstGeom>
        </p:spPr>
      </p:pic>
      <p:pic>
        <p:nvPicPr>
          <p:cNvPr id="1563010085" name=""/>
          <p:cNvPicPr>
            <a:picLocks noChangeAspect="1"/>
          </p:cNvPicPr>
          <p:nvPr/>
        </p:nvPicPr>
        <p:blipFill rotWithShape="1">
          <a:blip r:embed="rId6"/>
          <a:stretch/>
        </p:blipFill>
        <p:spPr bwMode="auto">
          <a:xfrm flipH="0" flipV="0">
            <a:off x="4159543" y="3185411"/>
            <a:ext cx="1074603" cy="1291672"/>
          </a:xfrm>
          <a:prstGeom prst="rect">
            <a:avLst/>
          </a:prstGeom>
        </p:spPr>
      </p:pic>
      <p:pic>
        <p:nvPicPr>
          <p:cNvPr id="609259935" name=""/>
          <p:cNvPicPr>
            <a:picLocks noChangeAspect="1"/>
          </p:cNvPicPr>
          <p:nvPr/>
        </p:nvPicPr>
        <p:blipFill rotWithShape="1">
          <a:blip r:embed="rId7"/>
          <a:stretch/>
        </p:blipFill>
        <p:spPr bwMode="auto">
          <a:xfrm flipH="0" flipV="0">
            <a:off x="2823438" y="2383211"/>
            <a:ext cx="1616402" cy="1131481"/>
          </a:xfrm>
          <a:prstGeom prst="rect">
            <a:avLst/>
          </a:prstGeom>
        </p:spPr>
      </p:pic>
      <p:pic>
        <p:nvPicPr>
          <p:cNvPr id="1736063401" name=""/>
          <p:cNvPicPr>
            <a:picLocks noChangeAspect="1"/>
          </p:cNvPicPr>
          <p:nvPr/>
        </p:nvPicPr>
        <p:blipFill rotWithShape="1">
          <a:blip r:embed="rId8"/>
          <a:stretch/>
        </p:blipFill>
        <p:spPr bwMode="auto">
          <a:xfrm flipH="0" flipV="0">
            <a:off x="4696845" y="4679930"/>
            <a:ext cx="1334709" cy="1334709"/>
          </a:xfrm>
          <a:prstGeom prst="flowChartAlternateProcess">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291244"/>
        </a:solidFill>
      </p:bgPr>
    </p:bg>
    <p:spTree>
      <p:nvGrpSpPr>
        <p:cNvPr id="1" name=""/>
        <p:cNvGrpSpPr/>
        <p:nvPr/>
      </p:nvGrpSpPr>
      <p:grpSpPr bwMode="auto">
        <a:xfrm>
          <a:off x="0" y="0"/>
          <a:ext cx="0" cy="0"/>
          <a:chOff x="0" y="0"/>
          <a:chExt cx="0" cy="0"/>
        </a:xfrm>
      </p:grpSpPr>
      <p:sp>
        <p:nvSpPr>
          <p:cNvPr id="1061803339" name="Text 0"/>
          <p:cNvSpPr txBox="1"/>
          <p:nvPr/>
        </p:nvSpPr>
        <p:spPr bwMode="auto">
          <a:xfrm>
            <a:off x="777240" y="640080"/>
            <a:ext cx="10607040" cy="502920"/>
          </a:xfrm>
          <a:prstGeom prst="rect">
            <a:avLst/>
          </a:prstGeom>
          <a:noFill/>
          <a:ln/>
        </p:spPr>
        <p:txBody>
          <a:bodyPr wrap="square" lIns="0" tIns="0" rIns="0" bIns="0" rtlCol="0" anchor="ctr"/>
          <a:lstStyle/>
          <a:p>
            <a:pPr marL="0" indent="0">
              <a:buNone/>
              <a:defRPr/>
            </a:pPr>
            <a:r>
              <a:rPr lang="en-US" sz="2200" b="1">
                <a:solidFill>
                  <a:srgbClr val="D5F46A"/>
                </a:solidFill>
                <a:latin typeface="Arial"/>
                <a:ea typeface="Arial"/>
                <a:cs typeface="Arial"/>
              </a:rPr>
              <a:t>ACTO IV</a:t>
            </a:r>
            <a:endParaRPr lang="en-US" sz="2200"/>
          </a:p>
        </p:txBody>
      </p:sp>
      <p:sp>
        <p:nvSpPr>
          <p:cNvPr id="1572615420" name="Text 1"/>
          <p:cNvSpPr txBox="1"/>
          <p:nvPr/>
        </p:nvSpPr>
        <p:spPr bwMode="auto">
          <a:xfrm>
            <a:off x="777240" y="1554480"/>
            <a:ext cx="10607040" cy="1188720"/>
          </a:xfrm>
          <a:prstGeom prst="rect">
            <a:avLst/>
          </a:prstGeom>
          <a:noFill/>
          <a:ln/>
        </p:spPr>
        <p:txBody>
          <a:bodyPr wrap="square" lIns="0" tIns="0" rIns="0" bIns="0" rtlCol="0" anchor="ctr"/>
          <a:lstStyle/>
          <a:p>
            <a:pPr marL="0" indent="0">
              <a:buNone/>
              <a:defRPr/>
            </a:pPr>
            <a:r>
              <a:rPr lang="en-US" sz="4000" b="1">
                <a:solidFill>
                  <a:srgbClr val="FFFFFF"/>
                </a:solidFill>
                <a:latin typeface="Arial"/>
                <a:ea typeface="Arial"/>
                <a:cs typeface="Arial"/>
              </a:rPr>
              <a:t>El infierno de las integraciones</a:t>
            </a:r>
            <a:endParaRPr lang="en-US" sz="4000"/>
          </a:p>
        </p:txBody>
      </p:sp>
      <p:sp>
        <p:nvSpPr>
          <p:cNvPr id="721813948" name="Text 2"/>
          <p:cNvSpPr txBox="1"/>
          <p:nvPr/>
        </p:nvSpPr>
        <p:spPr bwMode="auto">
          <a:xfrm>
            <a:off x="777240" y="3200400"/>
            <a:ext cx="10515600" cy="2103120"/>
          </a:xfrm>
          <a:prstGeom prst="rect">
            <a:avLst/>
          </a:prstGeom>
          <a:noFill/>
          <a:ln/>
        </p:spPr>
        <p:txBody>
          <a:bodyPr wrap="square" lIns="0" tIns="0" rIns="0" bIns="0" rtlCol="0" anchor="ctr"/>
          <a:lstStyle/>
          <a:p>
            <a:pPr marL="0" indent="0">
              <a:buNone/>
              <a:defRPr/>
            </a:pPr>
            <a:r>
              <a:rPr lang="en-US" sz="5100" b="1">
                <a:solidFill>
                  <a:srgbClr val="FFFFFF"/>
                </a:solidFill>
                <a:latin typeface="Arial"/>
                <a:ea typeface="Arial"/>
                <a:cs typeface="Arial"/>
              </a:rPr>
              <a:t>“Solo hay que</a:t>
            </a:r>
            <a:endParaRPr lang="en-US" sz="5100"/>
          </a:p>
          <a:p>
            <a:pPr marL="0" indent="0">
              <a:buNone/>
              <a:defRPr/>
            </a:pPr>
            <a:r>
              <a:rPr lang="en-US" sz="5100" b="1">
                <a:solidFill>
                  <a:srgbClr val="FFFFFF"/>
                </a:solidFill>
                <a:latin typeface="Arial"/>
                <a:ea typeface="Arial"/>
                <a:cs typeface="Arial"/>
              </a:rPr>
              <a:t>conectarlo a la API”.</a:t>
            </a:r>
            <a:endParaRPr lang="en-US" sz="5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FFFFF"/>
        </a:solidFill>
      </p:bgPr>
    </p:bg>
    <p:spTree>
      <p:nvGrpSpPr>
        <p:cNvPr id="1" name=""/>
        <p:cNvGrpSpPr/>
        <p:nvPr/>
      </p:nvGrpSpPr>
      <p:grpSpPr bwMode="auto">
        <a:xfrm>
          <a:off x="0" y="0"/>
          <a:ext cx="0" cy="0"/>
          <a:chOff x="0" y="0"/>
          <a:chExt cx="0" cy="0"/>
        </a:xfrm>
      </p:grpSpPr>
      <p:sp>
        <p:nvSpPr>
          <p:cNvPr id="1603429558"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7443CA"/>
                </a:solidFill>
                <a:latin typeface="Arial"/>
                <a:ea typeface="Arial"/>
                <a:cs typeface="Arial"/>
              </a:rPr>
              <a:t>ACTO IV   /   </a:t>
            </a:r>
            <a:r>
              <a:rPr lang="en-US" sz="1400" b="1">
                <a:solidFill>
                  <a:srgbClr val="7443CA"/>
                </a:solidFill>
                <a:latin typeface="Arial"/>
                <a:ea typeface="Arial"/>
                <a:cs typeface="Arial"/>
              </a:rPr>
              <a:t>EL INFIERNO DE LAS INTEGRACIONES</a:t>
            </a:r>
            <a:endParaRPr sz="1400">
              <a:solidFill>
                <a:srgbClr val="7443CA"/>
              </a:solidFill>
            </a:endParaRPr>
          </a:p>
        </p:txBody>
      </p:sp>
      <p:sp>
        <p:nvSpPr>
          <p:cNvPr id="1299382449" name="Text 1"/>
          <p:cNvSpPr txBox="1"/>
          <p:nvPr/>
        </p:nvSpPr>
        <p:spPr bwMode="auto">
          <a:xfrm>
            <a:off x="594360" y="932688"/>
            <a:ext cx="5029199" cy="1097280"/>
          </a:xfrm>
          <a:prstGeom prst="rect">
            <a:avLst/>
          </a:prstGeom>
          <a:noFill/>
          <a:ln/>
        </p:spPr>
        <p:txBody>
          <a:bodyPr wrap="square" lIns="0" tIns="0" rIns="0" bIns="0" rtlCol="0" anchor="ctr"/>
          <a:lstStyle/>
          <a:p>
            <a:pPr>
              <a:defRPr/>
            </a:pPr>
            <a:r>
              <a:rPr lang="en-US" sz="7200" b="1">
                <a:solidFill>
                  <a:srgbClr val="7443CA"/>
                </a:solidFill>
                <a:latin typeface="Arial"/>
                <a:ea typeface="Arial"/>
                <a:cs typeface="Arial"/>
              </a:rPr>
              <a:t>“Solo</a:t>
            </a:r>
            <a:r>
              <a:rPr lang="en-US" sz="7200" b="1">
                <a:solidFill>
                  <a:srgbClr val="7443CA"/>
                </a:solidFill>
                <a:latin typeface="Arial"/>
                <a:ea typeface="Arial"/>
                <a:cs typeface="Arial"/>
              </a:rPr>
              <a:t>”</a:t>
            </a:r>
            <a:endParaRPr sz="7200">
              <a:solidFill>
                <a:schemeClr val="tx1"/>
              </a:solidFill>
            </a:endParaRPr>
          </a:p>
        </p:txBody>
      </p:sp>
      <p:pic>
        <p:nvPicPr>
          <p:cNvPr id="334126010" name="Image 0" descr="assets/8_alex_as_dev_making_connectors_by_hand.png"/>
          <p:cNvPicPr>
            <a:picLocks noChangeAspect="1"/>
          </p:cNvPicPr>
          <p:nvPr/>
        </p:nvPicPr>
        <p:blipFill rotWithShape="1">
          <a:blip r:embed="rId3"/>
          <a:stretch/>
        </p:blipFill>
        <p:spPr bwMode="auto">
          <a:xfrm>
            <a:off x="4046220" y="1417319"/>
            <a:ext cx="4343400" cy="4343400"/>
          </a:xfrm>
          <a:prstGeom prst="rect">
            <a:avLst/>
          </a:prstGeom>
        </p:spPr>
      </p:pic>
      <p:sp>
        <p:nvSpPr>
          <p:cNvPr id="1782241532" name="Text 2"/>
          <p:cNvSpPr txBox="1"/>
          <p:nvPr/>
        </p:nvSpPr>
        <p:spPr bwMode="auto">
          <a:xfrm>
            <a:off x="731520" y="2514599"/>
            <a:ext cx="2926080" cy="594360"/>
          </a:xfrm>
          <a:prstGeom prst="rect">
            <a:avLst/>
          </a:prstGeom>
          <a:noFill/>
          <a:ln/>
        </p:spPr>
        <p:txBody>
          <a:bodyPr wrap="square" lIns="0" tIns="0" rIns="0" bIns="0" rtlCol="0" anchor="ctr"/>
          <a:lstStyle/>
          <a:p>
            <a:pPr marL="0" indent="0">
              <a:buNone/>
              <a:defRPr/>
            </a:pPr>
            <a:r>
              <a:rPr lang="en-US" sz="3000" b="1">
                <a:solidFill>
                  <a:schemeClr val="tx1"/>
                </a:solidFill>
                <a:latin typeface="Arial"/>
                <a:ea typeface="Arial"/>
                <a:cs typeface="Arial"/>
              </a:rPr>
              <a:t>OAuth</a:t>
            </a:r>
            <a:endParaRPr sz="3000">
              <a:solidFill>
                <a:schemeClr val="tx1"/>
              </a:solidFill>
            </a:endParaRPr>
          </a:p>
        </p:txBody>
      </p:sp>
      <p:sp>
        <p:nvSpPr>
          <p:cNvPr id="576078111" name="Text 3"/>
          <p:cNvSpPr txBox="1"/>
          <p:nvPr/>
        </p:nvSpPr>
        <p:spPr bwMode="auto">
          <a:xfrm>
            <a:off x="731520" y="3749040"/>
            <a:ext cx="2926080" cy="594360"/>
          </a:xfrm>
          <a:prstGeom prst="rect">
            <a:avLst/>
          </a:prstGeom>
          <a:noFill/>
          <a:ln/>
        </p:spPr>
        <p:txBody>
          <a:bodyPr wrap="square" lIns="0" tIns="0" rIns="0" bIns="0" rtlCol="0" anchor="ctr"/>
          <a:lstStyle/>
          <a:p>
            <a:pPr marL="0" indent="0">
              <a:buNone/>
              <a:defRPr/>
            </a:pPr>
            <a:r>
              <a:rPr lang="en-US" sz="2400" b="1">
                <a:solidFill>
                  <a:schemeClr val="tx1"/>
                </a:solidFill>
                <a:latin typeface="Arial"/>
                <a:ea typeface="Arial"/>
                <a:cs typeface="Arial"/>
              </a:rPr>
              <a:t>refresh tokens</a:t>
            </a:r>
            <a:endParaRPr sz="2400">
              <a:solidFill>
                <a:schemeClr val="tx1"/>
              </a:solidFill>
            </a:endParaRPr>
          </a:p>
        </p:txBody>
      </p:sp>
      <p:sp>
        <p:nvSpPr>
          <p:cNvPr id="1430786562" name="Text 4"/>
          <p:cNvSpPr txBox="1"/>
          <p:nvPr/>
        </p:nvSpPr>
        <p:spPr bwMode="auto">
          <a:xfrm>
            <a:off x="9144000" y="2148840"/>
            <a:ext cx="2926080" cy="594360"/>
          </a:xfrm>
          <a:prstGeom prst="rect">
            <a:avLst/>
          </a:prstGeom>
          <a:noFill/>
          <a:ln/>
        </p:spPr>
        <p:txBody>
          <a:bodyPr wrap="square" lIns="0" tIns="0" rIns="0" bIns="0" rtlCol="0" anchor="ctr"/>
          <a:lstStyle/>
          <a:p>
            <a:pPr marL="0" indent="0">
              <a:buNone/>
              <a:defRPr/>
            </a:pPr>
            <a:r>
              <a:rPr lang="en-US" sz="2900" b="1">
                <a:solidFill>
                  <a:schemeClr val="tx1"/>
                </a:solidFill>
                <a:latin typeface="Arial"/>
                <a:ea typeface="Arial"/>
                <a:cs typeface="Arial"/>
              </a:rPr>
              <a:t>scopes</a:t>
            </a:r>
            <a:endParaRPr sz="2900">
              <a:solidFill>
                <a:schemeClr val="tx1"/>
              </a:solidFill>
            </a:endParaRPr>
          </a:p>
        </p:txBody>
      </p:sp>
      <p:sp>
        <p:nvSpPr>
          <p:cNvPr id="113396611" name="Text 5"/>
          <p:cNvSpPr txBox="1"/>
          <p:nvPr/>
        </p:nvSpPr>
        <p:spPr bwMode="auto">
          <a:xfrm>
            <a:off x="8458200" y="4297680"/>
            <a:ext cx="2926080" cy="594360"/>
          </a:xfrm>
          <a:prstGeom prst="rect">
            <a:avLst/>
          </a:prstGeom>
          <a:noFill/>
          <a:ln/>
        </p:spPr>
        <p:txBody>
          <a:bodyPr wrap="square" lIns="0" tIns="0" rIns="0" bIns="0" rtlCol="0" anchor="ctr"/>
          <a:lstStyle/>
          <a:p>
            <a:pPr marL="0" indent="0">
              <a:buNone/>
              <a:defRPr/>
            </a:pPr>
            <a:r>
              <a:rPr lang="en-US" sz="2200" b="1">
                <a:solidFill>
                  <a:schemeClr val="tx1"/>
                </a:solidFill>
                <a:latin typeface="Arial"/>
                <a:ea typeface="Arial"/>
                <a:cs typeface="Arial"/>
              </a:rPr>
              <a:t>SDK v2 / API v3</a:t>
            </a:r>
            <a:endParaRPr sz="2200">
              <a:solidFill>
                <a:schemeClr val="tx1"/>
              </a:solidFill>
            </a:endParaRPr>
          </a:p>
        </p:txBody>
      </p:sp>
      <p:sp>
        <p:nvSpPr>
          <p:cNvPr id="177728431" name="Text 6"/>
          <p:cNvSpPr txBox="1"/>
          <p:nvPr/>
        </p:nvSpPr>
        <p:spPr bwMode="auto">
          <a:xfrm>
            <a:off x="640080" y="5166360"/>
            <a:ext cx="2926080" cy="594360"/>
          </a:xfrm>
          <a:prstGeom prst="rect">
            <a:avLst/>
          </a:prstGeom>
          <a:noFill/>
          <a:ln/>
        </p:spPr>
        <p:txBody>
          <a:bodyPr wrap="square" lIns="0" tIns="0" rIns="0" bIns="0" rtlCol="0" anchor="ctr"/>
          <a:lstStyle/>
          <a:p>
            <a:pPr marL="0" indent="0">
              <a:buNone/>
              <a:defRPr/>
            </a:pPr>
            <a:r>
              <a:rPr lang="en-US" sz="2500" b="1">
                <a:solidFill>
                  <a:schemeClr val="tx1"/>
                </a:solidFill>
                <a:latin typeface="Arial"/>
                <a:ea typeface="Arial"/>
                <a:cs typeface="Arial"/>
              </a:rPr>
              <a:t>documentación</a:t>
            </a:r>
            <a:endParaRPr sz="2500">
              <a:solidFill>
                <a:schemeClr val="tx1"/>
              </a:solidFill>
            </a:endParaRPr>
          </a:p>
        </p:txBody>
      </p:sp>
      <p:sp>
        <p:nvSpPr>
          <p:cNvPr id="1566917817" name="Text 7"/>
          <p:cNvSpPr txBox="1"/>
          <p:nvPr/>
        </p:nvSpPr>
        <p:spPr bwMode="auto">
          <a:xfrm>
            <a:off x="8961120" y="3337560"/>
            <a:ext cx="2926080" cy="594360"/>
          </a:xfrm>
          <a:prstGeom prst="rect">
            <a:avLst/>
          </a:prstGeom>
          <a:noFill/>
          <a:ln/>
        </p:spPr>
        <p:txBody>
          <a:bodyPr wrap="square" lIns="0" tIns="0" rIns="0" bIns="0" rtlCol="0" anchor="ctr"/>
          <a:lstStyle/>
          <a:p>
            <a:pPr marL="0" indent="0">
              <a:buNone/>
              <a:defRPr/>
            </a:pPr>
            <a:r>
              <a:rPr lang="en-US" sz="2700" b="1">
                <a:solidFill>
                  <a:schemeClr val="tx1"/>
                </a:solidFill>
                <a:latin typeface="Arial"/>
                <a:ea typeface="Arial"/>
                <a:cs typeface="Arial"/>
              </a:rPr>
              <a:t>permisos</a:t>
            </a:r>
            <a:endParaRPr sz="2700">
              <a:solidFill>
                <a:schemeClr val="tx1"/>
              </a:solidFill>
            </a:endParaRPr>
          </a:p>
        </p:txBody>
      </p:sp>
      <p:sp>
        <p:nvSpPr>
          <p:cNvPr id="1787329103" name="Text 8"/>
          <p:cNvSpPr txBox="1"/>
          <p:nvPr/>
        </p:nvSpPr>
        <p:spPr bwMode="auto">
          <a:xfrm>
            <a:off x="640080" y="6080760"/>
            <a:ext cx="10881360" cy="411480"/>
          </a:xfrm>
          <a:prstGeom prst="rect">
            <a:avLst/>
          </a:prstGeom>
          <a:noFill/>
          <a:ln/>
        </p:spPr>
        <p:txBody>
          <a:bodyPr wrap="square" lIns="0" tIns="0" rIns="0" bIns="0" rtlCol="0" anchor="ctr"/>
          <a:lstStyle/>
          <a:p>
            <a:pPr marL="0" indent="0" algn="ctr">
              <a:buNone/>
              <a:defRPr/>
            </a:pPr>
            <a:r>
              <a:rPr lang="en-US" sz="2100">
                <a:solidFill>
                  <a:srgbClr val="7443CA"/>
                </a:solidFill>
                <a:latin typeface="Arial"/>
                <a:ea typeface="Arial"/>
                <a:cs typeface="Arial"/>
              </a:rPr>
              <a:t>Normalmente pronunciado por alguien que no va a conectarlo.</a:t>
            </a:r>
            <a:endParaRPr sz="2100">
              <a:solidFill>
                <a:srgbClr val="7443CA"/>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291244"/>
        </a:solidFill>
      </p:bgPr>
    </p:bg>
    <p:spTree>
      <p:nvGrpSpPr>
        <p:cNvPr id="1" name=""/>
        <p:cNvGrpSpPr/>
        <p:nvPr/>
      </p:nvGrpSpPr>
      <p:grpSpPr bwMode="auto">
        <a:xfrm>
          <a:off x="0" y="0"/>
          <a:ext cx="0" cy="0"/>
          <a:chOff x="0" y="0"/>
          <a:chExt cx="0" cy="0"/>
        </a:xfrm>
      </p:grpSpPr>
      <p:sp>
        <p:nvSpPr>
          <p:cNvPr id="531606564"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D5F46A"/>
                </a:solidFill>
                <a:latin typeface="Arial"/>
                <a:ea typeface="Arial"/>
                <a:cs typeface="Arial"/>
              </a:rPr>
              <a:t>ACTO V   /   DEJEMOS DE REINVENTAR LA RUEDA</a:t>
            </a:r>
            <a:endParaRPr lang="en-US" sz="1400"/>
          </a:p>
        </p:txBody>
      </p:sp>
      <p:sp>
        <p:nvSpPr>
          <p:cNvPr id="1342970690" name="Text 1"/>
          <p:cNvSpPr txBox="1"/>
          <p:nvPr/>
        </p:nvSpPr>
        <p:spPr bwMode="auto">
          <a:xfrm>
            <a:off x="640080" y="1143000"/>
            <a:ext cx="5486400" cy="1463040"/>
          </a:xfrm>
          <a:prstGeom prst="rect">
            <a:avLst/>
          </a:prstGeom>
          <a:noFill/>
          <a:ln/>
        </p:spPr>
        <p:txBody>
          <a:bodyPr wrap="square" lIns="0" tIns="0" rIns="0" bIns="0" rtlCol="0" anchor="ctr"/>
          <a:lstStyle/>
          <a:p>
            <a:pPr marL="0" indent="0">
              <a:buNone/>
              <a:defRPr/>
            </a:pPr>
            <a:r>
              <a:rPr lang="en-US" sz="10600" b="1">
                <a:solidFill>
                  <a:srgbClr val="D5F46A"/>
                </a:solidFill>
                <a:latin typeface="Arial"/>
                <a:ea typeface="Arial"/>
                <a:cs typeface="Arial"/>
              </a:rPr>
              <a:t>MCP</a:t>
            </a:r>
            <a:endParaRPr lang="en-US" sz="10600"/>
          </a:p>
        </p:txBody>
      </p:sp>
      <p:sp>
        <p:nvSpPr>
          <p:cNvPr id="48912915" name="Text 2"/>
          <p:cNvSpPr txBox="1"/>
          <p:nvPr/>
        </p:nvSpPr>
        <p:spPr bwMode="auto">
          <a:xfrm>
            <a:off x="685800" y="2907792"/>
            <a:ext cx="6949440" cy="731520"/>
          </a:xfrm>
          <a:prstGeom prst="rect">
            <a:avLst/>
          </a:prstGeom>
          <a:noFill/>
          <a:ln/>
        </p:spPr>
        <p:txBody>
          <a:bodyPr wrap="square" lIns="0" tIns="0" rIns="0" bIns="0" rtlCol="0" anchor="ctr"/>
          <a:lstStyle/>
          <a:p>
            <a:pPr marL="0" indent="0">
              <a:buNone/>
              <a:defRPr/>
            </a:pPr>
            <a:r>
              <a:rPr lang="en-US" sz="4000" b="1">
                <a:solidFill>
                  <a:srgbClr val="FFFFFF"/>
                </a:solidFill>
                <a:latin typeface="Arial"/>
                <a:ea typeface="Arial"/>
                <a:cs typeface="Arial"/>
              </a:rPr>
              <a:t>Un enchufe común.</a:t>
            </a:r>
            <a:endParaRPr lang="en-US" sz="4000"/>
          </a:p>
        </p:txBody>
      </p:sp>
      <p:sp>
        <p:nvSpPr>
          <p:cNvPr id="891210813" name="Text 3"/>
          <p:cNvSpPr txBox="1"/>
          <p:nvPr/>
        </p:nvSpPr>
        <p:spPr bwMode="auto">
          <a:xfrm>
            <a:off x="713232" y="3931920"/>
            <a:ext cx="6492240" cy="1188720"/>
          </a:xfrm>
          <a:prstGeom prst="rect">
            <a:avLst/>
          </a:prstGeom>
          <a:noFill/>
          <a:ln/>
        </p:spPr>
        <p:txBody>
          <a:bodyPr wrap="square" lIns="0" tIns="0" rIns="0" bIns="0" rtlCol="0" anchor="ctr"/>
          <a:lstStyle/>
          <a:p>
            <a:pPr marL="0" indent="0">
              <a:buNone/>
              <a:defRPr/>
            </a:pPr>
            <a:r>
              <a:rPr lang="en-US" sz="2700">
                <a:solidFill>
                  <a:srgbClr val="FFFFFF"/>
                </a:solidFill>
                <a:latin typeface="Arial"/>
                <a:ea typeface="Arial"/>
                <a:cs typeface="Arial"/>
              </a:rPr>
              <a:t>Descubrir capacidades.</a:t>
            </a:r>
            <a:endParaRPr lang="en-US" sz="2700"/>
          </a:p>
          <a:p>
            <a:pPr marL="0" indent="0">
              <a:buNone/>
              <a:defRPr/>
            </a:pPr>
            <a:r>
              <a:rPr lang="en-US" sz="2700">
                <a:solidFill>
                  <a:srgbClr val="FFFFFF"/>
                </a:solidFill>
                <a:latin typeface="Arial"/>
                <a:ea typeface="Arial"/>
                <a:cs typeface="Arial"/>
              </a:rPr>
              <a:t>Invocarlas con un contrato compartido.</a:t>
            </a:r>
            <a:endParaRPr lang="en-US" sz="2700"/>
          </a:p>
        </p:txBody>
      </p:sp>
      <p:pic>
        <p:nvPicPr>
          <p:cNvPr id="775614938" name="Image 0" descr="assets/9_alex_discovering_mcp.png"/>
          <p:cNvPicPr>
            <a:picLocks noChangeAspect="1"/>
          </p:cNvPicPr>
          <p:nvPr/>
        </p:nvPicPr>
        <p:blipFill rotWithShape="1">
          <a:blip r:embed="rId3"/>
          <a:stretch/>
        </p:blipFill>
        <p:spPr bwMode="auto">
          <a:xfrm flipH="0" flipV="0">
            <a:off x="6636580" y="793227"/>
            <a:ext cx="5271544" cy="5271544"/>
          </a:xfrm>
          <a:prstGeom prst="rect">
            <a:avLst/>
          </a:prstGeom>
        </p:spPr>
      </p:pic>
      <p:sp>
        <p:nvSpPr>
          <p:cNvPr id="1123571235" name="Text 4"/>
          <p:cNvSpPr txBox="1"/>
          <p:nvPr/>
        </p:nvSpPr>
        <p:spPr bwMode="auto">
          <a:xfrm>
            <a:off x="713232" y="5806440"/>
            <a:ext cx="8229600" cy="502920"/>
          </a:xfrm>
          <a:prstGeom prst="rect">
            <a:avLst/>
          </a:prstGeom>
          <a:noFill/>
          <a:ln/>
        </p:spPr>
        <p:txBody>
          <a:bodyPr wrap="square" lIns="0" tIns="0" rIns="0" bIns="0" rtlCol="0" anchor="ctr"/>
          <a:lstStyle/>
          <a:p>
            <a:pPr marL="0" indent="0">
              <a:buNone/>
              <a:defRPr/>
            </a:pPr>
            <a:r>
              <a:rPr lang="en-US" sz="2300">
                <a:solidFill>
                  <a:srgbClr val="D5F46A"/>
                </a:solidFill>
                <a:latin typeface="Arial"/>
                <a:ea typeface="Arial"/>
                <a:cs typeface="Arial"/>
              </a:rPr>
              <a:t>Model Context Protocol</a:t>
            </a:r>
            <a:endParaRPr lang="en-US" sz="2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bg>
      <p:bgPr shadeToTitle="0">
        <a:solidFill>
          <a:srgbClr val="FFFFFF"/>
        </a:solidFill>
      </p:bgPr>
    </p:bg>
    <p:spTree>
      <p:nvGrpSpPr>
        <p:cNvPr id="1" name=""/>
        <p:cNvGrpSpPr/>
        <p:nvPr/>
      </p:nvGrpSpPr>
      <p:grpSpPr bwMode="auto">
        <a:xfrm>
          <a:off x="0" y="0"/>
          <a:ext cx="0" cy="0"/>
          <a:chOff x="0" y="0"/>
          <a:chExt cx="0" cy="0"/>
        </a:xfrm>
      </p:grpSpPr>
      <p:sp>
        <p:nvSpPr>
          <p:cNvPr id="40578509"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LA MISMA TAREA   /   A MANO</a:t>
            </a:r>
            <a:endParaRPr lang="en-US" sz="1400"/>
          </a:p>
        </p:txBody>
      </p:sp>
      <p:sp>
        <p:nvSpPr>
          <p:cNvPr id="568782701" name="Text 1"/>
          <p:cNvSpPr txBox="1"/>
          <p:nvPr/>
        </p:nvSpPr>
        <p:spPr bwMode="auto">
          <a:xfrm>
            <a:off x="594360" y="777240"/>
            <a:ext cx="10972800" cy="685800"/>
          </a:xfrm>
          <a:prstGeom prst="rect">
            <a:avLst/>
          </a:prstGeom>
          <a:noFill/>
          <a:ln/>
        </p:spPr>
        <p:txBody>
          <a:bodyPr wrap="square" lIns="0" tIns="0" rIns="0" bIns="0" rtlCol="0" anchor="ctr"/>
          <a:lstStyle/>
          <a:p>
            <a:pPr marL="0" indent="0">
              <a:buNone/>
              <a:defRPr/>
            </a:pPr>
            <a:r>
              <a:rPr lang="en-US" sz="3900" b="1">
                <a:solidFill>
                  <a:srgbClr val="241331"/>
                </a:solidFill>
                <a:latin typeface="Arial"/>
                <a:ea typeface="Arial"/>
                <a:cs typeface="Arial"/>
              </a:rPr>
              <a:t>A mano.</a:t>
            </a:r>
            <a:endParaRPr lang="en-US" sz="3900"/>
          </a:p>
        </p:txBody>
      </p:sp>
      <p:pic>
        <p:nvPicPr>
          <p:cNvPr id="1810245393" name="Image 0" descr="assets/8_alex_as_dev_making_connectors_by_hand.png"/>
          <p:cNvPicPr>
            <a:picLocks noChangeAspect="1"/>
          </p:cNvPicPr>
          <p:nvPr/>
        </p:nvPicPr>
        <p:blipFill rotWithShape="1">
          <a:blip r:embed="rId3"/>
          <a:stretch/>
        </p:blipFill>
        <p:spPr bwMode="auto">
          <a:xfrm>
            <a:off x="3749040" y="1645920"/>
            <a:ext cx="4663440" cy="46634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7">
    <p:bg>
      <p:bgPr shadeToTitle="0">
        <a:solidFill>
          <a:srgbClr val="FFFFFF"/>
        </a:solidFill>
      </p:bgPr>
    </p:bg>
    <p:spTree>
      <p:nvGrpSpPr>
        <p:cNvPr id="1" name=""/>
        <p:cNvGrpSpPr/>
        <p:nvPr/>
      </p:nvGrpSpPr>
      <p:grpSpPr bwMode="auto">
        <a:xfrm>
          <a:off x="0" y="0"/>
          <a:ext cx="0" cy="0"/>
          <a:chOff x="0" y="0"/>
          <a:chExt cx="0" cy="0"/>
        </a:xfrm>
      </p:grpSpPr>
      <p:sp>
        <p:nvSpPr>
          <p:cNvPr id="78436021"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LA MISMA TAREA   /   CON MCP</a:t>
            </a:r>
            <a:endParaRPr lang="en-US" sz="1400"/>
          </a:p>
        </p:txBody>
      </p:sp>
      <p:sp>
        <p:nvSpPr>
          <p:cNvPr id="509474062" name="Text 1"/>
          <p:cNvSpPr txBox="1"/>
          <p:nvPr/>
        </p:nvSpPr>
        <p:spPr bwMode="auto">
          <a:xfrm>
            <a:off x="594360" y="777240"/>
            <a:ext cx="10972800" cy="685800"/>
          </a:xfrm>
          <a:prstGeom prst="rect">
            <a:avLst/>
          </a:prstGeom>
          <a:noFill/>
          <a:ln/>
        </p:spPr>
        <p:txBody>
          <a:bodyPr wrap="square" lIns="0" tIns="0" rIns="0" bIns="0" rtlCol="0" anchor="ctr"/>
          <a:lstStyle/>
          <a:p>
            <a:pPr marL="0" indent="0">
              <a:buNone/>
              <a:defRPr/>
            </a:pPr>
            <a:r>
              <a:rPr lang="en-US" sz="3900" b="1">
                <a:solidFill>
                  <a:schemeClr val="tx1"/>
                </a:solidFill>
                <a:latin typeface="Arial"/>
                <a:ea typeface="Arial"/>
                <a:cs typeface="Arial"/>
              </a:rPr>
              <a:t>Con MCP.</a:t>
            </a:r>
            <a:endParaRPr sz="3900">
              <a:solidFill>
                <a:schemeClr val="tx1"/>
              </a:solidFill>
            </a:endParaRPr>
          </a:p>
        </p:txBody>
      </p:sp>
      <p:pic>
        <p:nvPicPr>
          <p:cNvPr id="865866625" name="Image 0" descr="assets/10_alex_explaining_mcp_diagram.png"/>
          <p:cNvPicPr>
            <a:picLocks noChangeAspect="1"/>
          </p:cNvPicPr>
          <p:nvPr/>
        </p:nvPicPr>
        <p:blipFill rotWithShape="1">
          <a:blip r:embed="rId3"/>
          <a:stretch/>
        </p:blipFill>
        <p:spPr bwMode="auto">
          <a:xfrm>
            <a:off x="2583180" y="1645920"/>
            <a:ext cx="6995160" cy="46634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FFFFFF"/>
        </a:solidFill>
      </p:bgPr>
    </p:bg>
    <p:spTree>
      <p:nvGrpSpPr>
        <p:cNvPr id="1" name=""/>
        <p:cNvGrpSpPr/>
        <p:nvPr/>
      </p:nvGrpSpPr>
      <p:grpSpPr bwMode="auto">
        <a:xfrm>
          <a:off x="0" y="0"/>
          <a:ext cx="0" cy="0"/>
          <a:chOff x="0" y="0"/>
          <a:chExt cx="0" cy="0"/>
        </a:xfrm>
      </p:grpSpPr>
      <p:sp>
        <p:nvSpPr>
          <p:cNvPr id="37695741"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ANATOMÍA / TRES PREGUNTAS</a:t>
            </a:r>
            <a:endParaRPr lang="en-US" sz="1400"/>
          </a:p>
        </p:txBody>
      </p:sp>
      <p:sp>
        <p:nvSpPr>
          <p:cNvPr id="1398110274"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n-US" sz="3800" b="1">
                <a:solidFill>
                  <a:srgbClr val="241331"/>
                </a:solidFill>
                <a:latin typeface="Arial"/>
                <a:ea typeface="Arial"/>
                <a:cs typeface="Arial"/>
              </a:rPr>
              <a:t>¿Cómo llego? ¿Dónde? ¿Qué pido?</a:t>
            </a:r>
            <a:endParaRPr lang="en-US" sz="3800"/>
          </a:p>
        </p:txBody>
      </p:sp>
      <p:sp>
        <p:nvSpPr>
          <p:cNvPr id="1993330640" name="Shape 2"/>
          <p:cNvSpPr/>
          <p:nvPr/>
        </p:nvSpPr>
        <p:spPr bwMode="auto">
          <a:xfrm>
            <a:off x="640080" y="2057400"/>
            <a:ext cx="777240" cy="777240"/>
          </a:xfrm>
          <a:prstGeom prst="roundRect">
            <a:avLst>
              <a:gd name="adj" fmla="val 11765"/>
            </a:avLst>
          </a:prstGeom>
          <a:solidFill>
            <a:srgbClr val="6934C6"/>
          </a:solidFill>
          <a:ln w="19050">
            <a:solidFill>
              <a:srgbClr val="6934C6"/>
            </a:solidFill>
            <a:prstDash val="solid"/>
          </a:ln>
        </p:spPr>
      </p:sp>
      <p:sp>
        <p:nvSpPr>
          <p:cNvPr id="685242722" name="Text 3"/>
          <p:cNvSpPr txBox="1"/>
          <p:nvPr/>
        </p:nvSpPr>
        <p:spPr bwMode="auto">
          <a:xfrm>
            <a:off x="749808" y="2103120"/>
            <a:ext cx="557784" cy="685800"/>
          </a:xfrm>
          <a:prstGeom prst="rect">
            <a:avLst/>
          </a:prstGeom>
          <a:noFill/>
          <a:ln/>
        </p:spPr>
        <p:txBody>
          <a:bodyPr wrap="square" lIns="0" tIns="0" rIns="0" bIns="0" rtlCol="0" anchor="ctr"/>
          <a:lstStyle/>
          <a:p>
            <a:pPr marL="0" indent="0" algn="ctr">
              <a:buNone/>
              <a:defRPr/>
            </a:pPr>
            <a:r>
              <a:rPr lang="en-US" sz="2700" b="1">
                <a:solidFill>
                  <a:srgbClr val="FFFFFF"/>
                </a:solidFill>
                <a:latin typeface="Arial"/>
                <a:ea typeface="Arial"/>
                <a:cs typeface="Arial"/>
              </a:rPr>
              <a:t>01</a:t>
            </a:r>
            <a:endParaRPr lang="en-US" sz="2700"/>
          </a:p>
        </p:txBody>
      </p:sp>
      <p:sp>
        <p:nvSpPr>
          <p:cNvPr id="1735256236" name="Text 4"/>
          <p:cNvSpPr txBox="1"/>
          <p:nvPr/>
        </p:nvSpPr>
        <p:spPr bwMode="auto">
          <a:xfrm>
            <a:off x="1737360" y="2057400"/>
            <a:ext cx="3657600" cy="365760"/>
          </a:xfrm>
          <a:prstGeom prst="rect">
            <a:avLst/>
          </a:prstGeom>
          <a:noFill/>
          <a:ln/>
        </p:spPr>
        <p:txBody>
          <a:bodyPr wrap="square" lIns="0" tIns="0" rIns="0" bIns="0" rtlCol="0" anchor="ctr"/>
          <a:lstStyle/>
          <a:p>
            <a:pPr marL="0" indent="0">
              <a:buNone/>
              <a:defRPr/>
            </a:pPr>
            <a:r>
              <a:rPr lang="en-US" sz="1700" b="1">
                <a:solidFill>
                  <a:srgbClr val="6934C6"/>
                </a:solidFill>
                <a:latin typeface="Arial"/>
                <a:ea typeface="Arial"/>
                <a:cs typeface="Arial"/>
              </a:rPr>
              <a:t>TRANSPORTE</a:t>
            </a:r>
            <a:endParaRPr lang="en-US" sz="1700"/>
          </a:p>
        </p:txBody>
      </p:sp>
      <p:sp>
        <p:nvSpPr>
          <p:cNvPr id="1350895165" name="Text 5"/>
          <p:cNvSpPr txBox="1"/>
          <p:nvPr/>
        </p:nvSpPr>
        <p:spPr bwMode="auto">
          <a:xfrm>
            <a:off x="1737360" y="2514600"/>
            <a:ext cx="5852160" cy="594360"/>
          </a:xfrm>
          <a:prstGeom prst="rect">
            <a:avLst/>
          </a:prstGeom>
          <a:noFill/>
          <a:ln/>
        </p:spPr>
        <p:txBody>
          <a:bodyPr wrap="square" lIns="0" tIns="0" rIns="0" bIns="0" rtlCol="0" anchor="ctr"/>
          <a:lstStyle/>
          <a:p>
            <a:pPr marL="0" indent="0">
              <a:buNone/>
              <a:defRPr/>
            </a:pPr>
            <a:r>
              <a:rPr lang="en-US" sz="2700" b="1">
                <a:solidFill>
                  <a:srgbClr val="241331"/>
                </a:solidFill>
                <a:latin typeface="Courier New"/>
                <a:ea typeface="Courier New"/>
                <a:cs typeface="Courier New"/>
              </a:rPr>
              <a:t>STDIO / HTTP</a:t>
            </a:r>
            <a:endParaRPr lang="en-US" sz="2700"/>
          </a:p>
        </p:txBody>
      </p:sp>
      <p:sp>
        <p:nvSpPr>
          <p:cNvPr id="609490042" name="Text 6"/>
          <p:cNvSpPr txBox="1"/>
          <p:nvPr/>
        </p:nvSpPr>
        <p:spPr bwMode="auto">
          <a:xfrm>
            <a:off x="7955280" y="2286000"/>
            <a:ext cx="3474720" cy="731520"/>
          </a:xfrm>
          <a:prstGeom prst="rect">
            <a:avLst/>
          </a:prstGeom>
          <a:noFill/>
          <a:ln/>
        </p:spPr>
        <p:txBody>
          <a:bodyPr wrap="square" lIns="0" tIns="0" rIns="0" bIns="0" rtlCol="0" anchor="ctr"/>
          <a:lstStyle/>
          <a:p>
            <a:pPr marL="0" indent="0">
              <a:buNone/>
              <a:defRPr/>
            </a:pPr>
            <a:r>
              <a:rPr lang="en-US" sz="2300">
                <a:solidFill>
                  <a:srgbClr val="756784"/>
                </a:solidFill>
                <a:latin typeface="Arial"/>
                <a:ea typeface="Arial"/>
                <a:cs typeface="Arial"/>
              </a:rPr>
              <a:t>Cómo viaja el mensaje</a:t>
            </a:r>
            <a:endParaRPr lang="en-US" sz="2300"/>
          </a:p>
        </p:txBody>
      </p:sp>
      <p:sp>
        <p:nvSpPr>
          <p:cNvPr id="1433768102" name="Shape 7"/>
          <p:cNvSpPr/>
          <p:nvPr/>
        </p:nvSpPr>
        <p:spPr bwMode="auto">
          <a:xfrm>
            <a:off x="640080" y="3429000"/>
            <a:ext cx="777240" cy="777240"/>
          </a:xfrm>
          <a:prstGeom prst="roundRect">
            <a:avLst>
              <a:gd name="adj" fmla="val 11765"/>
            </a:avLst>
          </a:prstGeom>
          <a:solidFill>
            <a:srgbClr val="6934C6"/>
          </a:solidFill>
          <a:ln w="19050">
            <a:solidFill>
              <a:srgbClr val="6934C6"/>
            </a:solidFill>
            <a:prstDash val="solid"/>
          </a:ln>
        </p:spPr>
      </p:sp>
      <p:sp>
        <p:nvSpPr>
          <p:cNvPr id="1286687499" name="Text 8"/>
          <p:cNvSpPr txBox="1"/>
          <p:nvPr/>
        </p:nvSpPr>
        <p:spPr bwMode="auto">
          <a:xfrm>
            <a:off x="749808" y="3474720"/>
            <a:ext cx="557784" cy="685800"/>
          </a:xfrm>
          <a:prstGeom prst="rect">
            <a:avLst/>
          </a:prstGeom>
          <a:noFill/>
          <a:ln/>
        </p:spPr>
        <p:txBody>
          <a:bodyPr wrap="square" lIns="0" tIns="0" rIns="0" bIns="0" rtlCol="0" anchor="ctr"/>
          <a:lstStyle/>
          <a:p>
            <a:pPr marL="0" indent="0" algn="ctr">
              <a:buNone/>
              <a:defRPr/>
            </a:pPr>
            <a:r>
              <a:rPr lang="en-US" sz="2700" b="1">
                <a:solidFill>
                  <a:srgbClr val="FFFFFF"/>
                </a:solidFill>
                <a:latin typeface="Arial"/>
                <a:ea typeface="Arial"/>
                <a:cs typeface="Arial"/>
              </a:rPr>
              <a:t>02</a:t>
            </a:r>
            <a:endParaRPr lang="en-US" sz="2700"/>
          </a:p>
        </p:txBody>
      </p:sp>
      <p:sp>
        <p:nvSpPr>
          <p:cNvPr id="854657626" name="Text 9"/>
          <p:cNvSpPr txBox="1"/>
          <p:nvPr/>
        </p:nvSpPr>
        <p:spPr bwMode="auto">
          <a:xfrm>
            <a:off x="1737360" y="3429000"/>
            <a:ext cx="3657600" cy="365760"/>
          </a:xfrm>
          <a:prstGeom prst="rect">
            <a:avLst/>
          </a:prstGeom>
          <a:noFill/>
          <a:ln/>
        </p:spPr>
        <p:txBody>
          <a:bodyPr wrap="square" lIns="0" tIns="0" rIns="0" bIns="0" rtlCol="0" anchor="ctr"/>
          <a:lstStyle/>
          <a:p>
            <a:pPr marL="0" indent="0">
              <a:buNone/>
              <a:defRPr/>
            </a:pPr>
            <a:r>
              <a:rPr lang="en-US" sz="1700" b="1">
                <a:solidFill>
                  <a:srgbClr val="6934C6"/>
                </a:solidFill>
                <a:latin typeface="Arial"/>
                <a:ea typeface="Arial"/>
                <a:cs typeface="Arial"/>
              </a:rPr>
              <a:t>PUNTO DE ENTRADA</a:t>
            </a:r>
            <a:endParaRPr lang="en-US" sz="1700"/>
          </a:p>
        </p:txBody>
      </p:sp>
      <p:sp>
        <p:nvSpPr>
          <p:cNvPr id="1703437208" name="Text 10"/>
          <p:cNvSpPr txBox="1"/>
          <p:nvPr/>
        </p:nvSpPr>
        <p:spPr bwMode="auto">
          <a:xfrm>
            <a:off x="1737360" y="3886200"/>
            <a:ext cx="5852160" cy="594360"/>
          </a:xfrm>
          <a:prstGeom prst="rect">
            <a:avLst/>
          </a:prstGeom>
          <a:noFill/>
          <a:ln/>
        </p:spPr>
        <p:txBody>
          <a:bodyPr wrap="square" lIns="0" tIns="0" rIns="0" bIns="0" rtlCol="0" anchor="ctr"/>
          <a:lstStyle/>
          <a:p>
            <a:pPr marL="0" indent="0">
              <a:buNone/>
              <a:defRPr/>
            </a:pPr>
            <a:r>
              <a:rPr lang="en-US" sz="2700" b="1">
                <a:solidFill>
                  <a:srgbClr val="241331"/>
                </a:solidFill>
                <a:latin typeface="Courier New"/>
                <a:ea typeface="Courier New"/>
                <a:cs typeface="Courier New"/>
              </a:rPr>
              <a:t>https://api.com/mcp</a:t>
            </a:r>
            <a:endParaRPr lang="en-US" sz="2700"/>
          </a:p>
        </p:txBody>
      </p:sp>
      <p:sp>
        <p:nvSpPr>
          <p:cNvPr id="1863690198" name="Text 11"/>
          <p:cNvSpPr txBox="1"/>
          <p:nvPr/>
        </p:nvSpPr>
        <p:spPr bwMode="auto">
          <a:xfrm>
            <a:off x="7955280" y="3657600"/>
            <a:ext cx="3474720" cy="731520"/>
          </a:xfrm>
          <a:prstGeom prst="rect">
            <a:avLst/>
          </a:prstGeom>
          <a:noFill/>
          <a:ln/>
        </p:spPr>
        <p:txBody>
          <a:bodyPr wrap="square" lIns="0" tIns="0" rIns="0" bIns="0" rtlCol="0" anchor="ctr"/>
          <a:lstStyle/>
          <a:p>
            <a:pPr marL="0" indent="0">
              <a:buNone/>
              <a:defRPr/>
            </a:pPr>
            <a:r>
              <a:rPr lang="en-US" sz="2300">
                <a:solidFill>
                  <a:srgbClr val="756784"/>
                </a:solidFill>
                <a:latin typeface="Arial"/>
                <a:ea typeface="Arial"/>
                <a:cs typeface="Arial"/>
              </a:rPr>
              <a:t>Dónde hablo · sólo en HTTP</a:t>
            </a:r>
            <a:endParaRPr lang="en-US" sz="2300"/>
          </a:p>
        </p:txBody>
      </p:sp>
      <p:sp>
        <p:nvSpPr>
          <p:cNvPr id="532103354" name="Shape 12"/>
          <p:cNvSpPr/>
          <p:nvPr/>
        </p:nvSpPr>
        <p:spPr bwMode="auto">
          <a:xfrm>
            <a:off x="640080" y="4800600"/>
            <a:ext cx="777240" cy="777240"/>
          </a:xfrm>
          <a:prstGeom prst="roundRect">
            <a:avLst>
              <a:gd name="adj" fmla="val 11765"/>
            </a:avLst>
          </a:prstGeom>
          <a:solidFill>
            <a:srgbClr val="6934C6"/>
          </a:solidFill>
          <a:ln w="19050">
            <a:solidFill>
              <a:srgbClr val="6934C6"/>
            </a:solidFill>
            <a:prstDash val="solid"/>
          </a:ln>
        </p:spPr>
      </p:sp>
      <p:sp>
        <p:nvSpPr>
          <p:cNvPr id="299177475" name="Text 13"/>
          <p:cNvSpPr txBox="1"/>
          <p:nvPr/>
        </p:nvSpPr>
        <p:spPr bwMode="auto">
          <a:xfrm>
            <a:off x="749808" y="4846320"/>
            <a:ext cx="557784" cy="685800"/>
          </a:xfrm>
          <a:prstGeom prst="rect">
            <a:avLst/>
          </a:prstGeom>
          <a:noFill/>
          <a:ln/>
        </p:spPr>
        <p:txBody>
          <a:bodyPr wrap="square" lIns="0" tIns="0" rIns="0" bIns="0" rtlCol="0" anchor="ctr"/>
          <a:lstStyle/>
          <a:p>
            <a:pPr marL="0" indent="0" algn="ctr">
              <a:buNone/>
              <a:defRPr/>
            </a:pPr>
            <a:r>
              <a:rPr lang="en-US" sz="2700" b="1">
                <a:solidFill>
                  <a:srgbClr val="FFFFFF"/>
                </a:solidFill>
                <a:latin typeface="Arial"/>
                <a:ea typeface="Arial"/>
                <a:cs typeface="Arial"/>
              </a:rPr>
              <a:t>03</a:t>
            </a:r>
            <a:endParaRPr lang="en-US" sz="2700"/>
          </a:p>
        </p:txBody>
      </p:sp>
      <p:sp>
        <p:nvSpPr>
          <p:cNvPr id="1647771758" name="Text 14"/>
          <p:cNvSpPr txBox="1"/>
          <p:nvPr/>
        </p:nvSpPr>
        <p:spPr bwMode="auto">
          <a:xfrm>
            <a:off x="1737360" y="4800600"/>
            <a:ext cx="3657600" cy="365760"/>
          </a:xfrm>
          <a:prstGeom prst="rect">
            <a:avLst/>
          </a:prstGeom>
          <a:noFill/>
          <a:ln/>
        </p:spPr>
        <p:txBody>
          <a:bodyPr wrap="square" lIns="0" tIns="0" rIns="0" bIns="0" rtlCol="0" anchor="ctr"/>
          <a:lstStyle/>
          <a:p>
            <a:pPr marL="0" indent="0">
              <a:buNone/>
              <a:defRPr/>
            </a:pPr>
            <a:r>
              <a:rPr lang="en-US" sz="1700" b="1">
                <a:solidFill>
                  <a:srgbClr val="6934C6"/>
                </a:solidFill>
                <a:latin typeface="Arial"/>
                <a:ea typeface="Arial"/>
                <a:cs typeface="Arial"/>
              </a:rPr>
              <a:t>MENSAJE</a:t>
            </a:r>
            <a:endParaRPr lang="en-US" sz="1700"/>
          </a:p>
        </p:txBody>
      </p:sp>
      <p:sp>
        <p:nvSpPr>
          <p:cNvPr id="985769923" name="Text 15"/>
          <p:cNvSpPr txBox="1"/>
          <p:nvPr/>
        </p:nvSpPr>
        <p:spPr bwMode="auto">
          <a:xfrm>
            <a:off x="1737360" y="5257800"/>
            <a:ext cx="5852160" cy="594360"/>
          </a:xfrm>
          <a:prstGeom prst="rect">
            <a:avLst/>
          </a:prstGeom>
          <a:noFill/>
          <a:ln/>
        </p:spPr>
        <p:txBody>
          <a:bodyPr wrap="square" lIns="0" tIns="0" rIns="0" bIns="0" rtlCol="0" anchor="ctr"/>
          <a:lstStyle/>
          <a:p>
            <a:pPr marL="0" indent="0">
              <a:buNone/>
              <a:defRPr/>
            </a:pPr>
            <a:r>
              <a:rPr lang="en-US" sz="2700" b="1">
                <a:solidFill>
                  <a:srgbClr val="241331"/>
                </a:solidFill>
                <a:latin typeface="Courier New"/>
                <a:ea typeface="Courier New"/>
                <a:cs typeface="Courier New"/>
              </a:rPr>
              <a:t>JSON-RPC 2.0</a:t>
            </a:r>
            <a:endParaRPr lang="en-US" sz="2700"/>
          </a:p>
        </p:txBody>
      </p:sp>
      <p:sp>
        <p:nvSpPr>
          <p:cNvPr id="1402720350" name="Text 16"/>
          <p:cNvSpPr txBox="1"/>
          <p:nvPr/>
        </p:nvSpPr>
        <p:spPr bwMode="auto">
          <a:xfrm>
            <a:off x="7955280" y="5029200"/>
            <a:ext cx="3474720" cy="731520"/>
          </a:xfrm>
          <a:prstGeom prst="rect">
            <a:avLst/>
          </a:prstGeom>
          <a:noFill/>
          <a:ln/>
        </p:spPr>
        <p:txBody>
          <a:bodyPr wrap="square" lIns="0" tIns="0" rIns="0" bIns="0" rtlCol="0" anchor="ctr"/>
          <a:lstStyle/>
          <a:p>
            <a:pPr marL="0" indent="0">
              <a:buNone/>
              <a:defRPr/>
            </a:pPr>
            <a:r>
              <a:rPr lang="en-US" sz="2300">
                <a:solidFill>
                  <a:srgbClr val="756784"/>
                </a:solidFill>
                <a:latin typeface="Arial"/>
                <a:ea typeface="Arial"/>
                <a:cs typeface="Arial"/>
              </a:rPr>
              <a:t>Qué método y argumentos envío</a:t>
            </a:r>
            <a:endParaRPr lang="en-US" sz="2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1634279121"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TRANSPORTES / MISMO CONTRATO</a:t>
            </a:r>
            <a:endParaRPr lang="en-US" sz="1400"/>
          </a:p>
        </p:txBody>
      </p:sp>
      <p:sp>
        <p:nvSpPr>
          <p:cNvPr id="424592253"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n-US" sz="3800" b="1">
                <a:solidFill>
                  <a:srgbClr val="241331"/>
                </a:solidFill>
                <a:latin typeface="Arial"/>
                <a:ea typeface="Arial"/>
                <a:cs typeface="Arial"/>
              </a:rPr>
              <a:t>Mismo protocolo. Distinto camino.</a:t>
            </a:r>
            <a:endParaRPr lang="en-US" sz="3800"/>
          </a:p>
        </p:txBody>
      </p:sp>
      <p:pic>
        <p:nvPicPr>
          <p:cNvPr id="1160953427" name="Image 0" descr="assets/new/stdio_http.png"/>
          <p:cNvPicPr>
            <a:picLocks noChangeAspect="1"/>
          </p:cNvPicPr>
          <p:nvPr/>
        </p:nvPicPr>
        <p:blipFill rotWithShape="1">
          <a:blip r:embed="rId3"/>
          <a:stretch/>
        </p:blipFill>
        <p:spPr bwMode="auto">
          <a:xfrm>
            <a:off x="971550" y="1828800"/>
            <a:ext cx="6103620" cy="4069080"/>
          </a:xfrm>
          <a:prstGeom prst="rect">
            <a:avLst/>
          </a:prstGeom>
        </p:spPr>
      </p:pic>
      <p:sp>
        <p:nvSpPr>
          <p:cNvPr id="915844122" name="Text 2"/>
          <p:cNvSpPr txBox="1"/>
          <p:nvPr/>
        </p:nvSpPr>
        <p:spPr bwMode="auto">
          <a:xfrm>
            <a:off x="7680960" y="2103120"/>
            <a:ext cx="3657600" cy="548640"/>
          </a:xfrm>
          <a:prstGeom prst="rect">
            <a:avLst/>
          </a:prstGeom>
          <a:noFill/>
          <a:ln/>
        </p:spPr>
        <p:txBody>
          <a:bodyPr wrap="square" lIns="0" tIns="0" rIns="0" bIns="0" rtlCol="0" anchor="ctr"/>
          <a:lstStyle/>
          <a:p>
            <a:pPr marL="0" indent="0">
              <a:buNone/>
              <a:defRPr/>
            </a:pPr>
            <a:r>
              <a:rPr lang="en-US" sz="3000" b="1">
                <a:solidFill>
                  <a:srgbClr val="6934C6"/>
                </a:solidFill>
                <a:latin typeface="Arial"/>
                <a:ea typeface="Arial"/>
                <a:cs typeface="Arial"/>
              </a:rPr>
              <a:t>STDIO</a:t>
            </a:r>
            <a:endParaRPr lang="en-US" sz="3000"/>
          </a:p>
        </p:txBody>
      </p:sp>
      <p:sp>
        <p:nvSpPr>
          <p:cNvPr id="1946898482" name="Text 3"/>
          <p:cNvSpPr txBox="1"/>
          <p:nvPr/>
        </p:nvSpPr>
        <p:spPr bwMode="auto">
          <a:xfrm>
            <a:off x="7680960" y="2788920"/>
            <a:ext cx="3840480" cy="914400"/>
          </a:xfrm>
          <a:prstGeom prst="rect">
            <a:avLst/>
          </a:prstGeom>
          <a:noFill/>
          <a:ln/>
        </p:spPr>
        <p:txBody>
          <a:bodyPr wrap="square" lIns="0" tIns="0" rIns="0" bIns="0" rtlCol="0" anchor="ctr"/>
          <a:lstStyle/>
          <a:p>
            <a:pPr marL="0" indent="0">
              <a:buNone/>
              <a:defRPr/>
            </a:pPr>
            <a:r>
              <a:rPr lang="en-US" sz="2400">
                <a:solidFill>
                  <a:srgbClr val="241331"/>
                </a:solidFill>
                <a:latin typeface="Arial"/>
                <a:ea typeface="Arial"/>
                <a:cs typeface="Arial"/>
              </a:rPr>
              <a:t>Proceso local</a:t>
            </a:r>
            <a:endParaRPr lang="en-US" sz="2400"/>
          </a:p>
          <a:p>
            <a:pPr marL="0" indent="0">
              <a:buNone/>
              <a:defRPr/>
            </a:pPr>
            <a:r>
              <a:rPr lang="en-US" sz="2400">
                <a:solidFill>
                  <a:srgbClr val="241331"/>
                </a:solidFill>
                <a:latin typeface="Arial"/>
                <a:ea typeface="Arial"/>
                <a:cs typeface="Arial"/>
              </a:rPr>
              <a:t>stdin / stdout · sin URL</a:t>
            </a:r>
            <a:endParaRPr lang="en-US" sz="2400"/>
          </a:p>
        </p:txBody>
      </p:sp>
      <p:sp>
        <p:nvSpPr>
          <p:cNvPr id="1133653958" name="Text 4"/>
          <p:cNvSpPr txBox="1"/>
          <p:nvPr/>
        </p:nvSpPr>
        <p:spPr bwMode="auto">
          <a:xfrm>
            <a:off x="7680960" y="4023360"/>
            <a:ext cx="4023360" cy="457200"/>
          </a:xfrm>
          <a:prstGeom prst="rect">
            <a:avLst/>
          </a:prstGeom>
          <a:noFill/>
          <a:ln/>
        </p:spPr>
        <p:txBody>
          <a:bodyPr wrap="square" lIns="0" tIns="0" rIns="0" bIns="0" rtlCol="0" anchor="ctr"/>
          <a:lstStyle/>
          <a:p>
            <a:pPr marL="0" indent="0">
              <a:buNone/>
              <a:defRPr/>
            </a:pPr>
            <a:r>
              <a:rPr lang="en-US" sz="2500" b="1">
                <a:solidFill>
                  <a:srgbClr val="6934C6"/>
                </a:solidFill>
                <a:latin typeface="Arial"/>
                <a:ea typeface="Arial"/>
                <a:cs typeface="Arial"/>
              </a:rPr>
              <a:t>STREAMABLE HTTP</a:t>
            </a:r>
            <a:endParaRPr lang="en-US" sz="2500"/>
          </a:p>
        </p:txBody>
      </p:sp>
      <p:sp>
        <p:nvSpPr>
          <p:cNvPr id="194808322" name="Text 5"/>
          <p:cNvSpPr txBox="1"/>
          <p:nvPr/>
        </p:nvSpPr>
        <p:spPr bwMode="auto">
          <a:xfrm>
            <a:off x="7680960" y="4663440"/>
            <a:ext cx="3840480" cy="914400"/>
          </a:xfrm>
          <a:prstGeom prst="rect">
            <a:avLst/>
          </a:prstGeom>
          <a:noFill/>
          <a:ln/>
        </p:spPr>
        <p:txBody>
          <a:bodyPr wrap="square" lIns="0" tIns="0" rIns="0" bIns="0" rtlCol="0" anchor="ctr"/>
          <a:lstStyle/>
          <a:p>
            <a:pPr marL="0" indent="0">
              <a:buNone/>
              <a:defRPr/>
            </a:pPr>
            <a:r>
              <a:rPr lang="en-US" sz="2300">
                <a:solidFill>
                  <a:srgbClr val="241331"/>
                </a:solidFill>
                <a:latin typeface="Arial"/>
                <a:ea typeface="Arial"/>
                <a:cs typeface="Arial"/>
              </a:rPr>
              <a:t>Servicio independiente</a:t>
            </a:r>
            <a:endParaRPr lang="en-US" sz="2300"/>
          </a:p>
          <a:p>
            <a:pPr marL="0" indent="0">
              <a:buNone/>
              <a:defRPr/>
            </a:pPr>
            <a:r>
              <a:rPr lang="en-US" sz="2300">
                <a:solidFill>
                  <a:srgbClr val="241331"/>
                </a:solidFill>
                <a:latin typeface="Arial"/>
                <a:ea typeface="Arial"/>
                <a:cs typeface="Arial"/>
              </a:rPr>
              <a:t>https://api.com/mcp</a:t>
            </a:r>
            <a:endParaRPr lang="en-US" sz="2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9">
    <p:bg>
      <p:bgPr shadeToTitle="0">
        <a:solidFill>
          <a:srgbClr val="FFFFFF"/>
        </a:solidFill>
      </p:bgPr>
    </p:bg>
    <p:spTree>
      <p:nvGrpSpPr>
        <p:cNvPr id="1" name=""/>
        <p:cNvGrpSpPr/>
        <p:nvPr/>
      </p:nvGrpSpPr>
      <p:grpSpPr bwMode="auto">
        <a:xfrm>
          <a:off x="0" y="0"/>
          <a:ext cx="0" cy="0"/>
          <a:chOff x="0" y="0"/>
          <a:chExt cx="0" cy="0"/>
        </a:xfrm>
      </p:grpSpPr>
      <p:sp>
        <p:nvSpPr>
          <p:cNvPr id="1619761361"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EL SERVIDOR OFRECE UN CATÁLOGO</a:t>
            </a:r>
            <a:endParaRPr lang="en-US" sz="1400"/>
          </a:p>
        </p:txBody>
      </p:sp>
      <p:sp>
        <p:nvSpPr>
          <p:cNvPr id="351826967"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n-US" sz="3800" b="1">
                <a:solidFill>
                  <a:srgbClr val="241331"/>
                </a:solidFill>
                <a:latin typeface="Arial"/>
                <a:ea typeface="Arial"/>
                <a:cs typeface="Arial"/>
              </a:rPr>
              <a:t>Qué puedes hacer, leer y preparar.</a:t>
            </a:r>
            <a:endParaRPr lang="en-US" sz="3800"/>
          </a:p>
        </p:txBody>
      </p:sp>
      <p:sp>
        <p:nvSpPr>
          <p:cNvPr id="1467877665" name="Text 2"/>
          <p:cNvSpPr txBox="1"/>
          <p:nvPr/>
        </p:nvSpPr>
        <p:spPr bwMode="auto">
          <a:xfrm>
            <a:off x="594360" y="2103120"/>
            <a:ext cx="3474720" cy="594360"/>
          </a:xfrm>
          <a:prstGeom prst="rect">
            <a:avLst/>
          </a:prstGeom>
          <a:noFill/>
          <a:ln/>
        </p:spPr>
        <p:txBody>
          <a:bodyPr wrap="square" lIns="0" tIns="0" rIns="0" bIns="0" rtlCol="0" anchor="ctr"/>
          <a:lstStyle/>
          <a:p>
            <a:pPr marL="0" indent="0">
              <a:buNone/>
              <a:defRPr/>
            </a:pPr>
            <a:r>
              <a:rPr lang="en-US" sz="3000" b="1">
                <a:solidFill>
                  <a:srgbClr val="6934C6"/>
                </a:solidFill>
                <a:latin typeface="Arial"/>
                <a:ea typeface="Arial"/>
                <a:cs typeface="Arial"/>
              </a:rPr>
              <a:t>TOOLS</a:t>
            </a:r>
            <a:endParaRPr lang="en-US" sz="3000"/>
          </a:p>
        </p:txBody>
      </p:sp>
      <p:sp>
        <p:nvSpPr>
          <p:cNvPr id="1323716639" name="Text 3"/>
          <p:cNvSpPr txBox="1"/>
          <p:nvPr/>
        </p:nvSpPr>
        <p:spPr bwMode="auto">
          <a:xfrm>
            <a:off x="594360" y="2971800"/>
            <a:ext cx="3474720" cy="640080"/>
          </a:xfrm>
          <a:prstGeom prst="rect">
            <a:avLst/>
          </a:prstGeom>
          <a:noFill/>
          <a:ln/>
        </p:spPr>
        <p:txBody>
          <a:bodyPr wrap="square" lIns="0" tIns="0" rIns="0" bIns="0" rtlCol="0" anchor="ctr"/>
          <a:lstStyle/>
          <a:p>
            <a:pPr marL="0" indent="0">
              <a:buNone/>
              <a:defRPr/>
            </a:pPr>
            <a:r>
              <a:rPr lang="en-US" sz="2000" b="1">
                <a:solidFill>
                  <a:srgbClr val="241331"/>
                </a:solidFill>
                <a:latin typeface="Courier New"/>
                <a:ea typeface="Courier New"/>
                <a:cs typeface="Courier New"/>
              </a:rPr>
              <a:t>crear_ticket(título)</a:t>
            </a:r>
            <a:endParaRPr lang="en-US" sz="2000"/>
          </a:p>
        </p:txBody>
      </p:sp>
      <p:sp>
        <p:nvSpPr>
          <p:cNvPr id="685539334" name="Text 4"/>
          <p:cNvSpPr txBox="1"/>
          <p:nvPr/>
        </p:nvSpPr>
        <p:spPr bwMode="auto">
          <a:xfrm>
            <a:off x="594360" y="3822192"/>
            <a:ext cx="3474720" cy="502920"/>
          </a:xfrm>
          <a:prstGeom prst="rect">
            <a:avLst/>
          </a:prstGeom>
          <a:noFill/>
          <a:ln/>
        </p:spPr>
        <p:txBody>
          <a:bodyPr wrap="square" lIns="0" tIns="0" rIns="0" bIns="0" rtlCol="0" anchor="ctr"/>
          <a:lstStyle/>
          <a:p>
            <a:pPr marL="0" indent="0">
              <a:buNone/>
              <a:defRPr/>
            </a:pPr>
            <a:r>
              <a:rPr lang="en-US" sz="2300">
                <a:solidFill>
                  <a:srgbClr val="756784"/>
                </a:solidFill>
                <a:latin typeface="Arial"/>
                <a:ea typeface="Arial"/>
                <a:cs typeface="Arial"/>
              </a:rPr>
              <a:t>Ejecutar</a:t>
            </a:r>
            <a:endParaRPr lang="en-US" sz="2300"/>
          </a:p>
        </p:txBody>
      </p:sp>
      <p:sp>
        <p:nvSpPr>
          <p:cNvPr id="1317230583" name="Text 5"/>
          <p:cNvSpPr txBox="1"/>
          <p:nvPr/>
        </p:nvSpPr>
        <p:spPr bwMode="auto">
          <a:xfrm>
            <a:off x="4480560" y="2103120"/>
            <a:ext cx="3474720" cy="594360"/>
          </a:xfrm>
          <a:prstGeom prst="rect">
            <a:avLst/>
          </a:prstGeom>
          <a:noFill/>
          <a:ln/>
        </p:spPr>
        <p:txBody>
          <a:bodyPr wrap="square" lIns="0" tIns="0" rIns="0" bIns="0" rtlCol="0" anchor="ctr"/>
          <a:lstStyle/>
          <a:p>
            <a:pPr marL="0" indent="0">
              <a:buNone/>
              <a:defRPr/>
            </a:pPr>
            <a:r>
              <a:rPr lang="en-US" sz="3000" b="1">
                <a:solidFill>
                  <a:srgbClr val="6934C6"/>
                </a:solidFill>
                <a:latin typeface="Arial"/>
                <a:ea typeface="Arial"/>
                <a:cs typeface="Arial"/>
              </a:rPr>
              <a:t>RESOURCES</a:t>
            </a:r>
            <a:endParaRPr lang="en-US" sz="3000"/>
          </a:p>
        </p:txBody>
      </p:sp>
      <p:sp>
        <p:nvSpPr>
          <p:cNvPr id="101472326" name="Text 6"/>
          <p:cNvSpPr txBox="1"/>
          <p:nvPr/>
        </p:nvSpPr>
        <p:spPr bwMode="auto">
          <a:xfrm>
            <a:off x="4480560" y="2971800"/>
            <a:ext cx="3474720" cy="640080"/>
          </a:xfrm>
          <a:prstGeom prst="rect">
            <a:avLst/>
          </a:prstGeom>
          <a:noFill/>
          <a:ln/>
        </p:spPr>
        <p:txBody>
          <a:bodyPr wrap="square" lIns="0" tIns="0" rIns="0" bIns="0" rtlCol="0" anchor="ctr"/>
          <a:lstStyle/>
          <a:p>
            <a:pPr marL="0" indent="0">
              <a:buNone/>
              <a:defRPr/>
            </a:pPr>
            <a:r>
              <a:rPr lang="en-US" sz="2000" b="1">
                <a:solidFill>
                  <a:srgbClr val="241331"/>
                </a:solidFill>
                <a:latin typeface="Courier New"/>
                <a:ea typeface="Courier New"/>
                <a:cs typeface="Courier New"/>
              </a:rPr>
              <a:t>expediente://123</a:t>
            </a:r>
            <a:endParaRPr lang="en-US" sz="2000"/>
          </a:p>
        </p:txBody>
      </p:sp>
      <p:sp>
        <p:nvSpPr>
          <p:cNvPr id="247977556" name="Text 7"/>
          <p:cNvSpPr txBox="1"/>
          <p:nvPr/>
        </p:nvSpPr>
        <p:spPr bwMode="auto">
          <a:xfrm>
            <a:off x="4480560" y="3822192"/>
            <a:ext cx="3474720" cy="502920"/>
          </a:xfrm>
          <a:prstGeom prst="rect">
            <a:avLst/>
          </a:prstGeom>
          <a:noFill/>
          <a:ln/>
        </p:spPr>
        <p:txBody>
          <a:bodyPr wrap="square" lIns="0" tIns="0" rIns="0" bIns="0" rtlCol="0" anchor="ctr"/>
          <a:lstStyle/>
          <a:p>
            <a:pPr marL="0" indent="0">
              <a:buNone/>
              <a:defRPr/>
            </a:pPr>
            <a:r>
              <a:rPr lang="en-US" sz="2300">
                <a:solidFill>
                  <a:srgbClr val="756784"/>
                </a:solidFill>
                <a:latin typeface="Arial"/>
                <a:ea typeface="Arial"/>
                <a:cs typeface="Arial"/>
              </a:rPr>
              <a:t>Leer contexto</a:t>
            </a:r>
            <a:endParaRPr lang="en-US" sz="2300"/>
          </a:p>
        </p:txBody>
      </p:sp>
      <p:sp>
        <p:nvSpPr>
          <p:cNvPr id="180510890" name="Text 8"/>
          <p:cNvSpPr txBox="1"/>
          <p:nvPr/>
        </p:nvSpPr>
        <p:spPr bwMode="auto">
          <a:xfrm>
            <a:off x="8366760" y="2103120"/>
            <a:ext cx="3474720" cy="594360"/>
          </a:xfrm>
          <a:prstGeom prst="rect">
            <a:avLst/>
          </a:prstGeom>
          <a:noFill/>
          <a:ln/>
        </p:spPr>
        <p:txBody>
          <a:bodyPr wrap="square" lIns="0" tIns="0" rIns="0" bIns="0" rtlCol="0" anchor="ctr"/>
          <a:lstStyle/>
          <a:p>
            <a:pPr marL="0" indent="0">
              <a:buNone/>
              <a:defRPr/>
            </a:pPr>
            <a:r>
              <a:rPr lang="en-US" sz="3000" b="1">
                <a:solidFill>
                  <a:srgbClr val="6934C6"/>
                </a:solidFill>
                <a:latin typeface="Arial"/>
                <a:ea typeface="Arial"/>
                <a:cs typeface="Arial"/>
              </a:rPr>
              <a:t>PROMPTS</a:t>
            </a:r>
            <a:endParaRPr lang="en-US" sz="3000"/>
          </a:p>
        </p:txBody>
      </p:sp>
      <p:sp>
        <p:nvSpPr>
          <p:cNvPr id="1849917923" name="Text 9"/>
          <p:cNvSpPr txBox="1"/>
          <p:nvPr/>
        </p:nvSpPr>
        <p:spPr bwMode="auto">
          <a:xfrm>
            <a:off x="8366760" y="2971800"/>
            <a:ext cx="3474720" cy="640080"/>
          </a:xfrm>
          <a:prstGeom prst="rect">
            <a:avLst/>
          </a:prstGeom>
          <a:noFill/>
          <a:ln/>
        </p:spPr>
        <p:txBody>
          <a:bodyPr wrap="square" lIns="0" tIns="0" rIns="0" bIns="0" rtlCol="0" anchor="ctr"/>
          <a:lstStyle/>
          <a:p>
            <a:pPr marL="0" indent="0">
              <a:buNone/>
              <a:defRPr/>
            </a:pPr>
            <a:r>
              <a:rPr lang="en-US" sz="2000" b="1">
                <a:solidFill>
                  <a:srgbClr val="241331"/>
                </a:solidFill>
                <a:latin typeface="Courier New"/>
                <a:ea typeface="Courier New"/>
                <a:cs typeface="Courier New"/>
              </a:rPr>
              <a:t>resumir_expediente</a:t>
            </a:r>
            <a:endParaRPr lang="en-US" sz="2000"/>
          </a:p>
        </p:txBody>
      </p:sp>
      <p:sp>
        <p:nvSpPr>
          <p:cNvPr id="828497974" name="Text 10"/>
          <p:cNvSpPr txBox="1"/>
          <p:nvPr/>
        </p:nvSpPr>
        <p:spPr bwMode="auto">
          <a:xfrm>
            <a:off x="8366760" y="3822192"/>
            <a:ext cx="3474720" cy="502920"/>
          </a:xfrm>
          <a:prstGeom prst="rect">
            <a:avLst/>
          </a:prstGeom>
          <a:noFill/>
          <a:ln/>
        </p:spPr>
        <p:txBody>
          <a:bodyPr wrap="square" lIns="0" tIns="0" rIns="0" bIns="0" rtlCol="0" anchor="ctr"/>
          <a:lstStyle/>
          <a:p>
            <a:pPr marL="0" indent="0">
              <a:buNone/>
              <a:defRPr/>
            </a:pPr>
            <a:r>
              <a:rPr lang="en-US" sz="2300">
                <a:solidFill>
                  <a:srgbClr val="756784"/>
                </a:solidFill>
                <a:latin typeface="Arial"/>
                <a:ea typeface="Arial"/>
                <a:cs typeface="Arial"/>
              </a:rPr>
              <a:t>Usar una plantilla</a:t>
            </a:r>
            <a:endParaRPr lang="en-US" sz="2300"/>
          </a:p>
        </p:txBody>
      </p:sp>
      <p:sp>
        <p:nvSpPr>
          <p:cNvPr id="1414617643" name="Shape 11"/>
          <p:cNvSpPr/>
          <p:nvPr/>
        </p:nvSpPr>
        <p:spPr bwMode="auto">
          <a:xfrm>
            <a:off x="594360" y="4983480"/>
            <a:ext cx="10972800" cy="1124712"/>
          </a:xfrm>
          <a:prstGeom prst="rect">
            <a:avLst/>
          </a:prstGeom>
          <a:solidFill>
            <a:srgbClr val="291244"/>
          </a:solidFill>
          <a:ln w="19050">
            <a:solidFill>
              <a:srgbClr val="291244"/>
            </a:solidFill>
            <a:prstDash val="solid"/>
          </a:ln>
        </p:spPr>
      </p:sp>
      <p:sp>
        <p:nvSpPr>
          <p:cNvPr id="1844416495" name="Text 12"/>
          <p:cNvSpPr txBox="1"/>
          <p:nvPr/>
        </p:nvSpPr>
        <p:spPr bwMode="auto">
          <a:xfrm>
            <a:off x="850392" y="5212080"/>
            <a:ext cx="10469880" cy="621792"/>
          </a:xfrm>
          <a:prstGeom prst="rect">
            <a:avLst/>
          </a:prstGeom>
          <a:noFill/>
          <a:ln/>
        </p:spPr>
        <p:txBody>
          <a:bodyPr wrap="square" lIns="0" tIns="0" rIns="0" bIns="0" rtlCol="0" anchor="ctr"/>
          <a:lstStyle/>
          <a:p>
            <a:pPr marL="0" indent="0" algn="ctr">
              <a:buNone/>
              <a:defRPr/>
            </a:pPr>
            <a:r>
              <a:rPr lang="en-US" sz="2200" b="1">
                <a:solidFill>
                  <a:srgbClr val="FFFFFF"/>
                </a:solidFill>
                <a:latin typeface="Courier New"/>
                <a:ea typeface="Courier New"/>
                <a:cs typeface="Courier New"/>
              </a:rPr>
              <a:t>Capacidades   →   tools/list   →   tools/call   →   resultado</a:t>
            </a:r>
            <a:endParaRPr lang="en-US"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FFFFF"/>
        </a:solidFill>
      </p:bgPr>
    </p:bg>
    <p:spTree>
      <p:nvGrpSpPr>
        <p:cNvPr id="1" name=""/>
        <p:cNvGrpSpPr/>
        <p:nvPr/>
      </p:nvGrpSpPr>
      <p:grpSpPr bwMode="auto">
        <a:xfrm>
          <a:off x="0" y="0"/>
          <a:ext cx="0" cy="0"/>
          <a:chOff x="0" y="0"/>
          <a:chExt cx="0" cy="0"/>
        </a:xfrm>
      </p:grpSpPr>
      <p:sp>
        <p:nvSpPr>
          <p:cNvPr id="1809785230"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CAPACIDADES / MÉTODOS, NO RUTAS REST</a:t>
            </a:r>
            <a:endParaRPr lang="en-US" sz="1400"/>
          </a:p>
        </p:txBody>
      </p:sp>
      <p:sp>
        <p:nvSpPr>
          <p:cNvPr id="412690714"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n-US" sz="3800" b="1">
                <a:solidFill>
                  <a:srgbClr val="241331"/>
                </a:solidFill>
                <a:latin typeface="Arial"/>
                <a:ea typeface="Arial"/>
                <a:cs typeface="Arial"/>
              </a:rPr>
              <a:t>Una puerta. </a:t>
            </a:r>
            <a:endParaRPr lang="en-US" sz="3800" b="1">
              <a:solidFill>
                <a:srgbClr val="241331"/>
              </a:solidFill>
              <a:latin typeface="Arial"/>
              <a:ea typeface="Arial"/>
              <a:cs typeface="Arial"/>
            </a:endParaRPr>
          </a:p>
          <a:p>
            <a:pPr marL="0" indent="0">
              <a:buNone/>
              <a:defRPr/>
            </a:pPr>
            <a:r>
              <a:rPr lang="en-US" sz="3800" b="1">
                <a:solidFill>
                  <a:srgbClr val="241331"/>
                </a:solidFill>
                <a:latin typeface="Arial"/>
                <a:ea typeface="Arial"/>
                <a:cs typeface="Arial"/>
              </a:rPr>
              <a:t>Varios tipos de pedido.</a:t>
            </a:r>
            <a:endParaRPr lang="en-US" sz="3800"/>
          </a:p>
        </p:txBody>
      </p:sp>
      <p:pic>
        <p:nvPicPr>
          <p:cNvPr id="1068140151" name="Image 0" descr="assets/new/rutas_mcp.png"/>
          <p:cNvPicPr>
            <a:picLocks noChangeAspect="1"/>
          </p:cNvPicPr>
          <p:nvPr/>
        </p:nvPicPr>
        <p:blipFill rotWithShape="1">
          <a:blip r:embed="rId3"/>
          <a:stretch/>
        </p:blipFill>
        <p:spPr bwMode="auto">
          <a:xfrm>
            <a:off x="1162782" y="2048607"/>
            <a:ext cx="4434840" cy="4434840"/>
          </a:xfrm>
          <a:prstGeom prst="rect">
            <a:avLst/>
          </a:prstGeom>
        </p:spPr>
      </p:pic>
      <p:pic>
        <p:nvPicPr>
          <p:cNvPr id="559302025" name=""/>
          <p:cNvPicPr>
            <a:picLocks noChangeAspect="1"/>
          </p:cNvPicPr>
          <p:nvPr/>
        </p:nvPicPr>
        <p:blipFill rotWithShape="1">
          <a:blip r:embed="rId4"/>
          <a:stretch/>
        </p:blipFill>
        <p:spPr bwMode="auto">
          <a:xfrm flipH="0" flipV="0">
            <a:off x="6897317" y="74297"/>
            <a:ext cx="4094941" cy="670940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291244"/>
        </a:solidFill>
      </p:bgPr>
    </p:bg>
    <p:spTree>
      <p:nvGrpSpPr>
        <p:cNvPr id="1" name=""/>
        <p:cNvGrpSpPr/>
        <p:nvPr/>
      </p:nvGrpSpPr>
      <p:grpSpPr bwMode="auto">
        <a:xfrm>
          <a:off x="0" y="0"/>
          <a:ext cx="0" cy="0"/>
          <a:chOff x="0" y="0"/>
          <a:chExt cx="0" cy="0"/>
        </a:xfrm>
      </p:grpSpPr>
      <p:sp>
        <p:nvSpPr>
          <p:cNvPr id="162889193"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D5F46A"/>
                </a:solidFill>
                <a:latin typeface="Arial"/>
                <a:ea typeface="Arial"/>
                <a:cs typeface="Arial"/>
              </a:rPr>
              <a:t>DEL MENSAJE A TU FUNCIÓN</a:t>
            </a:r>
            <a:endParaRPr lang="en-US" sz="1400"/>
          </a:p>
        </p:txBody>
      </p:sp>
      <p:sp>
        <p:nvSpPr>
          <p:cNvPr id="2137964699" name="Text 1"/>
          <p:cNvSpPr txBox="1"/>
          <p:nvPr/>
        </p:nvSpPr>
        <p:spPr bwMode="auto">
          <a:xfrm>
            <a:off x="594360" y="868680"/>
            <a:ext cx="10972800" cy="777240"/>
          </a:xfrm>
          <a:prstGeom prst="rect">
            <a:avLst/>
          </a:prstGeom>
          <a:noFill/>
          <a:ln/>
        </p:spPr>
        <p:txBody>
          <a:bodyPr wrap="square" lIns="0" tIns="0" rIns="0" bIns="0" rtlCol="0" anchor="ctr"/>
          <a:lstStyle/>
          <a:p>
            <a:pPr marL="0" indent="0">
              <a:buNone/>
              <a:defRPr/>
            </a:pPr>
            <a:r>
              <a:rPr lang="en-US" sz="3800" b="1">
                <a:solidFill>
                  <a:srgbClr val="FFFFFF"/>
                </a:solidFill>
                <a:latin typeface="Arial"/>
                <a:ea typeface="Arial"/>
                <a:cs typeface="Arial"/>
              </a:rPr>
              <a:t>Lo que mando ↔ lo que programo</a:t>
            </a:r>
            <a:endParaRPr lang="en-US" sz="3800"/>
          </a:p>
        </p:txBody>
      </p:sp>
      <p:pic>
        <p:nvPicPr>
          <p:cNvPr id="1700519724" name="Image 0" descr="assets/new/json_vs_code.png"/>
          <p:cNvPicPr>
            <a:picLocks noChangeAspect="1"/>
          </p:cNvPicPr>
          <p:nvPr/>
        </p:nvPicPr>
        <p:blipFill rotWithShape="1">
          <a:blip r:embed="rId3"/>
          <a:stretch/>
        </p:blipFill>
        <p:spPr bwMode="auto">
          <a:xfrm flipH="0" flipV="0">
            <a:off x="1961578" y="1581735"/>
            <a:ext cx="7964042" cy="53093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1705140725"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i="0" u="none" strike="noStrike" cap="none" spc="0">
                <a:solidFill>
                  <a:srgbClr val="6934C6"/>
                </a:solidFill>
                <a:latin typeface="Arial"/>
                <a:ea typeface="Arial"/>
                <a:cs typeface="Arial"/>
              </a:rPr>
              <a:t>DEL MENSAJE A TU FUNCIÓN</a:t>
            </a:r>
            <a:endParaRPr lang="en-US" sz="1400"/>
          </a:p>
        </p:txBody>
      </p:sp>
      <p:sp>
        <p:nvSpPr>
          <p:cNvPr id="1296976158"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n-US" sz="3800" b="1" i="0" u="none" strike="noStrike" cap="none" spc="0">
                <a:solidFill>
                  <a:srgbClr val="241331"/>
                </a:solidFill>
                <a:latin typeface="Arial"/>
                <a:ea typeface="Arial"/>
                <a:cs typeface="Arial"/>
              </a:rPr>
              <a:t>Lo que mando ↔ lo que programo</a:t>
            </a:r>
            <a:endParaRPr lang="en-US" sz="3800"/>
          </a:p>
        </p:txBody>
      </p:sp>
      <p:pic>
        <p:nvPicPr>
          <p:cNvPr id="996481673" name=""/>
          <p:cNvPicPr>
            <a:picLocks noChangeAspect="1"/>
          </p:cNvPicPr>
          <p:nvPr/>
        </p:nvPicPr>
        <p:blipFill rotWithShape="1">
          <a:blip r:embed="rId3"/>
          <a:stretch/>
        </p:blipFill>
        <p:spPr bwMode="auto">
          <a:xfrm flipH="0" flipV="0">
            <a:off x="2309692" y="1685192"/>
            <a:ext cx="7267815" cy="49896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511973378"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i="0" u="none" strike="noStrike" cap="none" spc="0">
                <a:solidFill>
                  <a:srgbClr val="6934C6"/>
                </a:solidFill>
                <a:latin typeface="Arial"/>
                <a:ea typeface="Arial"/>
                <a:cs typeface="Arial"/>
              </a:rPr>
              <a:t>DEL MENSAJE A TU FUNCIÓN</a:t>
            </a:r>
            <a:endParaRPr lang="en-US" sz="1400"/>
          </a:p>
        </p:txBody>
      </p:sp>
      <p:sp>
        <p:nvSpPr>
          <p:cNvPr id="1060852940"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n-US" sz="3800" b="1" i="0" u="none" strike="noStrike" cap="none" spc="0">
                <a:solidFill>
                  <a:srgbClr val="241331"/>
                </a:solidFill>
                <a:latin typeface="Arial"/>
                <a:ea typeface="Arial"/>
                <a:cs typeface="Arial"/>
              </a:rPr>
              <a:t>Lo que mando ↔ lo que programo</a:t>
            </a:r>
            <a:endParaRPr lang="en-US" sz="3800"/>
          </a:p>
        </p:txBody>
      </p:sp>
      <p:pic>
        <p:nvPicPr>
          <p:cNvPr id="1041624443" name=""/>
          <p:cNvPicPr>
            <a:picLocks noChangeAspect="1"/>
          </p:cNvPicPr>
          <p:nvPr/>
        </p:nvPicPr>
        <p:blipFill rotWithShape="1">
          <a:blip r:embed="rId3"/>
          <a:stretch/>
        </p:blipFill>
        <p:spPr bwMode="auto">
          <a:xfrm flipH="0" flipV="0">
            <a:off x="2089896" y="1828800"/>
            <a:ext cx="7296462" cy="437787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231292956"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i="0" u="none" strike="noStrike" cap="none" spc="0">
                <a:solidFill>
                  <a:srgbClr val="6934C6"/>
                </a:solidFill>
                <a:latin typeface="Arial"/>
                <a:ea typeface="Arial"/>
                <a:cs typeface="Arial"/>
              </a:rPr>
              <a:t>DEL MENSAJE A TU FUNCIÓN</a:t>
            </a:r>
            <a:endParaRPr lang="en-US" sz="1400"/>
          </a:p>
        </p:txBody>
      </p:sp>
      <p:sp>
        <p:nvSpPr>
          <p:cNvPr id="2019601153"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n-US" sz="3800" b="1" i="0" u="none" strike="noStrike" cap="none" spc="0">
                <a:solidFill>
                  <a:srgbClr val="241331"/>
                </a:solidFill>
                <a:latin typeface="Arial"/>
                <a:ea typeface="Arial"/>
                <a:cs typeface="Arial"/>
              </a:rPr>
              <a:t>Lo que mando ↔ lo que programo</a:t>
            </a:r>
            <a:endParaRPr lang="en-US" sz="3800"/>
          </a:p>
        </p:txBody>
      </p:sp>
      <p:pic>
        <p:nvPicPr>
          <p:cNvPr id="1099141589" name=""/>
          <p:cNvPicPr>
            <a:picLocks noChangeAspect="1"/>
          </p:cNvPicPr>
          <p:nvPr/>
        </p:nvPicPr>
        <p:blipFill rotWithShape="1">
          <a:blip r:embed="rId3"/>
          <a:stretch/>
        </p:blipFill>
        <p:spPr bwMode="auto">
          <a:xfrm flipH="0" flipV="0">
            <a:off x="1805110" y="1709717"/>
            <a:ext cx="8276977" cy="49661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1706820403"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FLUJO / DEL CATÁLOGO AL RESULTADO</a:t>
            </a:r>
            <a:endParaRPr lang="en-US" sz="1400"/>
          </a:p>
        </p:txBody>
      </p:sp>
      <p:sp>
        <p:nvSpPr>
          <p:cNvPr id="631659214"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n-US" sz="3800" b="1">
                <a:solidFill>
                  <a:srgbClr val="241331"/>
                </a:solidFill>
                <a:latin typeface="Arial"/>
                <a:ea typeface="Arial"/>
                <a:cs typeface="Arial"/>
              </a:rPr>
              <a:t>Descubre. Decide. Ejecuta. Responde.</a:t>
            </a:r>
            <a:endParaRPr lang="en-US" sz="3800"/>
          </a:p>
        </p:txBody>
      </p:sp>
      <p:sp>
        <p:nvSpPr>
          <p:cNvPr id="2021702217" name="Shape 2"/>
          <p:cNvSpPr/>
          <p:nvPr/>
        </p:nvSpPr>
        <p:spPr bwMode="auto">
          <a:xfrm>
            <a:off x="731520" y="2057400"/>
            <a:ext cx="4663440" cy="914400"/>
          </a:xfrm>
          <a:prstGeom prst="roundRect">
            <a:avLst>
              <a:gd name="adj" fmla="val 10000"/>
            </a:avLst>
          </a:prstGeom>
          <a:solidFill>
            <a:srgbClr val="F4EFFF"/>
          </a:solidFill>
          <a:ln w="19050">
            <a:solidFill>
              <a:srgbClr val="F4EFFF"/>
            </a:solidFill>
            <a:prstDash val="solid"/>
          </a:ln>
        </p:spPr>
      </p:sp>
      <p:sp>
        <p:nvSpPr>
          <p:cNvPr id="1877566360" name="Text 3"/>
          <p:cNvSpPr txBox="1"/>
          <p:nvPr/>
        </p:nvSpPr>
        <p:spPr bwMode="auto">
          <a:xfrm>
            <a:off x="841248" y="2103120"/>
            <a:ext cx="4443984" cy="822960"/>
          </a:xfrm>
          <a:prstGeom prst="rect">
            <a:avLst/>
          </a:prstGeom>
          <a:noFill/>
          <a:ln/>
        </p:spPr>
        <p:txBody>
          <a:bodyPr wrap="square" lIns="0" tIns="0" rIns="0" bIns="0" rtlCol="0" anchor="ctr"/>
          <a:lstStyle/>
          <a:p>
            <a:pPr marL="0" indent="0" algn="ctr">
              <a:buNone/>
              <a:defRPr/>
            </a:pPr>
            <a:r>
              <a:rPr lang="en-US" sz="2500" b="1">
                <a:solidFill>
                  <a:srgbClr val="241331"/>
                </a:solidFill>
                <a:latin typeface="Arial"/>
                <a:ea typeface="Arial"/>
                <a:cs typeface="Arial"/>
              </a:rPr>
              <a:t>HOST · usuario + modelo + cliente MCP</a:t>
            </a:r>
            <a:endParaRPr lang="en-US" sz="2500"/>
          </a:p>
        </p:txBody>
      </p:sp>
      <p:sp>
        <p:nvSpPr>
          <p:cNvPr id="709342471" name="Shape 4"/>
          <p:cNvSpPr/>
          <p:nvPr/>
        </p:nvSpPr>
        <p:spPr bwMode="auto">
          <a:xfrm>
            <a:off x="7132320" y="2057400"/>
            <a:ext cx="4206240" cy="914400"/>
          </a:xfrm>
          <a:prstGeom prst="roundRect">
            <a:avLst>
              <a:gd name="adj" fmla="val 10000"/>
            </a:avLst>
          </a:prstGeom>
          <a:solidFill>
            <a:srgbClr val="6934C6"/>
          </a:solidFill>
          <a:ln w="19050">
            <a:solidFill>
              <a:srgbClr val="6934C6"/>
            </a:solidFill>
            <a:prstDash val="solid"/>
          </a:ln>
        </p:spPr>
      </p:sp>
      <p:sp>
        <p:nvSpPr>
          <p:cNvPr id="603551253" name="Text 5"/>
          <p:cNvSpPr txBox="1"/>
          <p:nvPr/>
        </p:nvSpPr>
        <p:spPr bwMode="auto">
          <a:xfrm>
            <a:off x="7242048" y="2103120"/>
            <a:ext cx="3986784" cy="822960"/>
          </a:xfrm>
          <a:prstGeom prst="rect">
            <a:avLst/>
          </a:prstGeom>
          <a:noFill/>
          <a:ln/>
        </p:spPr>
        <p:txBody>
          <a:bodyPr wrap="square" lIns="0" tIns="0" rIns="0" bIns="0" rtlCol="0" anchor="ctr"/>
          <a:lstStyle/>
          <a:p>
            <a:pPr marL="0" indent="0" algn="ctr">
              <a:buNone/>
              <a:defRPr/>
            </a:pPr>
            <a:r>
              <a:rPr lang="en-US" sz="2700" b="1">
                <a:solidFill>
                  <a:srgbClr val="FFFFFF"/>
                </a:solidFill>
                <a:latin typeface="Arial"/>
                <a:ea typeface="Arial"/>
                <a:cs typeface="Arial"/>
              </a:rPr>
              <a:t>SERVIDOR MCP</a:t>
            </a:r>
            <a:endParaRPr lang="en-US" sz="2700"/>
          </a:p>
        </p:txBody>
      </p:sp>
      <p:sp>
        <p:nvSpPr>
          <p:cNvPr id="136350133" name="Text 6"/>
          <p:cNvSpPr txBox="1"/>
          <p:nvPr/>
        </p:nvSpPr>
        <p:spPr bwMode="auto">
          <a:xfrm>
            <a:off x="777240" y="3383280"/>
            <a:ext cx="5669280" cy="384048"/>
          </a:xfrm>
          <a:prstGeom prst="rect">
            <a:avLst/>
          </a:prstGeom>
          <a:noFill/>
          <a:ln/>
        </p:spPr>
        <p:txBody>
          <a:bodyPr wrap="square" lIns="0" tIns="0" rIns="0" bIns="0" rtlCol="0" anchor="ctr"/>
          <a:lstStyle/>
          <a:p>
            <a:pPr marL="0" indent="0">
              <a:buNone/>
              <a:defRPr/>
            </a:pPr>
            <a:r>
              <a:rPr lang="en-US" sz="1900">
                <a:solidFill>
                  <a:srgbClr val="756784"/>
                </a:solidFill>
                <a:latin typeface="Arial"/>
                <a:ea typeface="Arial"/>
                <a:cs typeface="Arial"/>
              </a:rPr>
              <a:t>1  Cliente → servidor</a:t>
            </a:r>
            <a:endParaRPr lang="en-US" sz="1900"/>
          </a:p>
        </p:txBody>
      </p:sp>
      <p:sp>
        <p:nvSpPr>
          <p:cNvPr id="1257732288" name="Text 7"/>
          <p:cNvSpPr txBox="1"/>
          <p:nvPr/>
        </p:nvSpPr>
        <p:spPr bwMode="auto">
          <a:xfrm>
            <a:off x="6400800" y="3383280"/>
            <a:ext cx="4937760" cy="384048"/>
          </a:xfrm>
          <a:prstGeom prst="rect">
            <a:avLst/>
          </a:prstGeom>
          <a:noFill/>
          <a:ln/>
        </p:spPr>
        <p:txBody>
          <a:bodyPr wrap="square" lIns="0" tIns="0" rIns="0" bIns="0" rtlCol="0" anchor="ctr"/>
          <a:lstStyle/>
          <a:p>
            <a:pPr marL="0" indent="0">
              <a:buNone/>
              <a:defRPr/>
            </a:pPr>
            <a:r>
              <a:rPr lang="en-US" sz="2000" b="1">
                <a:solidFill>
                  <a:srgbClr val="241331"/>
                </a:solidFill>
                <a:latin typeface="Courier New"/>
                <a:ea typeface="Courier New"/>
                <a:cs typeface="Courier New"/>
              </a:rPr>
              <a:t>tools/list</a:t>
            </a:r>
            <a:endParaRPr lang="en-US" sz="2000"/>
          </a:p>
        </p:txBody>
      </p:sp>
      <p:sp>
        <p:nvSpPr>
          <p:cNvPr id="1526123312" name="Text 8"/>
          <p:cNvSpPr txBox="1"/>
          <p:nvPr/>
        </p:nvSpPr>
        <p:spPr bwMode="auto">
          <a:xfrm>
            <a:off x="777240" y="3913632"/>
            <a:ext cx="5669280" cy="384048"/>
          </a:xfrm>
          <a:prstGeom prst="rect">
            <a:avLst/>
          </a:prstGeom>
          <a:noFill/>
          <a:ln/>
        </p:spPr>
        <p:txBody>
          <a:bodyPr wrap="square" lIns="0" tIns="0" rIns="0" bIns="0" rtlCol="0" anchor="ctr"/>
          <a:lstStyle/>
          <a:p>
            <a:pPr marL="0" indent="0">
              <a:buNone/>
              <a:defRPr/>
            </a:pPr>
            <a:r>
              <a:rPr lang="en-US" sz="1900">
                <a:solidFill>
                  <a:srgbClr val="756784"/>
                </a:solidFill>
                <a:latin typeface="Arial"/>
                <a:ea typeface="Arial"/>
                <a:cs typeface="Arial"/>
              </a:rPr>
              <a:t>2  Servidor → host → modelo</a:t>
            </a:r>
            <a:endParaRPr lang="en-US" sz="1900"/>
          </a:p>
        </p:txBody>
      </p:sp>
      <p:sp>
        <p:nvSpPr>
          <p:cNvPr id="1519687937" name="Text 9"/>
          <p:cNvSpPr txBox="1"/>
          <p:nvPr/>
        </p:nvSpPr>
        <p:spPr bwMode="auto">
          <a:xfrm>
            <a:off x="6400800" y="3913632"/>
            <a:ext cx="4937760" cy="384048"/>
          </a:xfrm>
          <a:prstGeom prst="rect">
            <a:avLst/>
          </a:prstGeom>
          <a:noFill/>
          <a:ln/>
        </p:spPr>
        <p:txBody>
          <a:bodyPr wrap="square" lIns="0" tIns="0" rIns="0" bIns="0" rtlCol="0" anchor="ctr"/>
          <a:lstStyle/>
          <a:p>
            <a:pPr marL="0" indent="0">
              <a:buNone/>
              <a:defRPr/>
            </a:pPr>
            <a:r>
              <a:rPr lang="en-US" sz="2000" b="1">
                <a:solidFill>
                  <a:srgbClr val="241331"/>
                </a:solidFill>
                <a:latin typeface="Arial"/>
                <a:ea typeface="Arial"/>
                <a:cs typeface="Arial"/>
              </a:rPr>
              <a:t>catálogo + esquemas</a:t>
            </a:r>
            <a:endParaRPr lang="en-US" sz="2000"/>
          </a:p>
        </p:txBody>
      </p:sp>
      <p:sp>
        <p:nvSpPr>
          <p:cNvPr id="1607176455" name="Text 10"/>
          <p:cNvSpPr txBox="1"/>
          <p:nvPr/>
        </p:nvSpPr>
        <p:spPr bwMode="auto">
          <a:xfrm>
            <a:off x="777240" y="4443984"/>
            <a:ext cx="5669280" cy="384048"/>
          </a:xfrm>
          <a:prstGeom prst="rect">
            <a:avLst/>
          </a:prstGeom>
          <a:noFill/>
          <a:ln/>
        </p:spPr>
        <p:txBody>
          <a:bodyPr wrap="square" lIns="0" tIns="0" rIns="0" bIns="0" rtlCol="0" anchor="ctr"/>
          <a:lstStyle/>
          <a:p>
            <a:pPr marL="0" indent="0">
              <a:buNone/>
              <a:defRPr/>
            </a:pPr>
            <a:r>
              <a:rPr lang="en-US" sz="1900">
                <a:solidFill>
                  <a:srgbClr val="756784"/>
                </a:solidFill>
                <a:latin typeface="Arial"/>
                <a:ea typeface="Arial"/>
                <a:cs typeface="Arial"/>
              </a:rPr>
              <a:t>3  Modelo propone </a:t>
            </a:r>
            <a:r>
              <a:rPr lang="en-US" sz="1900" b="0" i="0" u="none" strike="noStrike" cap="none" spc="0">
                <a:solidFill>
                  <a:srgbClr val="756784"/>
                </a:solidFill>
                <a:latin typeface="Arial"/>
                <a:ea typeface="Arial"/>
                <a:cs typeface="Arial"/>
              </a:rPr>
              <a:t>→</a:t>
            </a:r>
            <a:r>
              <a:rPr lang="en-US" sz="1900">
                <a:solidFill>
                  <a:srgbClr val="756784"/>
                </a:solidFill>
                <a:latin typeface="Arial"/>
                <a:ea typeface="Arial"/>
                <a:cs typeface="Arial"/>
              </a:rPr>
              <a:t> host autoriza</a:t>
            </a:r>
            <a:endParaRPr lang="en-US" sz="1900"/>
          </a:p>
        </p:txBody>
      </p:sp>
      <p:sp>
        <p:nvSpPr>
          <p:cNvPr id="407126819" name="Text 11"/>
          <p:cNvSpPr txBox="1"/>
          <p:nvPr/>
        </p:nvSpPr>
        <p:spPr bwMode="auto">
          <a:xfrm>
            <a:off x="6400800" y="4443984"/>
            <a:ext cx="4937760" cy="384048"/>
          </a:xfrm>
          <a:prstGeom prst="rect">
            <a:avLst/>
          </a:prstGeom>
          <a:noFill/>
          <a:ln/>
        </p:spPr>
        <p:txBody>
          <a:bodyPr wrap="square" lIns="0" tIns="0" rIns="0" bIns="0" rtlCol="0" anchor="ctr"/>
          <a:lstStyle/>
          <a:p>
            <a:pPr marL="0" indent="0">
              <a:buNone/>
              <a:defRPr/>
            </a:pPr>
            <a:r>
              <a:rPr lang="en-US" sz="2000" b="1">
                <a:solidFill>
                  <a:srgbClr val="241331"/>
                </a:solidFill>
                <a:latin typeface="Arial"/>
                <a:ea typeface="Arial"/>
                <a:cs typeface="Arial"/>
              </a:rPr>
              <a:t>consultar_ventas(mes=9)</a:t>
            </a:r>
            <a:endParaRPr lang="en-US" sz="2000"/>
          </a:p>
        </p:txBody>
      </p:sp>
      <p:sp>
        <p:nvSpPr>
          <p:cNvPr id="1591566214" name="Text 12"/>
          <p:cNvSpPr txBox="1"/>
          <p:nvPr/>
        </p:nvSpPr>
        <p:spPr bwMode="auto">
          <a:xfrm>
            <a:off x="777240" y="4974335"/>
            <a:ext cx="5669280" cy="384048"/>
          </a:xfrm>
          <a:prstGeom prst="rect">
            <a:avLst/>
          </a:prstGeom>
          <a:noFill/>
          <a:ln/>
        </p:spPr>
        <p:txBody>
          <a:bodyPr wrap="square" lIns="0" tIns="0" rIns="0" bIns="0" rtlCol="0" anchor="ctr"/>
          <a:lstStyle/>
          <a:p>
            <a:pPr marL="0" indent="0">
              <a:buNone/>
              <a:defRPr/>
            </a:pPr>
            <a:r>
              <a:rPr lang="en-US" sz="1900">
                <a:solidFill>
                  <a:srgbClr val="756784"/>
                </a:solidFill>
                <a:latin typeface="Arial"/>
                <a:ea typeface="Arial"/>
                <a:cs typeface="Arial"/>
              </a:rPr>
              <a:t>4  Cliente → servidor</a:t>
            </a:r>
            <a:endParaRPr lang="en-US" sz="1900"/>
          </a:p>
        </p:txBody>
      </p:sp>
      <p:sp>
        <p:nvSpPr>
          <p:cNvPr id="1722712189" name="Text 13"/>
          <p:cNvSpPr txBox="1"/>
          <p:nvPr/>
        </p:nvSpPr>
        <p:spPr bwMode="auto">
          <a:xfrm>
            <a:off x="6400800" y="4974335"/>
            <a:ext cx="4937760" cy="384048"/>
          </a:xfrm>
          <a:prstGeom prst="rect">
            <a:avLst/>
          </a:prstGeom>
          <a:noFill/>
          <a:ln/>
        </p:spPr>
        <p:txBody>
          <a:bodyPr wrap="square" lIns="0" tIns="0" rIns="0" bIns="0" rtlCol="0" anchor="ctr"/>
          <a:lstStyle/>
          <a:p>
            <a:pPr marL="0" indent="0">
              <a:buNone/>
              <a:defRPr/>
            </a:pPr>
            <a:r>
              <a:rPr lang="en-US" sz="2000" b="1">
                <a:solidFill>
                  <a:srgbClr val="241331"/>
                </a:solidFill>
                <a:latin typeface="Courier New"/>
                <a:ea typeface="Courier New"/>
                <a:cs typeface="Courier New"/>
              </a:rPr>
              <a:t>tools/call</a:t>
            </a:r>
            <a:endParaRPr lang="en-US" sz="2000"/>
          </a:p>
        </p:txBody>
      </p:sp>
      <p:sp>
        <p:nvSpPr>
          <p:cNvPr id="1633743310" name="Text 14"/>
          <p:cNvSpPr txBox="1"/>
          <p:nvPr/>
        </p:nvSpPr>
        <p:spPr bwMode="auto">
          <a:xfrm>
            <a:off x="777240" y="5504686"/>
            <a:ext cx="5669280" cy="384048"/>
          </a:xfrm>
          <a:prstGeom prst="rect">
            <a:avLst/>
          </a:prstGeom>
          <a:noFill/>
          <a:ln/>
        </p:spPr>
        <p:txBody>
          <a:bodyPr wrap="square" lIns="0" tIns="0" rIns="0" bIns="0" rtlCol="0" anchor="ctr"/>
          <a:lstStyle/>
          <a:p>
            <a:pPr marL="0" indent="0">
              <a:buNone/>
              <a:defRPr/>
            </a:pPr>
            <a:r>
              <a:rPr lang="en-US" sz="1900">
                <a:solidFill>
                  <a:srgbClr val="756784"/>
                </a:solidFill>
                <a:latin typeface="Arial"/>
                <a:ea typeface="Arial"/>
                <a:cs typeface="Arial"/>
              </a:rPr>
              <a:t>5  Servidor → backend → host</a:t>
            </a:r>
            <a:endParaRPr lang="en-US" sz="1900"/>
          </a:p>
        </p:txBody>
      </p:sp>
      <p:sp>
        <p:nvSpPr>
          <p:cNvPr id="1044610861" name="Text 15"/>
          <p:cNvSpPr txBox="1"/>
          <p:nvPr/>
        </p:nvSpPr>
        <p:spPr bwMode="auto">
          <a:xfrm>
            <a:off x="6400800" y="5504686"/>
            <a:ext cx="4937760" cy="384048"/>
          </a:xfrm>
          <a:prstGeom prst="rect">
            <a:avLst/>
          </a:prstGeom>
          <a:noFill/>
          <a:ln/>
        </p:spPr>
        <p:txBody>
          <a:bodyPr wrap="square" lIns="0" tIns="0" rIns="0" bIns="0" rtlCol="0" anchor="ctr"/>
          <a:lstStyle/>
          <a:p>
            <a:pPr marL="0" indent="0">
              <a:buNone/>
              <a:defRPr/>
            </a:pPr>
            <a:r>
              <a:rPr lang="en-US" sz="2000" b="1">
                <a:solidFill>
                  <a:srgbClr val="241331"/>
                </a:solidFill>
                <a:latin typeface="Arial"/>
                <a:ea typeface="Arial"/>
                <a:cs typeface="Arial"/>
              </a:rPr>
              <a:t>resultado → respuesta al usuario</a:t>
            </a:r>
            <a:endParaRPr lang="en-US" sz="2000"/>
          </a:p>
        </p:txBody>
      </p:sp>
      <p:sp>
        <p:nvSpPr>
          <p:cNvPr id="1105984979" name="Text 16"/>
          <p:cNvSpPr txBox="1"/>
          <p:nvPr/>
        </p:nvSpPr>
        <p:spPr bwMode="auto">
          <a:xfrm>
            <a:off x="731520" y="6263640"/>
            <a:ext cx="10789920" cy="365760"/>
          </a:xfrm>
          <a:prstGeom prst="rect">
            <a:avLst/>
          </a:prstGeom>
          <a:noFill/>
          <a:ln/>
        </p:spPr>
        <p:txBody>
          <a:bodyPr wrap="square" lIns="0" tIns="0" rIns="0" bIns="0" rtlCol="0" anchor="ctr"/>
          <a:lstStyle/>
          <a:p>
            <a:pPr marL="0" indent="0" algn="ctr">
              <a:buNone/>
              <a:defRPr/>
            </a:pPr>
            <a:r>
              <a:rPr lang="en-US" sz="2300" b="1">
                <a:solidFill>
                  <a:srgbClr val="6934C6"/>
                </a:solidFill>
                <a:latin typeface="Arial"/>
                <a:ea typeface="Arial"/>
                <a:cs typeface="Arial"/>
              </a:rPr>
              <a:t>Tu herramienta conserva su lógica. MCP estandariza el acceso.</a:t>
            </a:r>
            <a:endParaRPr lang="en-US" sz="2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0">
    <p:bg>
      <p:bgPr shadeToTitle="0">
        <a:solidFill>
          <a:srgbClr val="291244"/>
        </a:solidFill>
      </p:bgPr>
    </p:bg>
    <p:spTree>
      <p:nvGrpSpPr>
        <p:cNvPr id="1" name=""/>
        <p:cNvGrpSpPr/>
        <p:nvPr/>
      </p:nvGrpSpPr>
      <p:grpSpPr bwMode="auto">
        <a:xfrm>
          <a:off x="0" y="0"/>
          <a:ext cx="0" cy="0"/>
          <a:chOff x="0" y="0"/>
          <a:chExt cx="0" cy="0"/>
        </a:xfrm>
      </p:grpSpPr>
      <p:sp>
        <p:nvSpPr>
          <p:cNvPr id="135053820" name="Text 0"/>
          <p:cNvSpPr txBox="1"/>
          <p:nvPr/>
        </p:nvSpPr>
        <p:spPr bwMode="auto">
          <a:xfrm>
            <a:off x="777240" y="640080"/>
            <a:ext cx="10607040" cy="502920"/>
          </a:xfrm>
          <a:prstGeom prst="rect">
            <a:avLst/>
          </a:prstGeom>
          <a:noFill/>
          <a:ln/>
        </p:spPr>
        <p:txBody>
          <a:bodyPr wrap="square" lIns="0" tIns="0" rIns="0" bIns="0" rtlCol="0" anchor="ctr"/>
          <a:lstStyle/>
          <a:p>
            <a:pPr marL="0" indent="0">
              <a:buNone/>
              <a:defRPr/>
            </a:pPr>
            <a:r>
              <a:rPr lang="en-US" sz="2200" b="1">
                <a:solidFill>
                  <a:srgbClr val="D5F46A"/>
                </a:solidFill>
                <a:latin typeface="Arial"/>
                <a:ea typeface="Arial"/>
                <a:cs typeface="Arial"/>
              </a:rPr>
              <a:t>ACTO VI</a:t>
            </a:r>
            <a:endParaRPr lang="en-US" sz="2200"/>
          </a:p>
        </p:txBody>
      </p:sp>
      <p:sp>
        <p:nvSpPr>
          <p:cNvPr id="123976561" name="Text 1"/>
          <p:cNvSpPr txBox="1"/>
          <p:nvPr/>
        </p:nvSpPr>
        <p:spPr bwMode="auto">
          <a:xfrm>
            <a:off x="777240" y="1554480"/>
            <a:ext cx="10607040" cy="1188720"/>
          </a:xfrm>
          <a:prstGeom prst="rect">
            <a:avLst/>
          </a:prstGeom>
          <a:noFill/>
          <a:ln/>
        </p:spPr>
        <p:txBody>
          <a:bodyPr wrap="square" lIns="0" tIns="0" rIns="0" bIns="0" rtlCol="0" anchor="ctr"/>
          <a:lstStyle/>
          <a:p>
            <a:pPr marL="0" indent="0">
              <a:buNone/>
              <a:defRPr/>
            </a:pPr>
            <a:r>
              <a:rPr lang="en-US" sz="4000" b="1">
                <a:solidFill>
                  <a:srgbClr val="FFFFFF"/>
                </a:solidFill>
                <a:latin typeface="Arial"/>
                <a:ea typeface="Arial"/>
                <a:cs typeface="Arial"/>
              </a:rPr>
              <a:t>Volvamos a la oficina</a:t>
            </a:r>
            <a:endParaRPr lang="en-US" sz="4000"/>
          </a:p>
        </p:txBody>
      </p:sp>
      <p:sp>
        <p:nvSpPr>
          <p:cNvPr id="1556316982" name="Text 2"/>
          <p:cNvSpPr txBox="1"/>
          <p:nvPr/>
        </p:nvSpPr>
        <p:spPr bwMode="auto">
          <a:xfrm>
            <a:off x="777240" y="3200400"/>
            <a:ext cx="10515600" cy="2103120"/>
          </a:xfrm>
          <a:prstGeom prst="rect">
            <a:avLst/>
          </a:prstGeom>
          <a:noFill/>
          <a:ln/>
        </p:spPr>
        <p:txBody>
          <a:bodyPr wrap="square" lIns="0" tIns="0" rIns="0" bIns="0" rtlCol="0" anchor="ctr"/>
          <a:lstStyle/>
          <a:p>
            <a:pPr marL="0" indent="0">
              <a:buNone/>
              <a:defRPr/>
            </a:pPr>
            <a:r>
              <a:rPr lang="en-US" sz="5100" b="1">
                <a:solidFill>
                  <a:srgbClr val="FFFFFF"/>
                </a:solidFill>
                <a:latin typeface="Arial"/>
                <a:ea typeface="Arial"/>
                <a:cs typeface="Arial"/>
              </a:rPr>
              <a:t>El sistema es de 2017.</a:t>
            </a:r>
            <a:endParaRPr lang="en-US" sz="5100"/>
          </a:p>
          <a:p>
            <a:pPr marL="0" indent="0">
              <a:buNone/>
              <a:defRPr/>
            </a:pPr>
            <a:r>
              <a:rPr lang="en-US" sz="5100" b="1">
                <a:solidFill>
                  <a:srgbClr val="FFFFFF"/>
                </a:solidFill>
                <a:latin typeface="Arial"/>
                <a:ea typeface="Arial"/>
                <a:cs typeface="Arial"/>
              </a:rPr>
              <a:t>La contraseña también.</a:t>
            </a:r>
            <a:endParaRPr lang="en-US" sz="5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1">
    <p:bg>
      <p:bgPr shadeToTitle="0">
        <a:solidFill>
          <a:srgbClr val="FFFFFF"/>
        </a:solidFill>
      </p:bgPr>
    </p:bg>
    <p:spTree>
      <p:nvGrpSpPr>
        <p:cNvPr id="1" name=""/>
        <p:cNvGrpSpPr/>
        <p:nvPr/>
      </p:nvGrpSpPr>
      <p:grpSpPr bwMode="auto">
        <a:xfrm>
          <a:off x="0" y="0"/>
          <a:ext cx="0" cy="0"/>
          <a:chOff x="0" y="0"/>
          <a:chExt cx="0" cy="0"/>
        </a:xfrm>
      </p:grpSpPr>
      <p:sp>
        <p:nvSpPr>
          <p:cNvPr id="2081722619"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ACTO VI   /   VOLVAMOS A LA OFICINA</a:t>
            </a:r>
            <a:endParaRPr lang="en-US" sz="1400"/>
          </a:p>
        </p:txBody>
      </p:sp>
      <p:sp>
        <p:nvSpPr>
          <p:cNvPr id="1115205590" name="Text 1"/>
          <p:cNvSpPr txBox="1"/>
          <p:nvPr/>
        </p:nvSpPr>
        <p:spPr bwMode="auto">
          <a:xfrm>
            <a:off x="594360" y="1005840"/>
            <a:ext cx="10972800" cy="822960"/>
          </a:xfrm>
          <a:prstGeom prst="rect">
            <a:avLst/>
          </a:prstGeom>
          <a:noFill/>
          <a:ln/>
        </p:spPr>
        <p:txBody>
          <a:bodyPr wrap="square" lIns="0" tIns="0" rIns="0" bIns="0" rtlCol="0" anchor="ctr"/>
          <a:lstStyle/>
          <a:p>
            <a:pPr marL="0" indent="0">
              <a:buNone/>
              <a:defRPr/>
            </a:pPr>
            <a:r>
              <a:rPr lang="en-US" sz="4300" b="1">
                <a:solidFill>
                  <a:srgbClr val="241331"/>
                </a:solidFill>
                <a:latin typeface="Arial"/>
                <a:ea typeface="Arial"/>
                <a:cs typeface="Arial"/>
              </a:rPr>
              <a:t>Funciona desde 2017.</a:t>
            </a:r>
            <a:endParaRPr lang="en-US" sz="4300"/>
          </a:p>
        </p:txBody>
      </p:sp>
      <p:sp>
        <p:nvSpPr>
          <p:cNvPr id="247388541" name="Shape 2"/>
          <p:cNvSpPr/>
          <p:nvPr/>
        </p:nvSpPr>
        <p:spPr bwMode="auto">
          <a:xfrm>
            <a:off x="685800" y="2377440"/>
            <a:ext cx="6492240" cy="3154680"/>
          </a:xfrm>
          <a:prstGeom prst="rect">
            <a:avLst/>
          </a:prstGeom>
          <a:solidFill>
            <a:srgbClr val="F4EFFF"/>
          </a:solidFill>
          <a:ln w="19050">
            <a:solidFill>
              <a:srgbClr val="6934C6"/>
            </a:solidFill>
            <a:prstDash val="solid"/>
          </a:ln>
        </p:spPr>
      </p:sp>
      <p:sp>
        <p:nvSpPr>
          <p:cNvPr id="1181399195" name="Text 3"/>
          <p:cNvSpPr txBox="1"/>
          <p:nvPr/>
        </p:nvSpPr>
        <p:spPr bwMode="auto">
          <a:xfrm>
            <a:off x="960120" y="2651760"/>
            <a:ext cx="5943600" cy="457200"/>
          </a:xfrm>
          <a:prstGeom prst="rect">
            <a:avLst/>
          </a:prstGeom>
          <a:noFill/>
          <a:ln/>
        </p:spPr>
        <p:txBody>
          <a:bodyPr wrap="square" lIns="0" tIns="0" rIns="0" bIns="0" rtlCol="0" anchor="ctr"/>
          <a:lstStyle/>
          <a:p>
            <a:pPr marL="0" indent="0">
              <a:buNone/>
              <a:defRPr/>
            </a:pPr>
            <a:r>
              <a:rPr lang="en-US" sz="2500" b="1">
                <a:solidFill>
                  <a:srgbClr val="6934C6"/>
                </a:solidFill>
                <a:latin typeface="Arial"/>
                <a:ea typeface="Arial"/>
                <a:cs typeface="Arial"/>
              </a:rPr>
              <a:t>MESA DE AYUDA</a:t>
            </a:r>
            <a:endParaRPr lang="en-US" sz="2500"/>
          </a:p>
        </p:txBody>
      </p:sp>
      <p:sp>
        <p:nvSpPr>
          <p:cNvPr id="1578621575" name="Text 4"/>
          <p:cNvSpPr txBox="1"/>
          <p:nvPr/>
        </p:nvSpPr>
        <p:spPr bwMode="auto">
          <a:xfrm>
            <a:off x="1005840" y="3429000"/>
            <a:ext cx="3200400" cy="1645920"/>
          </a:xfrm>
          <a:prstGeom prst="rect">
            <a:avLst/>
          </a:prstGeom>
          <a:noFill/>
          <a:ln/>
        </p:spPr>
        <p:txBody>
          <a:bodyPr wrap="square" lIns="0" tIns="0" rIns="0" bIns="0" rtlCol="0" anchor="ctr"/>
          <a:lstStyle/>
          <a:p>
            <a:pPr marL="0" indent="0">
              <a:buNone/>
              <a:defRPr/>
            </a:pPr>
            <a:r>
              <a:rPr lang="en-US" sz="3000" b="1">
                <a:solidFill>
                  <a:srgbClr val="241331"/>
                </a:solidFill>
                <a:latin typeface="Arial"/>
                <a:ea typeface="Arial"/>
                <a:cs typeface="Arial"/>
              </a:rPr>
              <a:t>Tickets</a:t>
            </a:r>
            <a:endParaRPr lang="en-US" sz="3000"/>
          </a:p>
          <a:p>
            <a:pPr marL="0" indent="0">
              <a:buNone/>
              <a:defRPr/>
            </a:pPr>
            <a:r>
              <a:rPr lang="en-US" sz="3000" b="1">
                <a:solidFill>
                  <a:srgbClr val="241331"/>
                </a:solidFill>
                <a:latin typeface="Arial"/>
                <a:ea typeface="Arial"/>
                <a:cs typeface="Arial"/>
              </a:rPr>
              <a:t>Expedientes</a:t>
            </a:r>
            <a:endParaRPr lang="en-US" sz="3000"/>
          </a:p>
          <a:p>
            <a:pPr marL="0" indent="0">
              <a:buNone/>
              <a:defRPr/>
            </a:pPr>
            <a:r>
              <a:rPr lang="en-US" sz="3000" b="1">
                <a:solidFill>
                  <a:srgbClr val="241331"/>
                </a:solidFill>
                <a:latin typeface="Arial"/>
                <a:ea typeface="Arial"/>
                <a:cs typeface="Arial"/>
              </a:rPr>
              <a:t>Reportes</a:t>
            </a:r>
            <a:endParaRPr lang="en-US" sz="3000"/>
          </a:p>
        </p:txBody>
      </p:sp>
      <p:sp>
        <p:nvSpPr>
          <p:cNvPr id="1134406508" name="Shape 5"/>
          <p:cNvSpPr/>
          <p:nvPr/>
        </p:nvSpPr>
        <p:spPr bwMode="auto">
          <a:xfrm>
            <a:off x="4754880" y="3429000"/>
            <a:ext cx="1920240" cy="1371600"/>
          </a:xfrm>
          <a:prstGeom prst="roundRect">
            <a:avLst>
              <a:gd name="adj" fmla="val 6667"/>
            </a:avLst>
          </a:prstGeom>
          <a:solidFill>
            <a:srgbClr val="6934C6"/>
          </a:solidFill>
          <a:ln w="19050">
            <a:solidFill>
              <a:srgbClr val="6934C6"/>
            </a:solidFill>
            <a:prstDash val="solid"/>
          </a:ln>
        </p:spPr>
      </p:sp>
      <p:sp>
        <p:nvSpPr>
          <p:cNvPr id="1233538267" name="Text 6"/>
          <p:cNvSpPr txBox="1"/>
          <p:nvPr/>
        </p:nvSpPr>
        <p:spPr bwMode="auto">
          <a:xfrm>
            <a:off x="4864607" y="3474720"/>
            <a:ext cx="1700784" cy="1280160"/>
          </a:xfrm>
          <a:prstGeom prst="rect">
            <a:avLst/>
          </a:prstGeom>
          <a:noFill/>
          <a:ln/>
        </p:spPr>
        <p:txBody>
          <a:bodyPr wrap="square" lIns="0" tIns="0" rIns="0" bIns="0" rtlCol="0" anchor="ctr"/>
          <a:lstStyle/>
          <a:p>
            <a:pPr marL="0" indent="0" algn="ctr">
              <a:buNone/>
              <a:defRPr/>
            </a:pPr>
            <a:r>
              <a:rPr lang="en-US" sz="2800" b="1">
                <a:solidFill>
                  <a:srgbClr val="FFFFFF"/>
                </a:solidFill>
                <a:latin typeface="Arial"/>
                <a:ea typeface="Arial"/>
                <a:cs typeface="Arial"/>
              </a:rPr>
              <a:t>API</a:t>
            </a:r>
            <a:endParaRPr lang="en-US" sz="2800"/>
          </a:p>
          <a:p>
            <a:pPr marL="0" indent="0" algn="ctr">
              <a:buNone/>
              <a:defRPr/>
            </a:pPr>
            <a:r>
              <a:rPr lang="en-US" sz="2800" b="1">
                <a:solidFill>
                  <a:srgbClr val="FFFFFF"/>
                </a:solidFill>
                <a:latin typeface="Arial"/>
                <a:ea typeface="Arial"/>
                <a:cs typeface="Arial"/>
              </a:rPr>
              <a:t>existente</a:t>
            </a:r>
            <a:endParaRPr lang="en-US" sz="2800"/>
          </a:p>
        </p:txBody>
      </p:sp>
      <p:sp>
        <p:nvSpPr>
          <p:cNvPr id="322206987" name="Shape 7"/>
          <p:cNvSpPr/>
          <p:nvPr/>
        </p:nvSpPr>
        <p:spPr bwMode="auto">
          <a:xfrm>
            <a:off x="7178039" y="3886200"/>
            <a:ext cx="777240" cy="0"/>
          </a:xfrm>
          <a:prstGeom prst="line">
            <a:avLst/>
          </a:prstGeom>
          <a:noFill/>
          <a:ln w="38100">
            <a:solidFill>
              <a:srgbClr val="6934C6"/>
            </a:solidFill>
            <a:prstDash val="solid"/>
            <a:tailEnd type="triangle"/>
          </a:ln>
        </p:spPr>
      </p:sp>
      <p:sp>
        <p:nvSpPr>
          <p:cNvPr id="1875814374" name="Shape 8"/>
          <p:cNvSpPr/>
          <p:nvPr/>
        </p:nvSpPr>
        <p:spPr bwMode="auto">
          <a:xfrm>
            <a:off x="7955280" y="3063240"/>
            <a:ext cx="3383280" cy="1645920"/>
          </a:xfrm>
          <a:prstGeom prst="roundRect">
            <a:avLst>
              <a:gd name="adj" fmla="val 5556"/>
            </a:avLst>
          </a:prstGeom>
          <a:solidFill>
            <a:srgbClr val="D5F46A"/>
          </a:solidFill>
          <a:ln w="19050">
            <a:solidFill>
              <a:srgbClr val="D5F46A"/>
            </a:solidFill>
            <a:prstDash val="solid"/>
          </a:ln>
        </p:spPr>
      </p:sp>
      <p:sp>
        <p:nvSpPr>
          <p:cNvPr id="546041181" name="Text 9"/>
          <p:cNvSpPr txBox="1"/>
          <p:nvPr/>
        </p:nvSpPr>
        <p:spPr bwMode="auto">
          <a:xfrm>
            <a:off x="8065008" y="3108960"/>
            <a:ext cx="3163824" cy="1554480"/>
          </a:xfrm>
          <a:prstGeom prst="rect">
            <a:avLst/>
          </a:prstGeom>
          <a:noFill/>
          <a:ln/>
        </p:spPr>
        <p:txBody>
          <a:bodyPr wrap="square" lIns="0" tIns="0" rIns="0" bIns="0" rtlCol="0" anchor="ctr"/>
          <a:lstStyle/>
          <a:p>
            <a:pPr marL="0" indent="0" algn="ctr">
              <a:buNone/>
              <a:defRPr/>
            </a:pPr>
            <a:r>
              <a:rPr lang="en-US" sz="3200" b="1">
                <a:solidFill>
                  <a:srgbClr val="241331"/>
                </a:solidFill>
                <a:latin typeface="Arial"/>
                <a:ea typeface="Arial"/>
                <a:cs typeface="Arial"/>
              </a:rPr>
              <a:t>Servidor</a:t>
            </a:r>
            <a:endParaRPr lang="en-US" sz="3200"/>
          </a:p>
          <a:p>
            <a:pPr marL="0" indent="0" algn="ctr">
              <a:buNone/>
              <a:defRPr/>
            </a:pPr>
            <a:r>
              <a:rPr lang="en-US" sz="3200" b="1">
                <a:solidFill>
                  <a:srgbClr val="241331"/>
                </a:solidFill>
                <a:latin typeface="Arial"/>
                <a:ea typeface="Arial"/>
                <a:cs typeface="Arial"/>
              </a:rPr>
              <a:t>MCP</a:t>
            </a:r>
            <a:endParaRPr lang="en-US" sz="3200"/>
          </a:p>
        </p:txBody>
      </p:sp>
      <p:sp>
        <p:nvSpPr>
          <p:cNvPr id="706461914" name="Text 10"/>
          <p:cNvSpPr txBox="1"/>
          <p:nvPr/>
        </p:nvSpPr>
        <p:spPr bwMode="auto">
          <a:xfrm>
            <a:off x="685800" y="5897880"/>
            <a:ext cx="10789920" cy="502920"/>
          </a:xfrm>
          <a:prstGeom prst="rect">
            <a:avLst/>
          </a:prstGeom>
          <a:noFill/>
          <a:ln/>
        </p:spPr>
        <p:txBody>
          <a:bodyPr wrap="square" lIns="0" tIns="0" rIns="0" bIns="0" rtlCol="0" anchor="ctr"/>
          <a:lstStyle/>
          <a:p>
            <a:pPr marL="0" indent="0">
              <a:buNone/>
              <a:defRPr/>
            </a:pPr>
            <a:r>
              <a:rPr lang="en-US" sz="2800" b="1">
                <a:solidFill>
                  <a:srgbClr val="6934C6"/>
                </a:solidFill>
                <a:latin typeface="Arial"/>
                <a:ea typeface="Arial"/>
                <a:cs typeface="Arial"/>
              </a:rPr>
              <a:t>Las operaciones ya saben hacer el trabajo.</a:t>
            </a:r>
            <a:endParaRPr lang="en-US"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sp>
        <p:nvSpPr>
          <p:cNvPr id="1548763363"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LA TENTACIÓN / MULTIPLICAR LOS CHATS</a:t>
            </a:r>
            <a:endParaRPr lang="en-US" sz="1400"/>
          </a:p>
        </p:txBody>
      </p:sp>
      <p:sp>
        <p:nvSpPr>
          <p:cNvPr id="483287923" name="Text 1"/>
          <p:cNvSpPr txBox="1"/>
          <p:nvPr/>
        </p:nvSpPr>
        <p:spPr bwMode="auto">
          <a:xfrm>
            <a:off x="640080" y="1005840"/>
            <a:ext cx="6400800" cy="1645920"/>
          </a:xfrm>
          <a:prstGeom prst="rect">
            <a:avLst/>
          </a:prstGeom>
          <a:noFill/>
          <a:ln/>
        </p:spPr>
        <p:txBody>
          <a:bodyPr wrap="square" lIns="0" tIns="0" rIns="0" bIns="0" rtlCol="0" anchor="ctr"/>
          <a:lstStyle/>
          <a:p>
            <a:pPr marL="0" indent="0">
              <a:buNone/>
              <a:defRPr/>
            </a:pPr>
            <a:r>
              <a:rPr lang="en-US" sz="4600" b="1">
                <a:solidFill>
                  <a:srgbClr val="6934C6"/>
                </a:solidFill>
                <a:latin typeface="Arial"/>
                <a:ea typeface="Arial"/>
                <a:cs typeface="Arial"/>
              </a:rPr>
              <a:t>¿Un chatbot</a:t>
            </a:r>
            <a:endParaRPr lang="en-US" sz="4600"/>
          </a:p>
          <a:p>
            <a:pPr marL="0" indent="0">
              <a:buNone/>
              <a:defRPr/>
            </a:pPr>
            <a:r>
              <a:rPr lang="en-US" sz="4600" b="1">
                <a:solidFill>
                  <a:srgbClr val="6934C6"/>
                </a:solidFill>
                <a:latin typeface="Arial"/>
                <a:ea typeface="Arial"/>
                <a:cs typeface="Arial"/>
              </a:rPr>
              <a:t>por cada tarea?</a:t>
            </a:r>
            <a:endParaRPr lang="en-US" sz="4600"/>
          </a:p>
        </p:txBody>
      </p:sp>
      <p:pic>
        <p:nvPicPr>
          <p:cNvPr id="962715195" name="Image 0" descr="assets/11_alex_as_person_tired_of_new_chatbot_for_just_one_system.png"/>
          <p:cNvPicPr>
            <a:picLocks noChangeAspect="1"/>
          </p:cNvPicPr>
          <p:nvPr/>
        </p:nvPicPr>
        <p:blipFill rotWithShape="1">
          <a:blip r:embed="rId3"/>
          <a:stretch/>
        </p:blipFill>
        <p:spPr bwMode="auto">
          <a:xfrm>
            <a:off x="7406640" y="1188720"/>
            <a:ext cx="4114800" cy="4114800"/>
          </a:xfrm>
          <a:prstGeom prst="rect">
            <a:avLst/>
          </a:prstGeom>
        </p:spPr>
      </p:pic>
      <p:sp>
        <p:nvSpPr>
          <p:cNvPr id="252404875" name="Shape 2"/>
          <p:cNvSpPr/>
          <p:nvPr/>
        </p:nvSpPr>
        <p:spPr bwMode="auto">
          <a:xfrm>
            <a:off x="731520" y="3246120"/>
            <a:ext cx="1920240" cy="822960"/>
          </a:xfrm>
          <a:prstGeom prst="roundRect">
            <a:avLst>
              <a:gd name="adj" fmla="val 11111"/>
            </a:avLst>
          </a:prstGeom>
          <a:solidFill>
            <a:srgbClr val="F4EFFF"/>
          </a:solidFill>
          <a:ln w="19050">
            <a:solidFill>
              <a:srgbClr val="F4EFFF"/>
            </a:solidFill>
            <a:prstDash val="solid"/>
          </a:ln>
        </p:spPr>
      </p:sp>
      <p:sp>
        <p:nvSpPr>
          <p:cNvPr id="1120623526" name="Text 3"/>
          <p:cNvSpPr txBox="1"/>
          <p:nvPr/>
        </p:nvSpPr>
        <p:spPr bwMode="auto">
          <a:xfrm>
            <a:off x="841248" y="3291840"/>
            <a:ext cx="1700784" cy="731520"/>
          </a:xfrm>
          <a:prstGeom prst="rect">
            <a:avLst/>
          </a:prstGeom>
          <a:noFill/>
          <a:ln/>
        </p:spPr>
        <p:txBody>
          <a:bodyPr wrap="square" lIns="0" tIns="0" rIns="0" bIns="0" rtlCol="0" anchor="ctr"/>
          <a:lstStyle/>
          <a:p>
            <a:pPr marL="0" indent="0" algn="ctr">
              <a:buNone/>
              <a:defRPr/>
            </a:pPr>
            <a:r>
              <a:rPr lang="en-US" sz="2100" b="1">
                <a:solidFill>
                  <a:srgbClr val="241331"/>
                </a:solidFill>
                <a:latin typeface="Arial"/>
                <a:ea typeface="Arial"/>
                <a:cs typeface="Arial"/>
              </a:rPr>
              <a:t>Chat de ventas</a:t>
            </a:r>
            <a:endParaRPr lang="en-US" sz="2100"/>
          </a:p>
        </p:txBody>
      </p:sp>
      <p:sp>
        <p:nvSpPr>
          <p:cNvPr id="112505030" name="Shape 4"/>
          <p:cNvSpPr/>
          <p:nvPr/>
        </p:nvSpPr>
        <p:spPr bwMode="auto">
          <a:xfrm>
            <a:off x="2880360" y="3246120"/>
            <a:ext cx="1920240" cy="822960"/>
          </a:xfrm>
          <a:prstGeom prst="roundRect">
            <a:avLst>
              <a:gd name="adj" fmla="val 11111"/>
            </a:avLst>
          </a:prstGeom>
          <a:solidFill>
            <a:srgbClr val="F4EFFF"/>
          </a:solidFill>
          <a:ln w="19050">
            <a:solidFill>
              <a:srgbClr val="F4EFFF"/>
            </a:solidFill>
            <a:prstDash val="solid"/>
          </a:ln>
        </p:spPr>
      </p:sp>
      <p:sp>
        <p:nvSpPr>
          <p:cNvPr id="859750493" name="Text 5"/>
          <p:cNvSpPr txBox="1"/>
          <p:nvPr/>
        </p:nvSpPr>
        <p:spPr bwMode="auto">
          <a:xfrm>
            <a:off x="2990088" y="3291840"/>
            <a:ext cx="1700784" cy="731520"/>
          </a:xfrm>
          <a:prstGeom prst="rect">
            <a:avLst/>
          </a:prstGeom>
          <a:noFill/>
          <a:ln/>
        </p:spPr>
        <p:txBody>
          <a:bodyPr wrap="square" lIns="0" tIns="0" rIns="0" bIns="0" rtlCol="0" anchor="ctr"/>
          <a:lstStyle/>
          <a:p>
            <a:pPr marL="0" indent="0" algn="ctr">
              <a:buNone/>
              <a:defRPr/>
            </a:pPr>
            <a:r>
              <a:rPr lang="en-US" sz="2100" b="1">
                <a:solidFill>
                  <a:srgbClr val="241331"/>
                </a:solidFill>
                <a:latin typeface="Arial"/>
                <a:ea typeface="Arial"/>
                <a:cs typeface="Arial"/>
              </a:rPr>
              <a:t>Chat de tickets</a:t>
            </a:r>
            <a:endParaRPr lang="en-US" sz="2100"/>
          </a:p>
        </p:txBody>
      </p:sp>
      <p:sp>
        <p:nvSpPr>
          <p:cNvPr id="1326100826" name="Shape 6"/>
          <p:cNvSpPr/>
          <p:nvPr/>
        </p:nvSpPr>
        <p:spPr bwMode="auto">
          <a:xfrm>
            <a:off x="5029200" y="3246120"/>
            <a:ext cx="1920240" cy="822960"/>
          </a:xfrm>
          <a:prstGeom prst="roundRect">
            <a:avLst>
              <a:gd name="adj" fmla="val 11111"/>
            </a:avLst>
          </a:prstGeom>
          <a:solidFill>
            <a:srgbClr val="F4EFFF"/>
          </a:solidFill>
          <a:ln w="19050">
            <a:solidFill>
              <a:srgbClr val="F4EFFF"/>
            </a:solidFill>
            <a:prstDash val="solid"/>
          </a:ln>
        </p:spPr>
      </p:sp>
      <p:sp>
        <p:nvSpPr>
          <p:cNvPr id="2023862960" name="Text 7"/>
          <p:cNvSpPr txBox="1"/>
          <p:nvPr/>
        </p:nvSpPr>
        <p:spPr bwMode="auto">
          <a:xfrm>
            <a:off x="5138928" y="3291840"/>
            <a:ext cx="1700784" cy="731520"/>
          </a:xfrm>
          <a:prstGeom prst="rect">
            <a:avLst/>
          </a:prstGeom>
          <a:noFill/>
          <a:ln/>
        </p:spPr>
        <p:txBody>
          <a:bodyPr wrap="square" lIns="0" tIns="0" rIns="0" bIns="0" rtlCol="0" anchor="ctr"/>
          <a:lstStyle/>
          <a:p>
            <a:pPr marL="0" indent="0" algn="ctr">
              <a:buNone/>
              <a:defRPr/>
            </a:pPr>
            <a:r>
              <a:rPr lang="en-US" sz="2100" b="1">
                <a:solidFill>
                  <a:srgbClr val="241331"/>
                </a:solidFill>
                <a:latin typeface="Arial"/>
                <a:ea typeface="Arial"/>
                <a:cs typeface="Arial"/>
              </a:rPr>
              <a:t>Chat de reportes</a:t>
            </a:r>
            <a:endParaRPr lang="en-US" sz="2100"/>
          </a:p>
        </p:txBody>
      </p:sp>
      <p:sp>
        <p:nvSpPr>
          <p:cNvPr id="2049521622" name="Text 8"/>
          <p:cNvSpPr txBox="1"/>
          <p:nvPr/>
        </p:nvSpPr>
        <p:spPr bwMode="auto">
          <a:xfrm>
            <a:off x="731520" y="4572000"/>
            <a:ext cx="6766560" cy="594360"/>
          </a:xfrm>
          <a:prstGeom prst="rect">
            <a:avLst/>
          </a:prstGeom>
          <a:noFill/>
          <a:ln/>
        </p:spPr>
        <p:txBody>
          <a:bodyPr wrap="square" lIns="0" tIns="0" rIns="0" bIns="0" rtlCol="0" anchor="ctr"/>
          <a:lstStyle/>
          <a:p>
            <a:pPr marL="0" indent="0">
              <a:buNone/>
              <a:defRPr/>
            </a:pPr>
            <a:r>
              <a:rPr lang="en-US" sz="3000" b="1">
                <a:solidFill>
                  <a:srgbClr val="241331"/>
                </a:solidFill>
                <a:latin typeface="Arial"/>
                <a:ea typeface="Arial"/>
                <a:cs typeface="Arial"/>
              </a:rPr>
              <a:t>¡Otro chatbot corporativo™!</a:t>
            </a:r>
            <a:endParaRPr lang="en-US" sz="3000"/>
          </a:p>
        </p:txBody>
      </p:sp>
      <p:sp>
        <p:nvSpPr>
          <p:cNvPr id="1044496548" name="Text 9"/>
          <p:cNvSpPr txBox="1"/>
          <p:nvPr/>
        </p:nvSpPr>
        <p:spPr bwMode="auto">
          <a:xfrm>
            <a:off x="731520" y="5852160"/>
            <a:ext cx="10789920" cy="594360"/>
          </a:xfrm>
          <a:prstGeom prst="rect">
            <a:avLst/>
          </a:prstGeom>
          <a:noFill/>
          <a:ln/>
        </p:spPr>
        <p:txBody>
          <a:bodyPr wrap="square" lIns="0" tIns="0" rIns="0" bIns="0" rtlCol="0" anchor="ctr"/>
          <a:lstStyle/>
          <a:p>
            <a:pPr marL="0" indent="0">
              <a:buNone/>
              <a:defRPr/>
            </a:pPr>
            <a:r>
              <a:rPr lang="en-US" sz="2700" b="1">
                <a:solidFill>
                  <a:srgbClr val="6934C6"/>
                </a:solidFill>
                <a:latin typeface="Arial"/>
                <a:ea typeface="Arial"/>
                <a:cs typeface="Arial"/>
              </a:rPr>
              <a:t>Ya tenemos un chat. Conectemos nuestras herramientas.</a:t>
            </a:r>
            <a:endParaRPr lang="en-US" sz="27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1340427408"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ACTO VI</a:t>
            </a:r>
            <a:r>
              <a:rPr lang="es-ES" sz="1400" b="1">
                <a:solidFill>
                  <a:srgbClr val="6934C6"/>
                </a:solidFill>
                <a:latin typeface="Arial"/>
                <a:ea typeface="Arial"/>
                <a:cs typeface="Arial"/>
              </a:rPr>
              <a:t> </a:t>
            </a:r>
            <a:r>
              <a:rPr lang="en-US" sz="1400" b="1">
                <a:solidFill>
                  <a:srgbClr val="6934C6"/>
                </a:solidFill>
                <a:latin typeface="Arial"/>
                <a:ea typeface="Arial"/>
                <a:cs typeface="Arial"/>
              </a:rPr>
              <a:t> /</a:t>
            </a:r>
            <a:r>
              <a:rPr lang="es-ES" sz="1400" b="1">
                <a:solidFill>
                  <a:srgbClr val="6934C6"/>
                </a:solidFill>
                <a:latin typeface="Arial"/>
                <a:ea typeface="Arial"/>
                <a:cs typeface="Arial"/>
              </a:rPr>
              <a:t> </a:t>
            </a:r>
            <a:r>
              <a:rPr lang="en-US" sz="1400" b="1">
                <a:solidFill>
                  <a:srgbClr val="6934C6"/>
                </a:solidFill>
                <a:latin typeface="Arial"/>
                <a:ea typeface="Arial"/>
                <a:cs typeface="Arial"/>
              </a:rPr>
              <a:t> </a:t>
            </a:r>
            <a:r>
              <a:rPr lang="es-ES" sz="1400" b="1">
                <a:solidFill>
                  <a:srgbClr val="6934C6"/>
                </a:solidFill>
                <a:latin typeface="Arial"/>
                <a:ea typeface="Arial"/>
                <a:cs typeface="Arial"/>
              </a:rPr>
              <a:t>VOLVAMOS A LA OFICINA</a:t>
            </a:r>
            <a:endParaRPr lang="en-US" sz="1400"/>
          </a:p>
        </p:txBody>
      </p:sp>
      <p:sp>
        <p:nvSpPr>
          <p:cNvPr id="1417087535"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n-US" sz="3800" b="1">
                <a:solidFill>
                  <a:srgbClr val="241331"/>
                </a:solidFill>
                <a:latin typeface="Arial"/>
                <a:ea typeface="Arial"/>
                <a:cs typeface="Arial"/>
              </a:rPr>
              <a:t>La misma IA. Más sistemas a su alcance.</a:t>
            </a:r>
            <a:endParaRPr lang="en-US" sz="3800"/>
          </a:p>
        </p:txBody>
      </p:sp>
      <p:sp>
        <p:nvSpPr>
          <p:cNvPr id="74010910" name="Shape 2"/>
          <p:cNvSpPr/>
          <p:nvPr/>
        </p:nvSpPr>
        <p:spPr bwMode="auto">
          <a:xfrm>
            <a:off x="731520" y="2743200"/>
            <a:ext cx="3749040" cy="1417320"/>
          </a:xfrm>
          <a:prstGeom prst="roundRect">
            <a:avLst>
              <a:gd name="adj" fmla="val 6452"/>
            </a:avLst>
          </a:prstGeom>
          <a:solidFill>
            <a:srgbClr val="6934C6"/>
          </a:solidFill>
          <a:ln w="19050">
            <a:solidFill>
              <a:srgbClr val="6934C6"/>
            </a:solidFill>
            <a:prstDash val="solid"/>
          </a:ln>
        </p:spPr>
      </p:sp>
      <p:sp>
        <p:nvSpPr>
          <p:cNvPr id="148085967" name="Text 3"/>
          <p:cNvSpPr txBox="1"/>
          <p:nvPr/>
        </p:nvSpPr>
        <p:spPr bwMode="auto">
          <a:xfrm>
            <a:off x="841248" y="2788920"/>
            <a:ext cx="3529584" cy="1325880"/>
          </a:xfrm>
          <a:prstGeom prst="rect">
            <a:avLst/>
          </a:prstGeom>
          <a:noFill/>
          <a:ln/>
        </p:spPr>
        <p:txBody>
          <a:bodyPr wrap="square" lIns="0" tIns="0" rIns="0" bIns="0" rtlCol="0" anchor="ctr"/>
          <a:lstStyle/>
          <a:p>
            <a:pPr marL="0" indent="0" algn="ctr">
              <a:buNone/>
              <a:defRPr/>
            </a:pPr>
            <a:r>
              <a:rPr lang="en-US" sz="3100" b="1">
                <a:solidFill>
                  <a:srgbClr val="FFFFFF"/>
                </a:solidFill>
                <a:latin typeface="Arial"/>
                <a:ea typeface="Arial"/>
                <a:cs typeface="Arial"/>
              </a:rPr>
              <a:t>Tu chat habitual</a:t>
            </a:r>
            <a:endParaRPr lang="en-US" sz="3100"/>
          </a:p>
          <a:p>
            <a:pPr marL="0" indent="0" algn="ctr">
              <a:buNone/>
              <a:defRPr/>
            </a:pPr>
            <a:r>
              <a:rPr lang="en-US" sz="3100" b="1">
                <a:solidFill>
                  <a:srgbClr val="FFFFFF"/>
                </a:solidFill>
                <a:latin typeface="Arial"/>
                <a:ea typeface="Arial"/>
                <a:cs typeface="Arial"/>
              </a:rPr>
              <a:t>ChatGPT / Claude</a:t>
            </a:r>
            <a:endParaRPr lang="en-US" sz="3100"/>
          </a:p>
        </p:txBody>
      </p:sp>
      <p:sp>
        <p:nvSpPr>
          <p:cNvPr id="419346841" name="Shape 4"/>
          <p:cNvSpPr/>
          <p:nvPr/>
        </p:nvSpPr>
        <p:spPr bwMode="auto">
          <a:xfrm>
            <a:off x="5212080" y="3108960"/>
            <a:ext cx="2514600" cy="731520"/>
          </a:xfrm>
          <a:prstGeom prst="roundRect">
            <a:avLst>
              <a:gd name="adj" fmla="val 12500"/>
            </a:avLst>
          </a:prstGeom>
          <a:solidFill>
            <a:srgbClr val="F4EFFF"/>
          </a:solidFill>
          <a:ln w="19050">
            <a:solidFill>
              <a:srgbClr val="F4EFFF"/>
            </a:solidFill>
            <a:prstDash val="solid"/>
          </a:ln>
        </p:spPr>
      </p:sp>
      <p:sp>
        <p:nvSpPr>
          <p:cNvPr id="829710243" name="Text 5"/>
          <p:cNvSpPr txBox="1"/>
          <p:nvPr/>
        </p:nvSpPr>
        <p:spPr bwMode="auto">
          <a:xfrm>
            <a:off x="5321808" y="3154680"/>
            <a:ext cx="2295144" cy="640080"/>
          </a:xfrm>
          <a:prstGeom prst="rect">
            <a:avLst/>
          </a:prstGeom>
          <a:noFill/>
          <a:ln/>
        </p:spPr>
        <p:txBody>
          <a:bodyPr wrap="square" lIns="0" tIns="0" rIns="0" bIns="0" rtlCol="0" anchor="ctr"/>
          <a:lstStyle/>
          <a:p>
            <a:pPr marL="0" indent="0" algn="ctr">
              <a:buNone/>
              <a:defRPr/>
            </a:pPr>
            <a:r>
              <a:rPr lang="en-US" sz="2200" b="1">
                <a:solidFill>
                  <a:srgbClr val="241331"/>
                </a:solidFill>
                <a:latin typeface="Arial"/>
                <a:ea typeface="Arial"/>
                <a:cs typeface="Arial"/>
              </a:rPr>
              <a:t>Conexiones MCP</a:t>
            </a:r>
            <a:endParaRPr lang="en-US" sz="2200"/>
          </a:p>
        </p:txBody>
      </p:sp>
      <p:sp>
        <p:nvSpPr>
          <p:cNvPr id="937487008" name="Shape 6"/>
          <p:cNvSpPr/>
          <p:nvPr/>
        </p:nvSpPr>
        <p:spPr bwMode="auto">
          <a:xfrm>
            <a:off x="4480560" y="3474720"/>
            <a:ext cx="731520" cy="0"/>
          </a:xfrm>
          <a:prstGeom prst="line">
            <a:avLst/>
          </a:prstGeom>
          <a:noFill/>
          <a:ln w="25400">
            <a:solidFill>
              <a:srgbClr val="6934C6"/>
            </a:solidFill>
            <a:prstDash val="solid"/>
            <a:tailEnd type="triangle"/>
          </a:ln>
        </p:spPr>
      </p:sp>
      <p:sp>
        <p:nvSpPr>
          <p:cNvPr id="1709138427" name="Shape 7"/>
          <p:cNvSpPr/>
          <p:nvPr/>
        </p:nvSpPr>
        <p:spPr bwMode="auto">
          <a:xfrm>
            <a:off x="9235440" y="2194560"/>
            <a:ext cx="2240280" cy="731520"/>
          </a:xfrm>
          <a:prstGeom prst="roundRect">
            <a:avLst>
              <a:gd name="adj" fmla="val 12500"/>
            </a:avLst>
          </a:prstGeom>
          <a:solidFill>
            <a:srgbClr val="F4EFFF"/>
          </a:solidFill>
          <a:ln w="19050">
            <a:solidFill>
              <a:srgbClr val="F4EFFF"/>
            </a:solidFill>
            <a:prstDash val="solid"/>
          </a:ln>
        </p:spPr>
      </p:sp>
      <p:sp>
        <p:nvSpPr>
          <p:cNvPr id="236466765" name="Text 8"/>
          <p:cNvSpPr txBox="1"/>
          <p:nvPr/>
        </p:nvSpPr>
        <p:spPr bwMode="auto">
          <a:xfrm>
            <a:off x="9345168" y="2240280"/>
            <a:ext cx="2020824" cy="640080"/>
          </a:xfrm>
          <a:prstGeom prst="rect">
            <a:avLst/>
          </a:prstGeom>
          <a:noFill/>
          <a:ln/>
        </p:spPr>
        <p:txBody>
          <a:bodyPr wrap="square" lIns="0" tIns="0" rIns="0" bIns="0" rtlCol="0" anchor="ctr"/>
          <a:lstStyle/>
          <a:p>
            <a:pPr marL="0" indent="0" algn="ctr">
              <a:buNone/>
              <a:defRPr/>
            </a:pPr>
            <a:r>
              <a:rPr lang="en-US" sz="2400" b="1">
                <a:solidFill>
                  <a:srgbClr val="241331"/>
                </a:solidFill>
                <a:latin typeface="Arial"/>
                <a:ea typeface="Arial"/>
                <a:cs typeface="Arial"/>
              </a:rPr>
              <a:t>Ventas</a:t>
            </a:r>
            <a:endParaRPr lang="en-US" sz="2400"/>
          </a:p>
        </p:txBody>
      </p:sp>
      <p:sp>
        <p:nvSpPr>
          <p:cNvPr id="256151646" name="Shape 9"/>
          <p:cNvSpPr/>
          <p:nvPr/>
        </p:nvSpPr>
        <p:spPr bwMode="auto">
          <a:xfrm flipH="0" flipV="1">
            <a:off x="7726680" y="2560320"/>
            <a:ext cx="1508758" cy="914399"/>
          </a:xfrm>
          <a:prstGeom prst="line">
            <a:avLst/>
          </a:prstGeom>
          <a:noFill/>
          <a:ln w="25400">
            <a:solidFill>
              <a:srgbClr val="6934C6"/>
            </a:solidFill>
            <a:prstDash val="solid"/>
            <a:tailEnd type="triangle"/>
          </a:ln>
        </p:spPr>
      </p:sp>
      <p:sp>
        <p:nvSpPr>
          <p:cNvPr id="1761137395" name="Shape 10"/>
          <p:cNvSpPr/>
          <p:nvPr/>
        </p:nvSpPr>
        <p:spPr bwMode="auto">
          <a:xfrm>
            <a:off x="9235440" y="3291840"/>
            <a:ext cx="2240280" cy="731520"/>
          </a:xfrm>
          <a:prstGeom prst="roundRect">
            <a:avLst>
              <a:gd name="adj" fmla="val 12500"/>
            </a:avLst>
          </a:prstGeom>
          <a:solidFill>
            <a:srgbClr val="F4EFFF"/>
          </a:solidFill>
          <a:ln w="19050">
            <a:solidFill>
              <a:srgbClr val="F4EFFF"/>
            </a:solidFill>
            <a:prstDash val="solid"/>
          </a:ln>
        </p:spPr>
      </p:sp>
      <p:sp>
        <p:nvSpPr>
          <p:cNvPr id="15179801" name="Text 11"/>
          <p:cNvSpPr txBox="1"/>
          <p:nvPr/>
        </p:nvSpPr>
        <p:spPr bwMode="auto">
          <a:xfrm>
            <a:off x="9345168" y="3337560"/>
            <a:ext cx="2020824" cy="640080"/>
          </a:xfrm>
          <a:prstGeom prst="rect">
            <a:avLst/>
          </a:prstGeom>
          <a:noFill/>
          <a:ln/>
        </p:spPr>
        <p:txBody>
          <a:bodyPr wrap="square" lIns="0" tIns="0" rIns="0" bIns="0" rtlCol="0" anchor="ctr"/>
          <a:lstStyle/>
          <a:p>
            <a:pPr marL="0" indent="0" algn="ctr">
              <a:buNone/>
              <a:defRPr/>
            </a:pPr>
            <a:r>
              <a:rPr lang="en-US" sz="2400" b="1">
                <a:solidFill>
                  <a:srgbClr val="241331"/>
                </a:solidFill>
                <a:latin typeface="Arial"/>
                <a:ea typeface="Arial"/>
                <a:cs typeface="Arial"/>
              </a:rPr>
              <a:t>Tickets</a:t>
            </a:r>
            <a:endParaRPr lang="en-US" sz="2400"/>
          </a:p>
        </p:txBody>
      </p:sp>
      <p:sp>
        <p:nvSpPr>
          <p:cNvPr id="401259949" name="Shape 12"/>
          <p:cNvSpPr/>
          <p:nvPr/>
        </p:nvSpPr>
        <p:spPr bwMode="auto">
          <a:xfrm>
            <a:off x="7726680" y="3474720"/>
            <a:ext cx="1508759" cy="182880"/>
          </a:xfrm>
          <a:prstGeom prst="line">
            <a:avLst/>
          </a:prstGeom>
          <a:noFill/>
          <a:ln w="25400">
            <a:solidFill>
              <a:srgbClr val="6934C6"/>
            </a:solidFill>
            <a:prstDash val="solid"/>
            <a:tailEnd type="triangle"/>
          </a:ln>
        </p:spPr>
      </p:sp>
      <p:sp>
        <p:nvSpPr>
          <p:cNvPr id="932922255" name="Shape 13"/>
          <p:cNvSpPr/>
          <p:nvPr/>
        </p:nvSpPr>
        <p:spPr bwMode="auto">
          <a:xfrm>
            <a:off x="9235440" y="4389120"/>
            <a:ext cx="2240280" cy="731520"/>
          </a:xfrm>
          <a:prstGeom prst="roundRect">
            <a:avLst>
              <a:gd name="adj" fmla="val 12500"/>
            </a:avLst>
          </a:prstGeom>
          <a:solidFill>
            <a:srgbClr val="F4EFFF"/>
          </a:solidFill>
          <a:ln w="19050">
            <a:solidFill>
              <a:srgbClr val="F4EFFF"/>
            </a:solidFill>
            <a:prstDash val="solid"/>
          </a:ln>
        </p:spPr>
      </p:sp>
      <p:sp>
        <p:nvSpPr>
          <p:cNvPr id="181620280" name="Text 14"/>
          <p:cNvSpPr txBox="1"/>
          <p:nvPr/>
        </p:nvSpPr>
        <p:spPr bwMode="auto">
          <a:xfrm>
            <a:off x="9345168" y="4434840"/>
            <a:ext cx="2020824" cy="640080"/>
          </a:xfrm>
          <a:prstGeom prst="rect">
            <a:avLst/>
          </a:prstGeom>
          <a:noFill/>
          <a:ln/>
        </p:spPr>
        <p:txBody>
          <a:bodyPr wrap="square" lIns="0" tIns="0" rIns="0" bIns="0" rtlCol="0" anchor="ctr"/>
          <a:lstStyle/>
          <a:p>
            <a:pPr marL="0" indent="0" algn="ctr">
              <a:buNone/>
              <a:defRPr/>
            </a:pPr>
            <a:r>
              <a:rPr lang="en-US" sz="2400" b="1">
                <a:solidFill>
                  <a:srgbClr val="241331"/>
                </a:solidFill>
                <a:latin typeface="Arial"/>
                <a:ea typeface="Arial"/>
                <a:cs typeface="Arial"/>
              </a:rPr>
              <a:t>Reportes</a:t>
            </a:r>
            <a:endParaRPr lang="en-US" sz="2400"/>
          </a:p>
        </p:txBody>
      </p:sp>
      <p:sp>
        <p:nvSpPr>
          <p:cNvPr id="46668650" name="Shape 15"/>
          <p:cNvSpPr/>
          <p:nvPr/>
        </p:nvSpPr>
        <p:spPr bwMode="auto">
          <a:xfrm>
            <a:off x="7726680" y="3474720"/>
            <a:ext cx="1508759" cy="1280160"/>
          </a:xfrm>
          <a:prstGeom prst="line">
            <a:avLst/>
          </a:prstGeom>
          <a:noFill/>
          <a:ln w="25400">
            <a:solidFill>
              <a:srgbClr val="6934C6"/>
            </a:solidFill>
            <a:prstDash val="solid"/>
            <a:tailEnd type="triangle"/>
          </a:ln>
        </p:spPr>
      </p:sp>
      <p:sp>
        <p:nvSpPr>
          <p:cNvPr id="1727219515" name="Text 16"/>
          <p:cNvSpPr txBox="1"/>
          <p:nvPr/>
        </p:nvSpPr>
        <p:spPr bwMode="auto">
          <a:xfrm>
            <a:off x="731520" y="4983480"/>
            <a:ext cx="10789920" cy="548640"/>
          </a:xfrm>
          <a:prstGeom prst="rect">
            <a:avLst/>
          </a:prstGeom>
          <a:noFill/>
          <a:ln/>
        </p:spPr>
        <p:txBody>
          <a:bodyPr wrap="square" lIns="0" tIns="0" rIns="0" bIns="0" rtlCol="0" anchor="ctr"/>
          <a:lstStyle/>
          <a:p>
            <a:pPr marL="0" indent="0">
              <a:buNone/>
              <a:defRPr/>
            </a:pPr>
            <a:r>
              <a:rPr lang="en-US" sz="3000" b="1">
                <a:solidFill>
                  <a:srgbClr val="6934C6"/>
                </a:solidFill>
                <a:latin typeface="Arial"/>
                <a:ea typeface="Arial"/>
                <a:cs typeface="Arial"/>
              </a:rPr>
              <a:t>Sin aprender otro chat para cada necesidad.</a:t>
            </a:r>
            <a:endParaRPr lang="en-US" sz="3000"/>
          </a:p>
        </p:txBody>
      </p:sp>
      <p:sp>
        <p:nvSpPr>
          <p:cNvPr id="587953376" name="Text 17"/>
          <p:cNvSpPr txBox="1"/>
          <p:nvPr/>
        </p:nvSpPr>
        <p:spPr bwMode="auto">
          <a:xfrm>
            <a:off x="731520" y="5760720"/>
            <a:ext cx="10789920" cy="731520"/>
          </a:xfrm>
          <a:prstGeom prst="rect">
            <a:avLst/>
          </a:prstGeom>
          <a:noFill/>
          <a:ln/>
        </p:spPr>
        <p:txBody>
          <a:bodyPr wrap="square" lIns="0" tIns="0" rIns="0" bIns="0" rtlCol="0" anchor="ctr"/>
          <a:lstStyle/>
          <a:p>
            <a:pPr marL="0" indent="0">
              <a:buNone/>
              <a:defRPr/>
            </a:pPr>
            <a:r>
              <a:rPr lang="en-US" sz="2000">
                <a:solidFill>
                  <a:srgbClr val="756784"/>
                </a:solidFill>
                <a:latin typeface="Arial"/>
                <a:ea typeface="Arial"/>
                <a:cs typeface="Arial"/>
              </a:rPr>
              <a:t>Soporte y configuración según producto, plan y permisos.</a:t>
            </a:r>
            <a:endParaRPr lang="en-US" sz="2000"/>
          </a:p>
          <a:p>
            <a:pPr marL="0" indent="0">
              <a:buNone/>
              <a:defRPr/>
            </a:pPr>
            <a:r>
              <a:rPr lang="en-US" sz="2000">
                <a:solidFill>
                  <a:srgbClr val="756784"/>
                </a:solidFill>
                <a:latin typeface="Arial"/>
                <a:ea typeface="Arial"/>
                <a:cs typeface="Arial"/>
              </a:rPr>
              <a:t>En desarrollo: Claude Code · Codex · OpenCode.</a:t>
            </a:r>
            <a:endParaRPr lang="en-US"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6">
    <p:bg>
      <p:bgPr shadeToTitle="0">
        <a:solidFill>
          <a:srgbClr val="291244"/>
        </a:solidFill>
      </p:bgPr>
    </p:bg>
    <p:spTree>
      <p:nvGrpSpPr>
        <p:cNvPr id="1" name=""/>
        <p:cNvGrpSpPr/>
        <p:nvPr/>
      </p:nvGrpSpPr>
      <p:grpSpPr bwMode="auto">
        <a:xfrm>
          <a:off x="0" y="0"/>
          <a:ext cx="0" cy="0"/>
          <a:chOff x="0" y="0"/>
          <a:chExt cx="0" cy="0"/>
        </a:xfrm>
      </p:grpSpPr>
      <p:sp>
        <p:nvSpPr>
          <p:cNvPr id="1228951611" name="Text 0"/>
          <p:cNvSpPr txBox="1"/>
          <p:nvPr/>
        </p:nvSpPr>
        <p:spPr bwMode="auto">
          <a:xfrm>
            <a:off x="777240" y="640080"/>
            <a:ext cx="10607040" cy="502920"/>
          </a:xfrm>
          <a:prstGeom prst="rect">
            <a:avLst/>
          </a:prstGeom>
          <a:noFill/>
          <a:ln/>
        </p:spPr>
        <p:txBody>
          <a:bodyPr wrap="square" lIns="0" tIns="0" rIns="0" bIns="0" rtlCol="0" anchor="ctr"/>
          <a:lstStyle/>
          <a:p>
            <a:pPr marL="0" indent="0">
              <a:buNone/>
              <a:defRPr/>
            </a:pPr>
            <a:r>
              <a:rPr lang="en-US" sz="2200" b="1">
                <a:solidFill>
                  <a:srgbClr val="D5F46A"/>
                </a:solidFill>
                <a:latin typeface="Arial"/>
                <a:ea typeface="Arial"/>
                <a:cs typeface="Arial"/>
              </a:rPr>
              <a:t>ACTO VII</a:t>
            </a:r>
            <a:endParaRPr lang="en-US" sz="2200"/>
          </a:p>
        </p:txBody>
      </p:sp>
      <p:sp>
        <p:nvSpPr>
          <p:cNvPr id="748388685" name="Text 1"/>
          <p:cNvSpPr txBox="1"/>
          <p:nvPr/>
        </p:nvSpPr>
        <p:spPr bwMode="auto">
          <a:xfrm>
            <a:off x="777240" y="1554480"/>
            <a:ext cx="10607040" cy="1188720"/>
          </a:xfrm>
          <a:prstGeom prst="rect">
            <a:avLst/>
          </a:prstGeom>
          <a:noFill/>
          <a:ln/>
        </p:spPr>
        <p:txBody>
          <a:bodyPr wrap="square" lIns="0" tIns="0" rIns="0" bIns="0" rtlCol="0" anchor="ctr"/>
          <a:lstStyle/>
          <a:p>
            <a:pPr marL="0" indent="0">
              <a:buNone/>
              <a:defRPr/>
            </a:pPr>
            <a:r>
              <a:rPr lang="en-US" sz="4000" b="1">
                <a:solidFill>
                  <a:srgbClr val="FFFFFF"/>
                </a:solidFill>
                <a:latin typeface="Arial"/>
                <a:ea typeface="Arial"/>
                <a:cs typeface="Arial"/>
              </a:rPr>
              <a:t>Demos oficiales en ChatGPT</a:t>
            </a:r>
            <a:endParaRPr lang="en-US" sz="4000"/>
          </a:p>
        </p:txBody>
      </p:sp>
      <p:sp>
        <p:nvSpPr>
          <p:cNvPr id="1919751755" name="Text 2"/>
          <p:cNvSpPr txBox="1"/>
          <p:nvPr/>
        </p:nvSpPr>
        <p:spPr bwMode="auto">
          <a:xfrm>
            <a:off x="777240" y="3200400"/>
            <a:ext cx="10515600" cy="2103120"/>
          </a:xfrm>
          <a:prstGeom prst="rect">
            <a:avLst/>
          </a:prstGeom>
          <a:noFill/>
          <a:ln/>
        </p:spPr>
        <p:txBody>
          <a:bodyPr wrap="square" lIns="0" tIns="0" rIns="0" bIns="0" rtlCol="0" anchor="ctr"/>
          <a:lstStyle/>
          <a:p>
            <a:pPr marL="0" indent="0">
              <a:buNone/>
              <a:defRPr/>
            </a:pPr>
            <a:r>
              <a:rPr lang="en-US" sz="5100" b="1">
                <a:solidFill>
                  <a:srgbClr val="FFFFFF"/>
                </a:solidFill>
                <a:latin typeface="Arial"/>
                <a:ea typeface="Arial"/>
                <a:cs typeface="Arial"/>
              </a:rPr>
              <a:t>Primero: lo que ya existe.</a:t>
            </a:r>
            <a:endParaRPr lang="en-US" sz="5100"/>
          </a:p>
          <a:p>
            <a:pPr marL="0" indent="0">
              <a:buNone/>
              <a:defRPr/>
            </a:pPr>
            <a:r>
              <a:rPr lang="en-US" sz="5100" b="1">
                <a:solidFill>
                  <a:srgbClr val="FFFFFF"/>
                </a:solidFill>
                <a:latin typeface="Arial"/>
                <a:ea typeface="Arial"/>
                <a:cs typeface="Arial"/>
              </a:rPr>
              <a:t>Sin sacar la laptop a producción.</a:t>
            </a:r>
            <a:endParaRPr lang="en-US" sz="5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9">
    <p:bg>
      <p:bgPr shadeToTitle="0">
        <a:solidFill>
          <a:srgbClr val="FFFFFF"/>
        </a:solidFill>
      </p:bgPr>
    </p:bg>
    <p:spTree>
      <p:nvGrpSpPr>
        <p:cNvPr id="1" name=""/>
        <p:cNvGrpSpPr/>
        <p:nvPr/>
      </p:nvGrpSpPr>
      <p:grpSpPr bwMode="auto">
        <a:xfrm>
          <a:off x="0" y="0"/>
          <a:ext cx="0" cy="0"/>
          <a:chOff x="0" y="0"/>
          <a:chExt cx="0" cy="0"/>
        </a:xfrm>
      </p:grpSpPr>
      <p:pic>
        <p:nvPicPr>
          <p:cNvPr id="1091829323" name="">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rotWithShape="1">
          <a:blip r:embed="rId3"/>
          <a:stretch/>
        </p:blipFill>
        <p:spPr bwMode="auto">
          <a:xfrm flipH="0" flipV="0">
            <a:off x="245952" y="126884"/>
            <a:ext cx="11700094" cy="660423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291244"/>
        </a:solidFill>
      </p:bgPr>
    </p:bg>
    <p:spTree>
      <p:nvGrpSpPr>
        <p:cNvPr id="1" name=""/>
        <p:cNvGrpSpPr/>
        <p:nvPr/>
      </p:nvGrpSpPr>
      <p:grpSpPr bwMode="auto">
        <a:xfrm>
          <a:off x="0" y="0"/>
          <a:ext cx="0" cy="0"/>
          <a:chOff x="0" y="0"/>
          <a:chExt cx="0" cy="0"/>
        </a:xfrm>
      </p:grpSpPr>
      <p:sp>
        <p:nvSpPr>
          <p:cNvPr id="810938590" name="Text 0"/>
          <p:cNvSpPr txBox="1"/>
          <p:nvPr/>
        </p:nvSpPr>
        <p:spPr bwMode="auto">
          <a:xfrm>
            <a:off x="777240" y="640080"/>
            <a:ext cx="10607040" cy="502920"/>
          </a:xfrm>
          <a:prstGeom prst="rect">
            <a:avLst/>
          </a:prstGeom>
          <a:noFill/>
          <a:ln/>
        </p:spPr>
        <p:txBody>
          <a:bodyPr wrap="square" lIns="0" tIns="0" rIns="0" bIns="0" rtlCol="0" anchor="ctr"/>
          <a:lstStyle/>
          <a:p>
            <a:pPr marL="0" indent="0">
              <a:buNone/>
              <a:defRPr/>
            </a:pPr>
            <a:r>
              <a:rPr lang="en-US" sz="2200" b="1">
                <a:solidFill>
                  <a:srgbClr val="D5F46A"/>
                </a:solidFill>
                <a:latin typeface="Arial"/>
                <a:ea typeface="Arial"/>
                <a:cs typeface="Arial"/>
              </a:rPr>
              <a:t>ACTO </a:t>
            </a:r>
            <a:r>
              <a:rPr lang="es-ES" sz="2200" b="1">
                <a:solidFill>
                  <a:srgbClr val="D5F46A"/>
                </a:solidFill>
                <a:latin typeface="Arial"/>
                <a:ea typeface="Arial"/>
                <a:cs typeface="Arial"/>
              </a:rPr>
              <a:t>VIII</a:t>
            </a:r>
            <a:endParaRPr lang="en-US" sz="2200"/>
          </a:p>
        </p:txBody>
      </p:sp>
      <p:sp>
        <p:nvSpPr>
          <p:cNvPr id="1306289821" name="Text 1"/>
          <p:cNvSpPr txBox="1"/>
          <p:nvPr/>
        </p:nvSpPr>
        <p:spPr bwMode="auto">
          <a:xfrm>
            <a:off x="777240" y="1554480"/>
            <a:ext cx="10607040" cy="1188720"/>
          </a:xfrm>
          <a:prstGeom prst="rect">
            <a:avLst/>
          </a:prstGeom>
          <a:noFill/>
          <a:ln/>
        </p:spPr>
        <p:txBody>
          <a:bodyPr wrap="square" lIns="0" tIns="0" rIns="0" bIns="0" rtlCol="0" anchor="ctr"/>
          <a:lstStyle/>
          <a:p>
            <a:pPr marL="0" indent="0">
              <a:buNone/>
              <a:defRPr/>
            </a:pPr>
            <a:r>
              <a:rPr lang="en-US" sz="4000" b="1">
                <a:solidFill>
                  <a:srgbClr val="FFFFFF"/>
                </a:solidFill>
                <a:latin typeface="Arial"/>
                <a:ea typeface="Arial"/>
                <a:cs typeface="Arial"/>
              </a:rPr>
              <a:t>Ahora, mi propio sistema</a:t>
            </a:r>
            <a:endParaRPr lang="en-US" sz="4000"/>
          </a:p>
        </p:txBody>
      </p:sp>
      <p:sp>
        <p:nvSpPr>
          <p:cNvPr id="1162319307" name="Text 2"/>
          <p:cNvSpPr txBox="1"/>
          <p:nvPr/>
        </p:nvSpPr>
        <p:spPr bwMode="auto">
          <a:xfrm>
            <a:off x="777240" y="3200400"/>
            <a:ext cx="10515600" cy="2103120"/>
          </a:xfrm>
          <a:prstGeom prst="rect">
            <a:avLst/>
          </a:prstGeom>
          <a:noFill/>
          <a:ln/>
        </p:spPr>
        <p:txBody>
          <a:bodyPr wrap="square" lIns="0" tIns="0" rIns="0" bIns="0" rtlCol="0" anchor="ctr"/>
          <a:lstStyle/>
          <a:p>
            <a:pPr marL="0" indent="0">
              <a:buNone/>
              <a:defRPr/>
            </a:pPr>
            <a:r>
              <a:rPr lang="en-US" sz="5100" b="1">
                <a:solidFill>
                  <a:srgbClr val="FFFFFF"/>
                </a:solidFill>
                <a:latin typeface="Arial"/>
                <a:ea typeface="Arial"/>
                <a:cs typeface="Arial"/>
              </a:rPr>
              <a:t>Como todo sistema profesional…</a:t>
            </a:r>
            <a:br>
              <a:rPr lang="en-US" sz="5100" b="1">
                <a:solidFill>
                  <a:srgbClr val="FFFFFF"/>
                </a:solidFill>
                <a:latin typeface="Arial"/>
                <a:ea typeface="Arial"/>
                <a:cs typeface="Arial"/>
              </a:rPr>
            </a:br>
            <a:r>
              <a:rPr lang="en-US" sz="5100" b="1">
                <a:solidFill>
                  <a:srgbClr val="FFFFFF"/>
                </a:solidFill>
                <a:latin typeface="Arial"/>
                <a:ea typeface="Arial"/>
                <a:cs typeface="Arial"/>
              </a:rPr>
              <a:t>corre desde mi laptop.</a:t>
            </a:r>
            <a:endParaRPr lang="en-US" sz="5100"/>
          </a:p>
          <a:p>
            <a:pPr marL="0" indent="0">
              <a:buNone/>
              <a:defRPr/>
            </a:pPr>
            <a:endParaRPr lang="en-US" sz="5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7">
    <p:bg>
      <p:bgPr shadeToTitle="0">
        <a:solidFill>
          <a:srgbClr val="FFFFFF"/>
        </a:solidFill>
      </p:bgPr>
    </p:bg>
    <p:spTree>
      <p:nvGrpSpPr>
        <p:cNvPr id="1" name=""/>
        <p:cNvGrpSpPr/>
        <p:nvPr/>
      </p:nvGrpSpPr>
      <p:grpSpPr bwMode="auto">
        <a:xfrm>
          <a:off x="0" y="0"/>
          <a:ext cx="0" cy="0"/>
          <a:chOff x="0" y="0"/>
          <a:chExt cx="0" cy="0"/>
        </a:xfrm>
      </p:grpSpPr>
      <p:sp>
        <p:nvSpPr>
          <p:cNvPr id="700210017"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ACTO </a:t>
            </a:r>
            <a:r>
              <a:rPr lang="es-ES" sz="1400" b="1">
                <a:solidFill>
                  <a:srgbClr val="6934C6"/>
                </a:solidFill>
                <a:latin typeface="Arial"/>
                <a:ea typeface="Arial"/>
                <a:cs typeface="Arial"/>
              </a:rPr>
              <a:t>VIII</a:t>
            </a:r>
            <a:r>
              <a:rPr lang="en-US" sz="1400" b="1">
                <a:solidFill>
                  <a:srgbClr val="6934C6"/>
                </a:solidFill>
                <a:latin typeface="Arial"/>
                <a:ea typeface="Arial"/>
                <a:cs typeface="Arial"/>
              </a:rPr>
              <a:t>   /   DEMO</a:t>
            </a:r>
            <a:endParaRPr lang="en-US" sz="1400"/>
          </a:p>
        </p:txBody>
      </p:sp>
      <p:sp>
        <p:nvSpPr>
          <p:cNvPr id="532417307" name="Text 1"/>
          <p:cNvSpPr txBox="1"/>
          <p:nvPr/>
        </p:nvSpPr>
        <p:spPr bwMode="auto">
          <a:xfrm>
            <a:off x="594360" y="777240"/>
            <a:ext cx="10972800" cy="731520"/>
          </a:xfrm>
          <a:prstGeom prst="rect">
            <a:avLst/>
          </a:prstGeom>
          <a:noFill/>
          <a:ln/>
        </p:spPr>
        <p:txBody>
          <a:bodyPr wrap="square" lIns="0" tIns="0" rIns="0" bIns="0" rtlCol="0" anchor="ctr"/>
          <a:lstStyle/>
          <a:p>
            <a:pPr marL="0" indent="0">
              <a:buNone/>
              <a:defRPr/>
            </a:pPr>
            <a:r>
              <a:rPr lang="en-US" sz="4000" b="1">
                <a:solidFill>
                  <a:schemeClr val="tx1"/>
                </a:solidFill>
                <a:latin typeface="Arial"/>
                <a:ea typeface="Arial"/>
                <a:cs typeface="Arial"/>
              </a:rPr>
              <a:t>De mi laptop a tu chat.</a:t>
            </a:r>
            <a:endParaRPr sz="4000">
              <a:solidFill>
                <a:schemeClr val="tx1"/>
              </a:solidFill>
            </a:endParaRPr>
          </a:p>
        </p:txBody>
      </p:sp>
      <p:pic>
        <p:nvPicPr>
          <p:cNvPr id="840177173" name="Image 0" descr="assets/12_alex_presenting_fastmcp.png"/>
          <p:cNvPicPr>
            <a:picLocks noChangeAspect="1"/>
          </p:cNvPicPr>
          <p:nvPr/>
        </p:nvPicPr>
        <p:blipFill rotWithShape="1">
          <a:blip r:embed="rId3"/>
          <a:stretch/>
        </p:blipFill>
        <p:spPr bwMode="auto">
          <a:xfrm>
            <a:off x="1828800" y="1737360"/>
            <a:ext cx="8503920" cy="4251960"/>
          </a:xfrm>
          <a:prstGeom prst="rect">
            <a:avLst/>
          </a:prstGeom>
        </p:spPr>
      </p:pic>
      <p:sp>
        <p:nvSpPr>
          <p:cNvPr id="563561770" name="Text 2"/>
          <p:cNvSpPr txBox="1"/>
          <p:nvPr/>
        </p:nvSpPr>
        <p:spPr bwMode="auto">
          <a:xfrm>
            <a:off x="640080" y="6126480"/>
            <a:ext cx="10972800" cy="411480"/>
          </a:xfrm>
          <a:prstGeom prst="rect">
            <a:avLst/>
          </a:prstGeom>
          <a:noFill/>
          <a:ln/>
        </p:spPr>
        <p:txBody>
          <a:bodyPr wrap="square" lIns="0" tIns="0" rIns="0" bIns="0" rtlCol="0" anchor="ctr"/>
          <a:lstStyle/>
          <a:p>
            <a:pPr marL="0" indent="0" algn="ctr">
              <a:buNone/>
              <a:defRPr/>
            </a:pPr>
            <a:r>
              <a:rPr lang="en-US" sz="2300" b="1">
                <a:solidFill>
                  <a:srgbClr val="6934C6"/>
                </a:solidFill>
                <a:latin typeface="Arial"/>
                <a:ea typeface="Arial"/>
                <a:cs typeface="Arial"/>
              </a:rPr>
              <a:t>FastAPI  →  FastMCP  →  Tailscale Funnel  →  ChatGPT</a:t>
            </a:r>
            <a:endParaRPr lang="en-US" sz="2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3">
    <p:bg>
      <p:bgPr shadeToTitle="0">
        <a:solidFill>
          <a:srgbClr val="291244"/>
        </a:solidFill>
      </p:bgPr>
    </p:bg>
    <p:spTree>
      <p:nvGrpSpPr>
        <p:cNvPr id="1" name=""/>
        <p:cNvGrpSpPr/>
        <p:nvPr/>
      </p:nvGrpSpPr>
      <p:grpSpPr bwMode="auto">
        <a:xfrm>
          <a:off x="0" y="0"/>
          <a:ext cx="0" cy="0"/>
          <a:chOff x="0" y="0"/>
          <a:chExt cx="0" cy="0"/>
        </a:xfrm>
      </p:grpSpPr>
      <p:sp>
        <p:nvSpPr>
          <p:cNvPr id="1250775626"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D5F46A"/>
                </a:solidFill>
                <a:latin typeface="Arial"/>
                <a:ea typeface="Arial"/>
                <a:cs typeface="Arial"/>
              </a:rPr>
              <a:t>FASTMCP   /   EL PROTOCOLO YA TIENE IMPLEMENTACIÓN</a:t>
            </a:r>
            <a:endParaRPr lang="en-US" sz="1400"/>
          </a:p>
        </p:txBody>
      </p:sp>
      <p:sp>
        <p:nvSpPr>
          <p:cNvPr id="1217568389" name="Text 1"/>
          <p:cNvSpPr txBox="1"/>
          <p:nvPr/>
        </p:nvSpPr>
        <p:spPr bwMode="auto">
          <a:xfrm>
            <a:off x="594360" y="896112"/>
            <a:ext cx="10972800" cy="777240"/>
          </a:xfrm>
          <a:prstGeom prst="rect">
            <a:avLst/>
          </a:prstGeom>
          <a:noFill/>
          <a:ln/>
        </p:spPr>
        <p:txBody>
          <a:bodyPr wrap="square" lIns="0" tIns="0" rIns="0" bIns="0" rtlCol="0" anchor="ctr"/>
          <a:lstStyle/>
          <a:p>
            <a:pPr marL="0" indent="0">
              <a:buNone/>
              <a:defRPr/>
            </a:pPr>
            <a:r>
              <a:rPr lang="en-US" sz="3900" b="1">
                <a:solidFill>
                  <a:srgbClr val="FFFFFF"/>
                </a:solidFill>
                <a:latin typeface="Arial"/>
                <a:ea typeface="Arial"/>
                <a:cs typeface="Arial"/>
              </a:rPr>
              <a:t>Tu función. El contrato MCP.</a:t>
            </a:r>
            <a:endParaRPr lang="en-US" sz="3900"/>
          </a:p>
        </p:txBody>
      </p:sp>
      <p:pic>
        <p:nvPicPr>
          <p:cNvPr id="1573627131" name=""/>
          <p:cNvPicPr>
            <a:picLocks noChangeAspect="1"/>
          </p:cNvPicPr>
          <p:nvPr/>
        </p:nvPicPr>
        <p:blipFill rotWithShape="1">
          <a:blip r:embed="rId3"/>
          <a:srcRect l="10954" t="14087" r="10954" b="15031"/>
          <a:stretch/>
        </p:blipFill>
        <p:spPr bwMode="auto">
          <a:xfrm flipH="0" flipV="0">
            <a:off x="2634950" y="1673352"/>
            <a:ext cx="6891617" cy="486090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3">
    <p:bg>
      <p:bgPr shadeToTitle="0">
        <a:solidFill>
          <a:srgbClr val="291244"/>
        </a:solidFill>
      </p:bgPr>
    </p:bg>
    <p:spTree>
      <p:nvGrpSpPr>
        <p:cNvPr id="1" name=""/>
        <p:cNvGrpSpPr/>
        <p:nvPr/>
      </p:nvGrpSpPr>
      <p:grpSpPr bwMode="auto">
        <a:xfrm>
          <a:off x="0" y="0"/>
          <a:ext cx="0" cy="0"/>
          <a:chOff x="0" y="0"/>
          <a:chExt cx="0" cy="0"/>
        </a:xfrm>
      </p:grpSpPr>
      <p:sp>
        <p:nvSpPr>
          <p:cNvPr id="899828661"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D5F46A"/>
                </a:solidFill>
                <a:latin typeface="Arial"/>
                <a:ea typeface="Arial"/>
                <a:cs typeface="Arial"/>
              </a:rPr>
              <a:t>FASTMCP   /   EL PROTOCOLO YA TIENE IMPLEMENTACIÓN</a:t>
            </a:r>
            <a:endParaRPr lang="en-US" sz="1400"/>
          </a:p>
        </p:txBody>
      </p:sp>
      <p:sp>
        <p:nvSpPr>
          <p:cNvPr id="179143482" name="Text 1"/>
          <p:cNvSpPr txBox="1"/>
          <p:nvPr/>
        </p:nvSpPr>
        <p:spPr bwMode="auto">
          <a:xfrm flipH="0" flipV="0">
            <a:off x="594360" y="3030765"/>
            <a:ext cx="4841926" cy="1247013"/>
          </a:xfrm>
          <a:prstGeom prst="rect">
            <a:avLst/>
          </a:prstGeom>
          <a:noFill/>
          <a:ln/>
        </p:spPr>
        <p:txBody>
          <a:bodyPr wrap="square" lIns="0" tIns="0" rIns="0" bIns="0" rtlCol="0" anchor="ctr"/>
          <a:lstStyle/>
          <a:p>
            <a:pPr marL="0" indent="0">
              <a:buNone/>
              <a:defRPr/>
            </a:pPr>
            <a:r>
              <a:rPr lang="es-ES" sz="3900" b="1">
                <a:solidFill>
                  <a:srgbClr val="FFFFFF"/>
                </a:solidFill>
                <a:latin typeface="Arial"/>
                <a:ea typeface="Arial"/>
                <a:cs typeface="Arial"/>
              </a:rPr>
              <a:t>Convierte tu </a:t>
            </a:r>
            <a:endParaRPr lang="es-ES" sz="3900" b="1">
              <a:solidFill>
                <a:srgbClr val="FFFFFF"/>
              </a:solidFill>
              <a:latin typeface="Arial"/>
              <a:ea typeface="Arial"/>
              <a:cs typeface="Arial"/>
            </a:endParaRPr>
          </a:p>
          <a:p>
            <a:pPr marL="0" indent="0">
              <a:buNone/>
              <a:defRPr/>
            </a:pPr>
            <a:r>
              <a:rPr lang="es-ES" sz="3900" b="1">
                <a:solidFill>
                  <a:srgbClr val="FFFFFF"/>
                </a:solidFill>
                <a:latin typeface="Arial"/>
                <a:ea typeface="Arial"/>
                <a:cs typeface="Arial"/>
              </a:rPr>
              <a:t>FastAPI a FastMCP</a:t>
            </a:r>
            <a:endParaRPr lang="en-US" sz="3900"/>
          </a:p>
        </p:txBody>
      </p:sp>
      <p:pic>
        <p:nvPicPr>
          <p:cNvPr id="30299596" name=""/>
          <p:cNvPicPr>
            <a:picLocks noChangeAspect="1"/>
          </p:cNvPicPr>
          <p:nvPr/>
        </p:nvPicPr>
        <p:blipFill rotWithShape="1">
          <a:blip r:embed="rId3"/>
          <a:stretch/>
        </p:blipFill>
        <p:spPr bwMode="auto">
          <a:xfrm flipH="0" flipV="0">
            <a:off x="6161834" y="814734"/>
            <a:ext cx="5087503" cy="567907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44873465" name=""/>
          <p:cNvPicPr>
            <a:picLocks noChangeAspect="1"/>
          </p:cNvPicPr>
          <p:nvPr/>
        </p:nvPicPr>
        <p:blipFill rotWithShape="1">
          <a:blip r:embed="rId3"/>
          <a:stretch/>
        </p:blipFill>
        <p:spPr bwMode="auto">
          <a:xfrm flipH="0" flipV="0">
            <a:off x="4022480" y="54249"/>
            <a:ext cx="6072230" cy="6072230"/>
          </a:xfrm>
          <a:prstGeom prst="rect">
            <a:avLst/>
          </a:prstGeom>
        </p:spPr>
      </p:pic>
      <p:sp>
        <p:nvSpPr>
          <p:cNvPr id="2000961379"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ACTO </a:t>
            </a:r>
            <a:r>
              <a:rPr lang="es-ES" sz="1400" b="1">
                <a:solidFill>
                  <a:srgbClr val="6934C6"/>
                </a:solidFill>
                <a:latin typeface="Arial"/>
                <a:ea typeface="Arial"/>
                <a:cs typeface="Arial"/>
              </a:rPr>
              <a:t>VIII</a:t>
            </a:r>
            <a:r>
              <a:rPr lang="en-US" sz="1400" b="1">
                <a:solidFill>
                  <a:srgbClr val="6934C6"/>
                </a:solidFill>
                <a:latin typeface="Arial"/>
                <a:ea typeface="Arial"/>
                <a:cs typeface="Arial"/>
              </a:rPr>
              <a:t>   /   DEMO</a:t>
            </a:r>
            <a:endParaRPr lang="en-US" sz="1400"/>
          </a:p>
        </p:txBody>
      </p:sp>
      <p:sp>
        <p:nvSpPr>
          <p:cNvPr id="1287003880" name="Text 1"/>
          <p:cNvSpPr txBox="1"/>
          <p:nvPr/>
        </p:nvSpPr>
        <p:spPr bwMode="auto">
          <a:xfrm flipH="0" flipV="0">
            <a:off x="594359" y="777239"/>
            <a:ext cx="10972800" cy="1347567"/>
          </a:xfrm>
          <a:prstGeom prst="rect">
            <a:avLst/>
          </a:prstGeom>
          <a:noFill/>
          <a:ln/>
        </p:spPr>
        <p:txBody>
          <a:bodyPr wrap="square" lIns="0" tIns="0" rIns="0" bIns="0" rtlCol="0" anchor="ctr"/>
          <a:lstStyle/>
          <a:p>
            <a:pPr marL="0" indent="0">
              <a:buNone/>
              <a:defRPr/>
            </a:pPr>
            <a:r>
              <a:rPr lang="en-US" sz="4000" b="1">
                <a:solidFill>
                  <a:schemeClr val="tx1"/>
                </a:solidFill>
                <a:latin typeface="Arial"/>
                <a:ea typeface="Arial"/>
                <a:cs typeface="Arial"/>
              </a:rPr>
              <a:t>De mi laptop </a:t>
            </a:r>
            <a:endParaRPr lang="en-US" sz="4000" b="1">
              <a:solidFill>
                <a:schemeClr val="tx1"/>
              </a:solidFill>
              <a:latin typeface="Arial"/>
              <a:ea typeface="Arial"/>
              <a:cs typeface="Arial"/>
            </a:endParaRPr>
          </a:p>
          <a:p>
            <a:pPr marL="0" indent="0">
              <a:buNone/>
              <a:defRPr/>
            </a:pPr>
            <a:r>
              <a:rPr lang="en-US" sz="4000" b="1">
                <a:solidFill>
                  <a:schemeClr val="tx1"/>
                </a:solidFill>
                <a:latin typeface="Arial"/>
                <a:ea typeface="Arial"/>
                <a:cs typeface="Arial"/>
              </a:rPr>
              <a:t>a tu chat.</a:t>
            </a:r>
            <a:endParaRPr sz="4000">
              <a:solidFill>
                <a:schemeClr val="tx1"/>
              </a:solidFill>
            </a:endParaRPr>
          </a:p>
        </p:txBody>
      </p:sp>
      <p:sp>
        <p:nvSpPr>
          <p:cNvPr id="1703862705" name="Text 2"/>
          <p:cNvSpPr txBox="1"/>
          <p:nvPr/>
        </p:nvSpPr>
        <p:spPr bwMode="auto">
          <a:xfrm>
            <a:off x="640080" y="6126480"/>
            <a:ext cx="10972800" cy="411480"/>
          </a:xfrm>
          <a:prstGeom prst="rect">
            <a:avLst/>
          </a:prstGeom>
          <a:noFill/>
          <a:ln/>
        </p:spPr>
        <p:txBody>
          <a:bodyPr wrap="square" lIns="0" tIns="0" rIns="0" bIns="0" rtlCol="0" anchor="ctr"/>
          <a:lstStyle/>
          <a:p>
            <a:pPr marL="0" indent="0" algn="ctr">
              <a:buNone/>
              <a:defRPr/>
            </a:pPr>
            <a:r>
              <a:rPr lang="en-US" sz="2300" b="1">
                <a:solidFill>
                  <a:srgbClr val="6934C6"/>
                </a:solidFill>
                <a:latin typeface="Arial"/>
                <a:ea typeface="Arial"/>
                <a:cs typeface="Arial"/>
              </a:rPr>
              <a:t>FastAPI  →  FastMCP  →  Tailscale Funnel  →  ChatGPT</a:t>
            </a:r>
            <a:endParaRPr lang="en-US" sz="2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9">
    <p:bg>
      <p:bgPr shadeToTitle="0">
        <a:solidFill>
          <a:srgbClr val="FFFFFF"/>
        </a:solidFill>
      </p:bgPr>
    </p:bg>
    <p:spTree>
      <p:nvGrpSpPr>
        <p:cNvPr id="1" name=""/>
        <p:cNvGrpSpPr/>
        <p:nvPr/>
      </p:nvGrpSpPr>
      <p:grpSpPr bwMode="auto">
        <a:xfrm>
          <a:off x="0" y="0"/>
          <a:ext cx="0" cy="0"/>
          <a:chOff x="0" y="0"/>
          <a:chExt cx="0" cy="0"/>
        </a:xfrm>
      </p:grpSpPr>
      <p:sp>
        <p:nvSpPr>
          <p:cNvPr id="1471265032"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DEMO   /   CONECTAR Y CONTRASTAR</a:t>
            </a:r>
            <a:endParaRPr lang="en-US" sz="1400"/>
          </a:p>
        </p:txBody>
      </p:sp>
      <p:pic>
        <p:nvPicPr>
          <p:cNvPr id="1926501803" name="">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rotWithShape="1">
          <a:blip r:embed="rId3"/>
          <a:stretch/>
        </p:blipFill>
        <p:spPr bwMode="auto">
          <a:xfrm flipH="0" flipV="0">
            <a:off x="113492" y="70036"/>
            <a:ext cx="11864227" cy="670795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1">
    <p:bg>
      <p:bgPr shadeToTitle="0">
        <a:solidFill>
          <a:srgbClr val="291244"/>
        </a:solidFill>
      </p:bgPr>
    </p:bg>
    <p:spTree>
      <p:nvGrpSpPr>
        <p:cNvPr id="1" name=""/>
        <p:cNvGrpSpPr/>
        <p:nvPr/>
      </p:nvGrpSpPr>
      <p:grpSpPr bwMode="auto">
        <a:xfrm>
          <a:off x="0" y="0"/>
          <a:ext cx="0" cy="0"/>
          <a:chOff x="0" y="0"/>
          <a:chExt cx="0" cy="0"/>
        </a:xfrm>
      </p:grpSpPr>
      <p:sp>
        <p:nvSpPr>
          <p:cNvPr id="914356521" name="Text 0"/>
          <p:cNvSpPr txBox="1"/>
          <p:nvPr/>
        </p:nvSpPr>
        <p:spPr bwMode="auto">
          <a:xfrm>
            <a:off x="777240" y="640080"/>
            <a:ext cx="10607040" cy="502920"/>
          </a:xfrm>
          <a:prstGeom prst="rect">
            <a:avLst/>
          </a:prstGeom>
          <a:noFill/>
          <a:ln/>
        </p:spPr>
        <p:txBody>
          <a:bodyPr wrap="square" lIns="0" tIns="0" rIns="0" bIns="0" rtlCol="0" anchor="ctr"/>
          <a:lstStyle/>
          <a:p>
            <a:pPr marL="0" indent="0">
              <a:buNone/>
              <a:defRPr/>
            </a:pPr>
            <a:r>
              <a:rPr lang="en-US" sz="2200" b="1">
                <a:solidFill>
                  <a:srgbClr val="D5F46A"/>
                </a:solidFill>
                <a:latin typeface="Arial"/>
                <a:ea typeface="Arial"/>
                <a:cs typeface="Arial"/>
              </a:rPr>
              <a:t>ACTO </a:t>
            </a:r>
            <a:r>
              <a:rPr lang="es-ES" sz="2200" b="1">
                <a:solidFill>
                  <a:srgbClr val="D5F46A"/>
                </a:solidFill>
                <a:latin typeface="Arial"/>
                <a:ea typeface="Arial"/>
                <a:cs typeface="Arial"/>
              </a:rPr>
              <a:t>I</a:t>
            </a:r>
            <a:r>
              <a:rPr lang="en-US" sz="2200" b="1">
                <a:solidFill>
                  <a:srgbClr val="D5F46A"/>
                </a:solidFill>
                <a:latin typeface="Arial"/>
                <a:ea typeface="Arial"/>
                <a:cs typeface="Arial"/>
              </a:rPr>
              <a:t>X</a:t>
            </a:r>
            <a:endParaRPr lang="en-US" sz="2200"/>
          </a:p>
        </p:txBody>
      </p:sp>
      <p:sp>
        <p:nvSpPr>
          <p:cNvPr id="949078596" name="Text 1"/>
          <p:cNvSpPr txBox="1"/>
          <p:nvPr/>
        </p:nvSpPr>
        <p:spPr bwMode="auto">
          <a:xfrm>
            <a:off x="777240" y="1554480"/>
            <a:ext cx="10607040" cy="1188720"/>
          </a:xfrm>
          <a:prstGeom prst="rect">
            <a:avLst/>
          </a:prstGeom>
          <a:noFill/>
          <a:ln/>
        </p:spPr>
        <p:txBody>
          <a:bodyPr wrap="square" lIns="0" tIns="0" rIns="0" bIns="0" rtlCol="0" anchor="ctr"/>
          <a:lstStyle/>
          <a:p>
            <a:pPr marL="0" indent="0">
              <a:buNone/>
              <a:defRPr/>
            </a:pPr>
            <a:r>
              <a:rPr lang="en-US" sz="4000" b="1">
                <a:solidFill>
                  <a:srgbClr val="FFFFFF"/>
                </a:solidFill>
                <a:latin typeface="Arial"/>
                <a:ea typeface="Arial"/>
                <a:cs typeface="Arial"/>
              </a:rPr>
              <a:t>Seguridad y cierre</a:t>
            </a:r>
            <a:endParaRPr lang="en-US" sz="4000"/>
          </a:p>
        </p:txBody>
      </p:sp>
      <p:sp>
        <p:nvSpPr>
          <p:cNvPr id="69207015" name="Text 2"/>
          <p:cNvSpPr txBox="1"/>
          <p:nvPr/>
        </p:nvSpPr>
        <p:spPr bwMode="auto">
          <a:xfrm>
            <a:off x="777240" y="3200400"/>
            <a:ext cx="10515600" cy="2103120"/>
          </a:xfrm>
          <a:prstGeom prst="rect">
            <a:avLst/>
          </a:prstGeom>
          <a:noFill/>
          <a:ln/>
        </p:spPr>
        <p:txBody>
          <a:bodyPr wrap="square" lIns="0" tIns="0" rIns="0" bIns="0" rtlCol="0" anchor="ctr"/>
          <a:lstStyle/>
          <a:p>
            <a:pPr marL="0" indent="0">
              <a:buNone/>
              <a:defRPr/>
            </a:pPr>
            <a:r>
              <a:rPr lang="en-US" sz="5100" b="1">
                <a:solidFill>
                  <a:srgbClr val="FFFFFF"/>
                </a:solidFill>
                <a:latin typeface="Arial"/>
                <a:ea typeface="Arial"/>
                <a:cs typeface="Arial"/>
              </a:rPr>
              <a:t>Al alucín le dimos tools.</a:t>
            </a:r>
            <a:endParaRPr lang="en-US" sz="5100"/>
          </a:p>
          <a:p>
            <a:pPr marL="0" indent="0">
              <a:buNone/>
              <a:defRPr/>
            </a:pPr>
            <a:r>
              <a:rPr lang="en-US" sz="5100" b="1">
                <a:solidFill>
                  <a:srgbClr val="FFFFFF"/>
                </a:solidFill>
                <a:latin typeface="Arial"/>
                <a:ea typeface="Arial"/>
                <a:cs typeface="Arial"/>
              </a:rPr>
              <a:t>¿Qué podría salir mal?</a:t>
            </a:r>
            <a:endParaRPr lang="en-US" sz="5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2">
    <p:bg>
      <p:bgPr shadeToTitle="0">
        <a:solidFill>
          <a:srgbClr val="FFFFFF"/>
        </a:solidFill>
      </p:bgPr>
    </p:bg>
    <p:spTree>
      <p:nvGrpSpPr>
        <p:cNvPr id="1" name=""/>
        <p:cNvGrpSpPr/>
        <p:nvPr/>
      </p:nvGrpSpPr>
      <p:grpSpPr bwMode="auto">
        <a:xfrm>
          <a:off x="0" y="0"/>
          <a:ext cx="0" cy="0"/>
          <a:chOff x="0" y="0"/>
          <a:chExt cx="0" cy="0"/>
        </a:xfrm>
      </p:grpSpPr>
      <p:sp>
        <p:nvSpPr>
          <p:cNvPr id="1209834022"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ACTO </a:t>
            </a:r>
            <a:r>
              <a:rPr lang="es-ES" sz="1400" b="1">
                <a:solidFill>
                  <a:srgbClr val="6934C6"/>
                </a:solidFill>
                <a:latin typeface="Arial"/>
                <a:ea typeface="Arial"/>
                <a:cs typeface="Arial"/>
              </a:rPr>
              <a:t>I</a:t>
            </a:r>
            <a:r>
              <a:rPr lang="en-US" sz="1400" b="1">
                <a:solidFill>
                  <a:srgbClr val="6934C6"/>
                </a:solidFill>
                <a:latin typeface="Arial"/>
                <a:ea typeface="Arial"/>
                <a:cs typeface="Arial"/>
              </a:rPr>
              <a:t>X   /   MÁS CAPACIDAD, MÁS RESPONSABILIDAD</a:t>
            </a:r>
            <a:endParaRPr lang="en-US" sz="1400"/>
          </a:p>
        </p:txBody>
      </p:sp>
      <p:sp>
        <p:nvSpPr>
          <p:cNvPr id="1418204332" name="Text 1"/>
          <p:cNvSpPr txBox="1"/>
          <p:nvPr/>
        </p:nvSpPr>
        <p:spPr bwMode="auto">
          <a:xfrm>
            <a:off x="594360" y="1005840"/>
            <a:ext cx="7772400" cy="1463040"/>
          </a:xfrm>
          <a:prstGeom prst="rect">
            <a:avLst/>
          </a:prstGeom>
          <a:noFill/>
          <a:ln/>
        </p:spPr>
        <p:txBody>
          <a:bodyPr wrap="square" lIns="0" tIns="0" rIns="0" bIns="0" rtlCol="0" anchor="ctr"/>
          <a:lstStyle/>
          <a:p>
            <a:pPr marL="0" indent="0">
              <a:buNone/>
              <a:defRPr/>
            </a:pPr>
            <a:r>
              <a:rPr lang="en-US" sz="4300" b="1">
                <a:solidFill>
                  <a:srgbClr val="241331"/>
                </a:solidFill>
                <a:latin typeface="Arial"/>
                <a:ea typeface="Arial"/>
                <a:cs typeface="Arial"/>
              </a:rPr>
              <a:t>Malas decisiones.</a:t>
            </a:r>
            <a:endParaRPr lang="en-US" sz="4300"/>
          </a:p>
          <a:p>
            <a:pPr marL="0" indent="0">
              <a:buNone/>
              <a:defRPr/>
            </a:pPr>
            <a:r>
              <a:rPr lang="en-US" sz="4300" b="1">
                <a:solidFill>
                  <a:srgbClr val="241331"/>
                </a:solidFill>
                <a:latin typeface="Arial"/>
                <a:ea typeface="Arial"/>
                <a:cs typeface="Arial"/>
              </a:rPr>
              <a:t>Ahora en más sistemas.</a:t>
            </a:r>
            <a:endParaRPr lang="en-US" sz="4300"/>
          </a:p>
        </p:txBody>
      </p:sp>
      <p:pic>
        <p:nvPicPr>
          <p:cNvPr id="166134219" name="Image 0" descr="assets/13_alex_with_shield_of_auth.png"/>
          <p:cNvPicPr>
            <a:picLocks noChangeAspect="1"/>
          </p:cNvPicPr>
          <p:nvPr/>
        </p:nvPicPr>
        <p:blipFill rotWithShape="1">
          <a:blip r:embed="rId3"/>
          <a:stretch/>
        </p:blipFill>
        <p:spPr bwMode="auto">
          <a:xfrm>
            <a:off x="8503920" y="1002564"/>
            <a:ext cx="3108960" cy="2841191"/>
          </a:xfrm>
          <a:prstGeom prst="rect">
            <a:avLst/>
          </a:prstGeom>
        </p:spPr>
      </p:pic>
      <p:sp>
        <p:nvSpPr>
          <p:cNvPr id="435883083" name="Text 2"/>
          <p:cNvSpPr txBox="1"/>
          <p:nvPr/>
        </p:nvSpPr>
        <p:spPr bwMode="auto">
          <a:xfrm>
            <a:off x="594360" y="4389120"/>
            <a:ext cx="2743200" cy="502920"/>
          </a:xfrm>
          <a:prstGeom prst="rect">
            <a:avLst/>
          </a:prstGeom>
          <a:noFill/>
          <a:ln/>
        </p:spPr>
        <p:txBody>
          <a:bodyPr wrap="square" lIns="0" tIns="0" rIns="0" bIns="0" rtlCol="0" anchor="ctr"/>
          <a:lstStyle/>
          <a:p>
            <a:pPr marL="0" indent="0">
              <a:buNone/>
              <a:defRPr/>
            </a:pPr>
            <a:r>
              <a:rPr lang="en-US" sz="2300" b="1">
                <a:solidFill>
                  <a:srgbClr val="6934C6"/>
                </a:solidFill>
                <a:latin typeface="Arial"/>
                <a:ea typeface="Arial"/>
                <a:cs typeface="Arial"/>
              </a:rPr>
              <a:t>Autenticación</a:t>
            </a:r>
            <a:endParaRPr lang="en-US" sz="2300"/>
          </a:p>
        </p:txBody>
      </p:sp>
      <p:sp>
        <p:nvSpPr>
          <p:cNvPr id="1731844674" name="Text 3"/>
          <p:cNvSpPr txBox="1"/>
          <p:nvPr/>
        </p:nvSpPr>
        <p:spPr bwMode="auto">
          <a:xfrm>
            <a:off x="594360" y="5120640"/>
            <a:ext cx="2743200" cy="640080"/>
          </a:xfrm>
          <a:prstGeom prst="rect">
            <a:avLst/>
          </a:prstGeom>
          <a:noFill/>
          <a:ln/>
        </p:spPr>
        <p:txBody>
          <a:bodyPr wrap="square" lIns="0" tIns="0" rIns="0" bIns="0" rtlCol="0" anchor="ctr"/>
          <a:lstStyle/>
          <a:p>
            <a:pPr marL="0" indent="0">
              <a:buNone/>
              <a:defRPr/>
            </a:pPr>
            <a:r>
              <a:rPr lang="en-US" sz="2200">
                <a:solidFill>
                  <a:srgbClr val="241331"/>
                </a:solidFill>
                <a:latin typeface="Arial"/>
                <a:ea typeface="Arial"/>
                <a:cs typeface="Arial"/>
              </a:rPr>
              <a:t>¿Quién eres?</a:t>
            </a:r>
            <a:endParaRPr lang="en-US" sz="2200"/>
          </a:p>
        </p:txBody>
      </p:sp>
      <p:sp>
        <p:nvSpPr>
          <p:cNvPr id="511364095" name="Text 4"/>
          <p:cNvSpPr txBox="1"/>
          <p:nvPr/>
        </p:nvSpPr>
        <p:spPr bwMode="auto">
          <a:xfrm>
            <a:off x="3520440" y="4389120"/>
            <a:ext cx="2743200" cy="502920"/>
          </a:xfrm>
          <a:prstGeom prst="rect">
            <a:avLst/>
          </a:prstGeom>
          <a:noFill/>
          <a:ln/>
        </p:spPr>
        <p:txBody>
          <a:bodyPr wrap="square" lIns="0" tIns="0" rIns="0" bIns="0" rtlCol="0" anchor="ctr"/>
          <a:lstStyle/>
          <a:p>
            <a:pPr marL="0" indent="0">
              <a:buNone/>
              <a:defRPr/>
            </a:pPr>
            <a:r>
              <a:rPr lang="en-US" sz="2300" b="1">
                <a:solidFill>
                  <a:srgbClr val="6934C6"/>
                </a:solidFill>
                <a:latin typeface="Arial"/>
                <a:ea typeface="Arial"/>
                <a:cs typeface="Arial"/>
              </a:rPr>
              <a:t>Autorización</a:t>
            </a:r>
            <a:endParaRPr lang="en-US" sz="2300"/>
          </a:p>
        </p:txBody>
      </p:sp>
      <p:sp>
        <p:nvSpPr>
          <p:cNvPr id="759887064" name="Text 5"/>
          <p:cNvSpPr txBox="1"/>
          <p:nvPr/>
        </p:nvSpPr>
        <p:spPr bwMode="auto">
          <a:xfrm>
            <a:off x="3520440" y="5120640"/>
            <a:ext cx="2743200" cy="640080"/>
          </a:xfrm>
          <a:prstGeom prst="rect">
            <a:avLst/>
          </a:prstGeom>
          <a:noFill/>
          <a:ln/>
        </p:spPr>
        <p:txBody>
          <a:bodyPr wrap="square" lIns="0" tIns="0" rIns="0" bIns="0" rtlCol="0" anchor="ctr"/>
          <a:lstStyle/>
          <a:p>
            <a:pPr marL="0" indent="0">
              <a:buNone/>
              <a:defRPr/>
            </a:pPr>
            <a:r>
              <a:rPr lang="en-US" sz="2200">
                <a:solidFill>
                  <a:srgbClr val="241331"/>
                </a:solidFill>
                <a:latin typeface="Arial"/>
                <a:ea typeface="Arial"/>
                <a:cs typeface="Arial"/>
              </a:rPr>
              <a:t>¿Qué puedes hacer?</a:t>
            </a:r>
            <a:endParaRPr lang="en-US" sz="2200"/>
          </a:p>
        </p:txBody>
      </p:sp>
      <p:sp>
        <p:nvSpPr>
          <p:cNvPr id="957733552" name="Text 6"/>
          <p:cNvSpPr txBox="1"/>
          <p:nvPr/>
        </p:nvSpPr>
        <p:spPr bwMode="auto">
          <a:xfrm>
            <a:off x="6446520" y="4389120"/>
            <a:ext cx="2743200" cy="502920"/>
          </a:xfrm>
          <a:prstGeom prst="rect">
            <a:avLst/>
          </a:prstGeom>
          <a:noFill/>
          <a:ln/>
        </p:spPr>
        <p:txBody>
          <a:bodyPr wrap="square" lIns="0" tIns="0" rIns="0" bIns="0" rtlCol="0" anchor="ctr"/>
          <a:lstStyle/>
          <a:p>
            <a:pPr marL="0" indent="0">
              <a:buNone/>
              <a:defRPr/>
            </a:pPr>
            <a:r>
              <a:rPr lang="en-US" sz="2300" b="1">
                <a:solidFill>
                  <a:srgbClr val="6934C6"/>
                </a:solidFill>
                <a:latin typeface="Arial"/>
                <a:ea typeface="Arial"/>
                <a:cs typeface="Arial"/>
              </a:rPr>
              <a:t>Confirmación</a:t>
            </a:r>
            <a:endParaRPr lang="en-US" sz="2300"/>
          </a:p>
        </p:txBody>
      </p:sp>
      <p:sp>
        <p:nvSpPr>
          <p:cNvPr id="1524563897" name="Text 7"/>
          <p:cNvSpPr txBox="1"/>
          <p:nvPr/>
        </p:nvSpPr>
        <p:spPr bwMode="auto">
          <a:xfrm>
            <a:off x="6446520" y="5120640"/>
            <a:ext cx="2743200" cy="640080"/>
          </a:xfrm>
          <a:prstGeom prst="rect">
            <a:avLst/>
          </a:prstGeom>
          <a:noFill/>
          <a:ln/>
        </p:spPr>
        <p:txBody>
          <a:bodyPr wrap="square" lIns="0" tIns="0" rIns="0" bIns="0" rtlCol="0" anchor="ctr"/>
          <a:lstStyle/>
          <a:p>
            <a:pPr marL="0" indent="0">
              <a:buNone/>
              <a:defRPr/>
            </a:pPr>
            <a:r>
              <a:rPr lang="en-US" sz="2200">
                <a:solidFill>
                  <a:srgbClr val="241331"/>
                </a:solidFill>
                <a:latin typeface="Arial"/>
                <a:ea typeface="Arial"/>
                <a:cs typeface="Arial"/>
              </a:rPr>
              <a:t>¿Lo ejecutamos?</a:t>
            </a:r>
            <a:endParaRPr lang="en-US" sz="2200"/>
          </a:p>
        </p:txBody>
      </p:sp>
      <p:sp>
        <p:nvSpPr>
          <p:cNvPr id="861789847" name="Text 8"/>
          <p:cNvSpPr txBox="1"/>
          <p:nvPr/>
        </p:nvSpPr>
        <p:spPr bwMode="auto">
          <a:xfrm>
            <a:off x="9372600" y="4389120"/>
            <a:ext cx="2743200" cy="502920"/>
          </a:xfrm>
          <a:prstGeom prst="rect">
            <a:avLst/>
          </a:prstGeom>
          <a:noFill/>
          <a:ln/>
        </p:spPr>
        <p:txBody>
          <a:bodyPr wrap="square" lIns="0" tIns="0" rIns="0" bIns="0" rtlCol="0" anchor="ctr"/>
          <a:lstStyle/>
          <a:p>
            <a:pPr marL="0" indent="0">
              <a:buNone/>
              <a:defRPr/>
            </a:pPr>
            <a:r>
              <a:rPr lang="en-US" sz="2300" b="1">
                <a:solidFill>
                  <a:srgbClr val="6934C6"/>
                </a:solidFill>
                <a:latin typeface="Arial"/>
                <a:ea typeface="Arial"/>
                <a:cs typeface="Arial"/>
              </a:rPr>
              <a:t>Auditoría</a:t>
            </a:r>
            <a:endParaRPr lang="en-US" sz="2300"/>
          </a:p>
        </p:txBody>
      </p:sp>
      <p:sp>
        <p:nvSpPr>
          <p:cNvPr id="1570403782" name="Text 9"/>
          <p:cNvSpPr txBox="1"/>
          <p:nvPr/>
        </p:nvSpPr>
        <p:spPr bwMode="auto">
          <a:xfrm>
            <a:off x="9372600" y="5120640"/>
            <a:ext cx="2743200" cy="640080"/>
          </a:xfrm>
          <a:prstGeom prst="rect">
            <a:avLst/>
          </a:prstGeom>
          <a:noFill/>
          <a:ln/>
        </p:spPr>
        <p:txBody>
          <a:bodyPr wrap="square" lIns="0" tIns="0" rIns="0" bIns="0" rtlCol="0" anchor="ctr"/>
          <a:lstStyle/>
          <a:p>
            <a:pPr marL="0" indent="0">
              <a:buNone/>
              <a:defRPr/>
            </a:pPr>
            <a:r>
              <a:rPr lang="en-US" sz="2200">
                <a:solidFill>
                  <a:srgbClr val="241331"/>
                </a:solidFill>
                <a:latin typeface="Arial"/>
                <a:ea typeface="Arial"/>
                <a:cs typeface="Arial"/>
              </a:rPr>
              <a:t>¿Qué ocurrió?</a:t>
            </a:r>
            <a:endParaRPr lang="en-US"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4">
    <p:bg>
      <p:bgPr shadeToTitle="0">
        <a:solidFill>
          <a:srgbClr val="291244"/>
        </a:solidFill>
      </p:bgPr>
    </p:bg>
    <p:spTree>
      <p:nvGrpSpPr>
        <p:cNvPr id="1" name=""/>
        <p:cNvGrpSpPr/>
        <p:nvPr/>
      </p:nvGrpSpPr>
      <p:grpSpPr bwMode="auto">
        <a:xfrm>
          <a:off x="0" y="0"/>
          <a:ext cx="0" cy="0"/>
          <a:chOff x="0" y="0"/>
          <a:chExt cx="0" cy="0"/>
        </a:xfrm>
      </p:grpSpPr>
      <p:sp>
        <p:nvSpPr>
          <p:cNvPr id="439738062" name="Text 0"/>
          <p:cNvSpPr txBox="1"/>
          <p:nvPr/>
        </p:nvSpPr>
        <p:spPr bwMode="auto">
          <a:xfrm>
            <a:off x="731520" y="2057400"/>
            <a:ext cx="6537960" cy="2011680"/>
          </a:xfrm>
          <a:prstGeom prst="rect">
            <a:avLst/>
          </a:prstGeom>
          <a:noFill/>
          <a:ln/>
        </p:spPr>
        <p:txBody>
          <a:bodyPr wrap="square" lIns="0" tIns="0" rIns="0" bIns="0" rtlCol="0" anchor="ctr"/>
          <a:lstStyle/>
          <a:p>
            <a:pPr marL="0" indent="0">
              <a:buNone/>
              <a:defRPr/>
            </a:pPr>
            <a:r>
              <a:rPr lang="en-US" sz="4800" b="1">
                <a:solidFill>
                  <a:srgbClr val="FFFFFF"/>
                </a:solidFill>
                <a:latin typeface="Arial"/>
                <a:ea typeface="Arial"/>
                <a:cs typeface="Arial"/>
              </a:rPr>
              <a:t>¿Y ahora quién</a:t>
            </a:r>
            <a:endParaRPr lang="en-US" sz="4800"/>
          </a:p>
          <a:p>
            <a:pPr marL="0" indent="0">
              <a:buNone/>
              <a:defRPr/>
            </a:pPr>
            <a:r>
              <a:rPr lang="en-US" sz="4800" b="1">
                <a:solidFill>
                  <a:srgbClr val="FFFFFF"/>
                </a:solidFill>
                <a:latin typeface="Arial"/>
                <a:ea typeface="Arial"/>
                <a:cs typeface="Arial"/>
              </a:rPr>
              <a:t>sabe qué es MCP?</a:t>
            </a:r>
            <a:endParaRPr lang="en-US" sz="4800"/>
          </a:p>
        </p:txBody>
      </p:sp>
      <p:pic>
        <p:nvPicPr>
          <p:cNvPr id="13423635" name="Image 0" descr="assets/extra_alex_with_pc.png"/>
          <p:cNvPicPr>
            <a:picLocks noChangeAspect="1"/>
          </p:cNvPicPr>
          <p:nvPr/>
        </p:nvPicPr>
        <p:blipFill rotWithShape="1">
          <a:blip r:embed="rId3"/>
          <a:stretch/>
        </p:blipFill>
        <p:spPr bwMode="auto">
          <a:xfrm>
            <a:off x="7452360" y="1614878"/>
            <a:ext cx="4206240" cy="390256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3">
    <p:bg>
      <p:bgPr shadeToTitle="0">
        <a:solidFill>
          <a:srgbClr val="FFFFFF"/>
        </a:solidFill>
      </p:bgPr>
    </p:bg>
    <p:spTree>
      <p:nvGrpSpPr>
        <p:cNvPr id="1" name=""/>
        <p:cNvGrpSpPr/>
        <p:nvPr/>
      </p:nvGrpSpPr>
      <p:grpSpPr bwMode="auto">
        <a:xfrm>
          <a:off x="0" y="0"/>
          <a:ext cx="0" cy="0"/>
          <a:chOff x="0" y="0"/>
          <a:chExt cx="0" cy="0"/>
        </a:xfrm>
      </p:grpSpPr>
      <p:sp>
        <p:nvSpPr>
          <p:cNvPr id="1499246934" name="Text 0"/>
          <p:cNvSpPr txBox="1"/>
          <p:nvPr/>
        </p:nvSpPr>
        <p:spPr bwMode="auto">
          <a:xfrm>
            <a:off x="548640" y="320040"/>
            <a:ext cx="10789920" cy="365760"/>
          </a:xfrm>
          <a:prstGeom prst="rect">
            <a:avLst/>
          </a:prstGeom>
          <a:noFill/>
          <a:ln/>
        </p:spPr>
        <p:txBody>
          <a:bodyPr wrap="square" lIns="0" tIns="0" rIns="0" bIns="0" rtlCol="0" anchor="ctr"/>
          <a:lstStyle/>
          <a:p>
            <a:pPr marL="0" indent="0">
              <a:buNone/>
              <a:defRPr/>
            </a:pPr>
            <a:r>
              <a:rPr lang="en-US" sz="1400" b="1">
                <a:solidFill>
                  <a:srgbClr val="6934C6"/>
                </a:solidFill>
                <a:latin typeface="Arial"/>
                <a:ea typeface="Arial"/>
                <a:cs typeface="Arial"/>
              </a:rPr>
              <a:t>SIGAMOS LA CONVERSACIÓN</a:t>
            </a:r>
            <a:endParaRPr lang="en-US" sz="1400"/>
          </a:p>
        </p:txBody>
      </p:sp>
      <p:sp>
        <p:nvSpPr>
          <p:cNvPr id="962241545" name="Text 1"/>
          <p:cNvSpPr txBox="1"/>
          <p:nvPr/>
        </p:nvSpPr>
        <p:spPr bwMode="auto">
          <a:xfrm>
            <a:off x="548640" y="868680"/>
            <a:ext cx="11064240" cy="960120"/>
          </a:xfrm>
          <a:prstGeom prst="rect">
            <a:avLst/>
          </a:prstGeom>
          <a:noFill/>
          <a:ln/>
        </p:spPr>
        <p:txBody>
          <a:bodyPr wrap="square" lIns="0" tIns="0" rIns="0" bIns="0" rtlCol="0" anchor="ctr"/>
          <a:lstStyle/>
          <a:p>
            <a:pPr marL="0" indent="0">
              <a:buNone/>
              <a:defRPr/>
            </a:pPr>
            <a:r>
              <a:rPr lang="en-US" sz="3800" b="1">
                <a:solidFill>
                  <a:srgbClr val="241331"/>
                </a:solidFill>
                <a:latin typeface="Arial"/>
                <a:ea typeface="Arial"/>
                <a:cs typeface="Arial"/>
              </a:rPr>
              <a:t>Nos vemos en las redes. Y en el repo.</a:t>
            </a:r>
            <a:endParaRPr lang="en-US" sz="3800"/>
          </a:p>
        </p:txBody>
      </p:sp>
      <p:sp>
        <p:nvSpPr>
          <p:cNvPr id="1244423304" name="Text 2"/>
          <p:cNvSpPr txBox="1"/>
          <p:nvPr/>
        </p:nvSpPr>
        <p:spPr bwMode="auto">
          <a:xfrm>
            <a:off x="1143000" y="2011680"/>
            <a:ext cx="2560320" cy="548640"/>
          </a:xfrm>
          <a:prstGeom prst="rect">
            <a:avLst/>
          </a:prstGeom>
          <a:noFill/>
          <a:ln/>
        </p:spPr>
        <p:txBody>
          <a:bodyPr wrap="square" lIns="0" tIns="0" rIns="0" bIns="0" rtlCol="0" anchor="ctr"/>
          <a:lstStyle/>
          <a:p>
            <a:pPr marL="0" indent="0" algn="ctr">
              <a:buNone/>
              <a:defRPr/>
            </a:pPr>
            <a:r>
              <a:rPr lang="es-ES" sz="2600" b="1">
                <a:solidFill>
                  <a:srgbClr val="6934C6"/>
                </a:solidFill>
                <a:latin typeface="Arial"/>
                <a:ea typeface="Arial"/>
                <a:cs typeface="Arial"/>
              </a:rPr>
              <a:t>Linkedin</a:t>
            </a:r>
            <a:endParaRPr lang="en-US" sz="2600"/>
          </a:p>
        </p:txBody>
      </p:sp>
      <p:sp>
        <p:nvSpPr>
          <p:cNvPr id="916623951" name="Shape 3"/>
          <p:cNvSpPr/>
          <p:nvPr/>
        </p:nvSpPr>
        <p:spPr bwMode="auto">
          <a:xfrm>
            <a:off x="1143000" y="2788920"/>
            <a:ext cx="2560320" cy="2560320"/>
          </a:xfrm>
          <a:prstGeom prst="rect">
            <a:avLst/>
          </a:prstGeom>
          <a:solidFill>
            <a:srgbClr val="F4EFFF"/>
          </a:solidFill>
          <a:ln w="19050">
            <a:solidFill>
              <a:srgbClr val="C5B4DC"/>
            </a:solidFill>
            <a:prstDash val="solid"/>
          </a:ln>
        </p:spPr>
      </p:sp>
      <p:sp>
        <p:nvSpPr>
          <p:cNvPr id="572117793" name="Text 6"/>
          <p:cNvSpPr txBox="1"/>
          <p:nvPr/>
        </p:nvSpPr>
        <p:spPr bwMode="auto">
          <a:xfrm>
            <a:off x="4800600" y="2011680"/>
            <a:ext cx="2560320" cy="548640"/>
          </a:xfrm>
          <a:prstGeom prst="rect">
            <a:avLst/>
          </a:prstGeom>
          <a:noFill/>
          <a:ln/>
        </p:spPr>
        <p:txBody>
          <a:bodyPr wrap="square" lIns="0" tIns="0" rIns="0" bIns="0" rtlCol="0" anchor="ctr"/>
          <a:lstStyle/>
          <a:p>
            <a:pPr marL="0" indent="0" algn="ctr">
              <a:buNone/>
              <a:defRPr/>
            </a:pPr>
            <a:r>
              <a:rPr lang="es-ES" sz="2600" b="1">
                <a:solidFill>
                  <a:srgbClr val="6934C6"/>
                </a:solidFill>
                <a:latin typeface="Arial"/>
                <a:ea typeface="Arial"/>
                <a:cs typeface="Arial"/>
              </a:rPr>
              <a:t>Github Repo</a:t>
            </a:r>
            <a:endParaRPr lang="en-US" sz="2600"/>
          </a:p>
        </p:txBody>
      </p:sp>
      <p:sp>
        <p:nvSpPr>
          <p:cNvPr id="34647152" name="Shape 7"/>
          <p:cNvSpPr/>
          <p:nvPr/>
        </p:nvSpPr>
        <p:spPr bwMode="auto">
          <a:xfrm>
            <a:off x="4800600" y="2788920"/>
            <a:ext cx="2560320" cy="2560320"/>
          </a:xfrm>
          <a:prstGeom prst="rect">
            <a:avLst/>
          </a:prstGeom>
          <a:solidFill>
            <a:srgbClr val="F4EFFF"/>
          </a:solidFill>
          <a:ln w="19050">
            <a:solidFill>
              <a:srgbClr val="C5B4DC"/>
            </a:solidFill>
            <a:prstDash val="solid"/>
          </a:ln>
        </p:spPr>
      </p:sp>
      <p:sp>
        <p:nvSpPr>
          <p:cNvPr id="133770501" name="Text 10"/>
          <p:cNvSpPr txBox="1"/>
          <p:nvPr/>
        </p:nvSpPr>
        <p:spPr bwMode="auto">
          <a:xfrm>
            <a:off x="8458200" y="2011680"/>
            <a:ext cx="2560320" cy="548640"/>
          </a:xfrm>
          <a:prstGeom prst="rect">
            <a:avLst/>
          </a:prstGeom>
          <a:noFill/>
          <a:ln/>
        </p:spPr>
        <p:txBody>
          <a:bodyPr wrap="square" lIns="0" tIns="0" rIns="0" bIns="0" rtlCol="0" anchor="ctr"/>
          <a:lstStyle/>
          <a:p>
            <a:pPr marL="0" indent="0" algn="ctr">
              <a:buNone/>
              <a:defRPr/>
            </a:pPr>
            <a:r>
              <a:rPr lang="es-ES" sz="2600" b="1">
                <a:solidFill>
                  <a:srgbClr val="6934C6"/>
                </a:solidFill>
                <a:latin typeface="Arial"/>
                <a:ea typeface="Arial"/>
                <a:cs typeface="Arial"/>
              </a:rPr>
              <a:t>Datzin Blog</a:t>
            </a:r>
            <a:endParaRPr lang="en-US" sz="2600"/>
          </a:p>
        </p:txBody>
      </p:sp>
      <p:sp>
        <p:nvSpPr>
          <p:cNvPr id="569860384" name="Shape 11"/>
          <p:cNvSpPr/>
          <p:nvPr/>
        </p:nvSpPr>
        <p:spPr bwMode="auto">
          <a:xfrm>
            <a:off x="8458200" y="2788920"/>
            <a:ext cx="2560320" cy="2560320"/>
          </a:xfrm>
          <a:prstGeom prst="rect">
            <a:avLst/>
          </a:prstGeom>
          <a:solidFill>
            <a:srgbClr val="F4EFFF"/>
          </a:solidFill>
          <a:ln w="19050">
            <a:solidFill>
              <a:srgbClr val="C5B4DC"/>
            </a:solidFill>
            <a:prstDash val="solid"/>
          </a:ln>
        </p:spPr>
      </p:sp>
      <p:pic>
        <p:nvPicPr>
          <p:cNvPr id="1294636613" name=""/>
          <p:cNvPicPr>
            <a:picLocks noChangeAspect="1"/>
          </p:cNvPicPr>
          <p:nvPr/>
        </p:nvPicPr>
        <p:blipFill rotWithShape="1">
          <a:blip r:embed="rId3"/>
          <a:stretch/>
        </p:blipFill>
        <p:spPr bwMode="auto">
          <a:xfrm flipH="0" flipV="0">
            <a:off x="8458200" y="2788920"/>
            <a:ext cx="2560320" cy="2560320"/>
          </a:xfrm>
          <a:prstGeom prst="rect">
            <a:avLst/>
          </a:prstGeom>
        </p:spPr>
      </p:pic>
      <p:pic>
        <p:nvPicPr>
          <p:cNvPr id="591177640" name=""/>
          <p:cNvPicPr>
            <a:picLocks noChangeAspect="1"/>
          </p:cNvPicPr>
          <p:nvPr/>
        </p:nvPicPr>
        <p:blipFill rotWithShape="1">
          <a:blip r:embed="rId4"/>
          <a:stretch/>
        </p:blipFill>
        <p:spPr bwMode="auto">
          <a:xfrm flipH="0" flipV="0">
            <a:off x="4800600" y="2788920"/>
            <a:ext cx="2560319" cy="2560319"/>
          </a:xfrm>
          <a:prstGeom prst="rect">
            <a:avLst/>
          </a:prstGeom>
        </p:spPr>
      </p:pic>
      <p:pic>
        <p:nvPicPr>
          <p:cNvPr id="270707846" name=""/>
          <p:cNvPicPr>
            <a:picLocks noChangeAspect="1"/>
          </p:cNvPicPr>
          <p:nvPr/>
        </p:nvPicPr>
        <p:blipFill rotWithShape="1">
          <a:blip r:embed="rId5"/>
          <a:stretch/>
        </p:blipFill>
        <p:spPr bwMode="auto">
          <a:xfrm flipH="0" flipV="0">
            <a:off x="1143000" y="2788920"/>
            <a:ext cx="2560320" cy="256032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9490307" name="Text 1"/>
          <p:cNvSpPr txBox="1"/>
          <p:nvPr/>
        </p:nvSpPr>
        <p:spPr bwMode="auto">
          <a:xfrm flipH="0" flipV="0">
            <a:off x="362064" y="274402"/>
            <a:ext cx="11579929" cy="2106847"/>
          </a:xfrm>
          <a:prstGeom prst="rect">
            <a:avLst/>
          </a:prstGeom>
          <a:noFill/>
          <a:ln/>
        </p:spPr>
        <p:txBody>
          <a:bodyPr wrap="square" lIns="0" tIns="0" rIns="0" bIns="0" rtlCol="0" anchor="ctr"/>
          <a:lstStyle/>
          <a:p>
            <a:pPr marL="0" indent="0" algn="r">
              <a:buNone/>
              <a:defRPr/>
            </a:pPr>
            <a:r>
              <a:rPr lang="es-ES" sz="7200" b="1">
                <a:solidFill>
                  <a:srgbClr val="241331"/>
                </a:solidFill>
                <a:latin typeface="Arial"/>
                <a:ea typeface="Arial"/>
                <a:cs typeface="Arial"/>
              </a:rPr>
              <a:t>¡Síguenos </a:t>
            </a:r>
            <a:r>
              <a:rPr lang="es-ES" sz="7200" b="1">
                <a:solidFill>
                  <a:srgbClr val="241331"/>
                </a:solidFill>
                <a:latin typeface="Arial"/>
                <a:ea typeface="Arial"/>
                <a:cs typeface="Arial"/>
              </a:rPr>
              <a:t>en nuestro blog!</a:t>
            </a:r>
            <a:endParaRPr lang="es-ES" sz="7200" b="1">
              <a:solidFill>
                <a:srgbClr val="241331"/>
              </a:solidFill>
              <a:latin typeface="Arial"/>
              <a:ea typeface="Arial"/>
              <a:cs typeface="Arial"/>
            </a:endParaRPr>
          </a:p>
        </p:txBody>
      </p:sp>
      <p:pic>
        <p:nvPicPr>
          <p:cNvPr id="1948111971" name=""/>
          <p:cNvPicPr>
            <a:picLocks noChangeAspect="1"/>
          </p:cNvPicPr>
          <p:nvPr/>
        </p:nvPicPr>
        <p:blipFill rotWithShape="1">
          <a:blip r:embed="rId3"/>
          <a:stretch/>
        </p:blipFill>
        <p:spPr bwMode="auto">
          <a:xfrm flipH="0" flipV="0">
            <a:off x="263184" y="1582830"/>
            <a:ext cx="7654322" cy="4656379"/>
          </a:xfrm>
          <a:prstGeom prst="rect">
            <a:avLst/>
          </a:prstGeom>
        </p:spPr>
      </p:pic>
      <p:pic>
        <p:nvPicPr>
          <p:cNvPr id="1736763694" name=""/>
          <p:cNvPicPr>
            <a:picLocks noChangeAspect="1"/>
          </p:cNvPicPr>
          <p:nvPr/>
        </p:nvPicPr>
        <p:blipFill rotWithShape="1">
          <a:blip r:embed="rId4"/>
          <a:stretch/>
        </p:blipFill>
        <p:spPr bwMode="auto">
          <a:xfrm flipH="0" flipV="0">
            <a:off x="6572250" y="2867009"/>
            <a:ext cx="4367122" cy="399099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4">
    <p:bg>
      <p:bgPr shadeToTitle="0">
        <a:solidFill>
          <a:srgbClr val="291244"/>
        </a:solidFill>
      </p:bgPr>
    </p:bg>
    <p:spTree>
      <p:nvGrpSpPr>
        <p:cNvPr id="1" name=""/>
        <p:cNvGrpSpPr/>
        <p:nvPr/>
      </p:nvGrpSpPr>
      <p:grpSpPr bwMode="auto">
        <a:xfrm>
          <a:off x="0" y="0"/>
          <a:ext cx="0" cy="0"/>
          <a:chOff x="0" y="0"/>
          <a:chExt cx="0" cy="0"/>
        </a:xfrm>
      </p:grpSpPr>
      <p:sp>
        <p:nvSpPr>
          <p:cNvPr id="1882902568" name="Text 0"/>
          <p:cNvSpPr txBox="1"/>
          <p:nvPr/>
        </p:nvSpPr>
        <p:spPr bwMode="auto">
          <a:xfrm flipH="0" flipV="0">
            <a:off x="731520" y="2057399"/>
            <a:ext cx="6595759" cy="2593041"/>
          </a:xfrm>
          <a:prstGeom prst="rect">
            <a:avLst/>
          </a:prstGeom>
          <a:noFill/>
          <a:ln/>
        </p:spPr>
        <p:txBody>
          <a:bodyPr wrap="square" lIns="0" tIns="0" rIns="0" bIns="0" rtlCol="0" anchor="ctr"/>
          <a:lstStyle/>
          <a:p>
            <a:pPr marL="0" indent="0">
              <a:buNone/>
              <a:defRPr/>
            </a:pPr>
            <a:r>
              <a:rPr lang="es-ES" sz="10000" b="1">
                <a:solidFill>
                  <a:srgbClr val="FFFFFF"/>
                </a:solidFill>
                <a:latin typeface="Arial"/>
                <a:ea typeface="Arial"/>
                <a:cs typeface="Arial"/>
              </a:rPr>
              <a:t>¡Gracias por venir!</a:t>
            </a:r>
            <a:endParaRPr lang="en-US" sz="10000"/>
          </a:p>
        </p:txBody>
      </p:sp>
      <p:pic>
        <p:nvPicPr>
          <p:cNvPr id="697647106" name=""/>
          <p:cNvPicPr>
            <a:picLocks noChangeAspect="1"/>
          </p:cNvPicPr>
          <p:nvPr/>
        </p:nvPicPr>
        <p:blipFill rotWithShape="1">
          <a:blip r:embed="rId3"/>
          <a:stretch/>
        </p:blipFill>
        <p:spPr bwMode="auto">
          <a:xfrm flipH="0" flipV="0">
            <a:off x="6883212" y="1092573"/>
            <a:ext cx="5051051" cy="505105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47</Slides>
  <Notes>47</Notes>
  <HiddenSlides>0</HiddenSlides>
  <MMClips>2</MMClips>
  <ScaleCrop>0</ScaleCrop>
  <HeadingPairs>
    <vt:vector size="4" baseType="variant">
      <vt:variant>
        <vt:lpstr>Theme</vt:lpstr>
      </vt:variant>
      <vt:variant>
        <vt:i4>1</vt:i4>
      </vt:variant>
      <vt:variant>
        <vt:lpstr>Slide Titles</vt:lpstr>
      </vt:variant>
      <vt:variant>
        <vt:i4>47</vt:i4>
      </vt:variant>
    </vt:vector>
  </HeadingPairs>
  <TitlesOfParts>
    <vt:vector size="4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 · Del cuarto cerrado al mundo real</dc:title>
  <dc:subject>MexAI · CIATEQ Zapopan · 30 septiembre 2026</dc:subject>
  <dc:creator>Alejandro Zárate Macías</dc:creator>
  <cp:lastModifiedBy/>
  <cp:revision>7</cp:revision>
  <dcterms:created xsi:type="dcterms:W3CDTF">2026-09-30T08:31:12Z</dcterms:created>
  <dcterms:modified xsi:type="dcterms:W3CDTF">2026-10-01T00:50:43Z</dcterms:modified>
</cp:coreProperties>
</file>